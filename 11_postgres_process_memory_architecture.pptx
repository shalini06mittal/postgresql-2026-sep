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walks through two connected halves of PostgreSQL's internal architecture: (1) how Postgres organizes work across operating-system processes (the postmaster, one backend per connection, and a set of background helper processes), and (2) how it organizes memory (a shared memory region visible to all processes, plus private memory inside each backend). Understanding these two pieces together explains why Postgres behaves the way it does under load, why certain configuration parameters matter, and how durability is guaranteed even after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slide. Postgres architecture splits cleanly into two halves. Process architecture covers how the server is organized as a set of cooperating OS processes: a single postmaster process that starts everything, one backend process forked per client connection, and permanent background processes (checkpointer, WAL writer, autovacuum, etc.) that keep the system healthy. Memory architecture covers how those processes actually share and use RAM: a shared memory segment allocated once at startup for data every process needs (buffers, locks, WAL), and local memory that each backend allocates privately for the query it's currently running. The rest of the deck goes through each half in order, then shows how they interact and which configuration knobs control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Postgres is process-based, not thread-based. When the server starts, the postmaster process initializes shared memory and starts listening for connections. Every time a client connects, the postmaster calls fork() to create a brand-new OS process (a 'backend') dedicated to that one session — it handles every query the client sends until it disconnects, then exits. In parallel, the postmaster also starts a fixed set of background processes once, for the lifetime of the server, to handle housekeeping like checkpointing, WAL flushing, and autovacuum. The main trade-off versus a thread-based database: stronger fault isolation (one backend crashing doesn't corrupt others) at the cost of a bit more memory and context-switch overhead per connection — which is why connection pooling matters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through the lifecycle left to right: the server starts and the postmaster initializes shared memory; it then listens on the configured TCP port (5432 by default); when a client requests a connection, the postmaster performs authentication and then calls fork() to spawn a dedicated child process; that backend process now owns the session end-to-end, executing every query the client sends; when the client disconnects, the backend process exits and its resources are reclaimed. The callout at the bottom is the important takeaway: because each session lives in its own OS process with its own address space, a bug or crash in one backend cannot directly corrupt another backend's memory. The postmaster monitors all children and, if one crashes unexpectedly, it resets shared memory and restarts the remaining backends to guarantee a consistent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processes run continuously alongside client backends and are what make Postgres durable and self-maintaining. Checkpointer periodically writes all dirty (modified) pages from shared buffers to disk and records a checkpoint, which bounds how much WAL needs to be replayed after a crash. Background Writer does similar work but incrementally, in small amounts, between checkpoints, smoothing out I/O so it doesn't spike. WAL Writer flushes the Write-Ahead Log buffer to disk on a timer, independent of transaction commits. Autovacuum Launcher periodically starts worker processes that remove dead row versions left behind by updates/deletes (MVCC bloat) and refresh the planner's statistics. Stats Collector (or, in newer versions, the cumulative statistics system) tracks per-table and per-index activity used for monitoring and query planning. Archiver, when WAL archiving is enabled, copies completed WAL segments to long-term/archive storage for point-in-time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two-tier memory model. At the top, shared memory is a single region allocated once when the postmaster starts, sized largely by configuration parameters, and mapped into the address space of every backend and background process — that's how independent OS processes can cooperate on the same data. It holds shared buffers, WAL buffers, the commit log (CLOG) buffers, and the lock table. Below it, each backend process (one per client connection) also carves out its own local memory that nobody else can see or touch — used for things like sort/hash work areas and temporary tables. The arrows show that every backend reaches up into the same shared memory region, which is exactly how one backend's write becomes visible to another backend's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components make up the core of shared memory. Shared Buffers is by far the largest and most important — it's the cache of 8KB table/index pages that sits between backends and the disk; a backend almost always reads and writes through this cache rather than touching disk directly, and it's sized by the shared_buffers parameter. WAL Buffers is a small staging area where WAL records are written before being flushed to WAL files on disk; it's sized by wal_buffers. CLOG (commit log) Buffers cache the commit status of transactions (committed, aborted, in-progress, or subtransaction) so visibility checks don't have to hit disk. The Lock Table tracks every active table- and row-level lock, which is how Postgres enforces correct concurrent access without corrupting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shared memory, this memory belongs to a single backend and disappears when the backend no longer needs it. work_mem controls how much memory a single sort or hash operation (ORDER BY, GROUP BY, hash joins, etc.) can use before it spills to disk — note this is per operation, so a query with several sorts/joins can use several multiples of work_mem at once, which is why it needs careful tuning. maintenance_work_mem is a larger allowance used for heavier, less frequent operations like VACUUM, CREATE INDEX, and adding foreign keys. temp_buffers holds temporary tables created within a session. Finally, each backend keeps its own catalog cache and cached query plans so it doesn't need to re-read system catalogs or re-parse/re-plan the same queries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the process model and the memory model together into one end-to-end flow. A client's query is handled entirely by its dedicated backend process. That backend reads and writes the relevant table/index pages directly in shared buffers (top path) and, for any change, first writes a WAL record into WAL buffers (bottom path) — WAL-before-data is the rule that makes crash recovery possible. The client gets its response as soon as this in-memory work (plus, at commit, a WAL flush) is done; it does not wait for the checkpointer or background writer to physically write pages to the data files. Those background processes do that work asynchronously afterward: Checkpointer/Background Writer eventually flush dirty shared-buffer pages to the data files, and WAL Writer flushes WAL buffers to the WAL files on disk. This separation of 'fast in-memory work now' from 'slower disk work later, done by background processes' is central to why Postgres performs well while still guaranteeing durability.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connects everything in the deck to concrete settings a DBA actually tunes. shared_buffers sets the size of the shared-buffer cache discussed earlier — a common starting point is around 25% of system RAM, then adjust based on monitoring. work_mem sets the per-operation sort/hash allowance for each backend's local memory; because it applies per operation and can multiply across a complex query and across many concurrent connections, raising it carelessly can exhaust server memory. max_connections caps how many backend processes (and therefore how much per-connection local memory) can exist at once; most teams keep this moderate and put a connection pooler like PgBouncer in front of Postgres rather than raising it aggressively. wal_buffers sizes the WAL buffer area and is usually left on its automatic setting. maintenance_work_mem is worth raising temporarily during bulk loads, index builds, or heavy vacuum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Four points to leave the audience with: (1) Postgres dedicates one OS process to each client connection rather than using threads, which isolates crashes but costs more memory and context-switching per connection than a thread-based design. (2) A shared memory region — shared buffers, WAL buffers, and the lock table — is what lets all of these independent processes cooperate safely on the same data. (3) A fixed set of background processes (checkpointer, WAL writer, autovacuum, and others) continuously handle durability and cleanup so the application layer never has to think about it. (4) Because of all this, memory sizing — shared_buffers, work_mem, and max_connections in particular — is one of the highest-leverage places to focus when tuning a Postgres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2148840"/>
            <a:ext cx="7315200" cy="320040"/>
          </a:xfrm>
          <a:prstGeom prst="rect">
            <a:avLst/>
          </a:prstGeom>
          <a:noFill/>
          <a:ln/>
        </p:spPr>
        <p:txBody>
          <a:bodyPr wrap="square" lIns="0" tIns="0" rIns="0" bIns="0" rtlCol="0" anchor="ctr"/>
          <a:lstStyle/>
          <a:p>
            <a:pPr indent="0" marL="0">
              <a:buNone/>
            </a:pPr>
            <a:r>
              <a:rPr lang="en-US" sz="1400" b="1" spc="200" kern="0" dirty="0">
                <a:solidFill>
                  <a:srgbClr val="AFCFE6"/>
                </a:solidFill>
                <a:latin typeface="Calibri" pitchFamily="34" charset="0"/>
                <a:ea typeface="Calibri" pitchFamily="34" charset="-122"/>
                <a:cs typeface="Calibri" pitchFamily="34" charset="-120"/>
              </a:rPr>
              <a:t>POSTGRESQL INTERNALS</a:t>
            </a:r>
            <a:endParaRPr lang="en-US" sz="1400" dirty="0"/>
          </a:p>
        </p:txBody>
      </p:sp>
      <p:sp>
        <p:nvSpPr>
          <p:cNvPr id="3" name="Text 1"/>
          <p:cNvSpPr/>
          <p:nvPr/>
        </p:nvSpPr>
        <p:spPr>
          <a:xfrm>
            <a:off x="822960" y="2468880"/>
            <a:ext cx="960120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Process &amp; Memory</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Architecture</a:t>
            </a:r>
            <a:endParaRPr lang="en-US" sz="4400" dirty="0"/>
          </a:p>
        </p:txBody>
      </p:sp>
      <p:sp>
        <p:nvSpPr>
          <p:cNvPr id="4" name="Text 2"/>
          <p:cNvSpPr/>
          <p:nvPr/>
        </p:nvSpPr>
        <p:spPr>
          <a:xfrm>
            <a:off x="822960" y="4251960"/>
            <a:ext cx="7772400" cy="548640"/>
          </a:xfrm>
          <a:prstGeom prst="rect">
            <a:avLst/>
          </a:prstGeom>
          <a:noFill/>
          <a:ln/>
        </p:spPr>
        <p:txBody>
          <a:bodyPr wrap="square" lIns="0" tIns="0" rIns="0" bIns="0" rtlCol="0" anchor="ctr"/>
          <a:lstStyle/>
          <a:p>
            <a:pPr indent="0" marL="0">
              <a:buNone/>
            </a:pPr>
            <a:r>
              <a:rPr lang="en-US" sz="1500" i="1" dirty="0">
                <a:solidFill>
                  <a:srgbClr val="C7D9E5"/>
                </a:solidFill>
                <a:latin typeface="Calibri" pitchFamily="34" charset="0"/>
                <a:ea typeface="Calibri" pitchFamily="34" charset="-122"/>
                <a:cs typeface="Calibri" pitchFamily="34" charset="-120"/>
              </a:rPr>
              <a:t>How Postgres organizes its worker processes and manages shared and private memory to serve queries reliably.</a:t>
            </a:r>
            <a:endParaRPr lang="en-US" sz="1500" dirty="0"/>
          </a:p>
        </p:txBody>
      </p:sp>
      <p:sp>
        <p:nvSpPr>
          <p:cNvPr id="5" name="Shape 3"/>
          <p:cNvSpPr/>
          <p:nvPr/>
        </p:nvSpPr>
        <p:spPr>
          <a:xfrm>
            <a:off x="9692640" y="914400"/>
            <a:ext cx="502920" cy="502920"/>
          </a:xfrm>
          <a:prstGeom prst="ellipse">
            <a:avLst/>
          </a:prstGeom>
          <a:solidFill>
            <a:srgbClr val="336791"/>
          </a:solidFill>
          <a:ln/>
        </p:spPr>
      </p:sp>
      <p:sp>
        <p:nvSpPr>
          <p:cNvPr id="6" name="Text 4"/>
          <p:cNvSpPr/>
          <p:nvPr/>
        </p:nvSpPr>
        <p:spPr>
          <a:xfrm>
            <a:off x="9692640" y="91440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P</a:t>
            </a:r>
            <a:endParaRPr lang="en-US" sz="1210" dirty="0"/>
          </a:p>
        </p:txBody>
      </p:sp>
      <p:sp>
        <p:nvSpPr>
          <p:cNvPr id="7" name="Shape 5"/>
          <p:cNvSpPr/>
          <p:nvPr/>
        </p:nvSpPr>
        <p:spPr>
          <a:xfrm>
            <a:off x="10378440" y="1417320"/>
            <a:ext cx="365760" cy="365760"/>
          </a:xfrm>
          <a:prstGeom prst="ellipse">
            <a:avLst/>
          </a:prstGeom>
          <a:solidFill>
            <a:srgbClr val="AFCFE6"/>
          </a:solidFill>
          <a:ln/>
        </p:spPr>
      </p:sp>
      <p:sp>
        <p:nvSpPr>
          <p:cNvPr id="8" name="Text 6"/>
          <p:cNvSpPr/>
          <p:nvPr/>
        </p:nvSpPr>
        <p:spPr>
          <a:xfrm>
            <a:off x="10378440" y="1417320"/>
            <a:ext cx="365760" cy="365760"/>
          </a:xfrm>
          <a:prstGeom prst="rect">
            <a:avLst/>
          </a:prstGeom>
          <a:noFill/>
          <a:ln/>
        </p:spPr>
        <p:txBody>
          <a:bodyPr wrap="square" lIns="0" tIns="0" rIns="0" bIns="0" rtlCol="0" anchor="ctr"/>
          <a:lstStyle/>
          <a:p>
            <a:pPr algn="ctr" indent="0" marL="0">
              <a:buNone/>
            </a:pPr>
            <a:r>
              <a:rPr lang="en-US" sz="880" b="1" dirty="0">
                <a:solidFill>
                  <a:srgbClr val="16324F"/>
                </a:solidFill>
                <a:latin typeface="Calibri" pitchFamily="34" charset="0"/>
                <a:ea typeface="Calibri" pitchFamily="34" charset="-122"/>
                <a:cs typeface="Calibri" pitchFamily="34" charset="-120"/>
              </a:rPr>
              <a:t>B</a:t>
            </a:r>
            <a:endParaRPr lang="en-US" sz="880" dirty="0"/>
          </a:p>
        </p:txBody>
      </p:sp>
      <p:sp>
        <p:nvSpPr>
          <p:cNvPr id="9" name="Shape 7"/>
          <p:cNvSpPr/>
          <p:nvPr/>
        </p:nvSpPr>
        <p:spPr>
          <a:xfrm>
            <a:off x="10881360" y="914400"/>
            <a:ext cx="365760" cy="365760"/>
          </a:xfrm>
          <a:prstGeom prst="ellipse">
            <a:avLst/>
          </a:prstGeom>
          <a:solidFill>
            <a:srgbClr val="AFCFE6"/>
          </a:solidFill>
          <a:ln/>
        </p:spPr>
      </p:sp>
      <p:sp>
        <p:nvSpPr>
          <p:cNvPr id="10" name="Text 8"/>
          <p:cNvSpPr/>
          <p:nvPr/>
        </p:nvSpPr>
        <p:spPr>
          <a:xfrm>
            <a:off x="10881360" y="914400"/>
            <a:ext cx="365760" cy="365760"/>
          </a:xfrm>
          <a:prstGeom prst="rect">
            <a:avLst/>
          </a:prstGeom>
          <a:noFill/>
          <a:ln/>
        </p:spPr>
        <p:txBody>
          <a:bodyPr wrap="square" lIns="0" tIns="0" rIns="0" bIns="0" rtlCol="0" anchor="ctr"/>
          <a:lstStyle/>
          <a:p>
            <a:pPr algn="ctr" indent="0" marL="0">
              <a:buNone/>
            </a:pPr>
            <a:r>
              <a:rPr lang="en-US" sz="880" b="1" dirty="0">
                <a:solidFill>
                  <a:srgbClr val="16324F"/>
                </a:solidFill>
                <a:latin typeface="Calibri" pitchFamily="34" charset="0"/>
                <a:ea typeface="Calibri" pitchFamily="34" charset="-122"/>
                <a:cs typeface="Calibri" pitchFamily="34" charset="-120"/>
              </a:rPr>
              <a:t>B</a:t>
            </a:r>
            <a:endParaRPr lang="en-US" sz="880" dirty="0"/>
          </a:p>
        </p:txBody>
      </p:sp>
      <p:sp>
        <p:nvSpPr>
          <p:cNvPr id="11" name="Shape 9"/>
          <p:cNvSpPr/>
          <p:nvPr/>
        </p:nvSpPr>
        <p:spPr>
          <a:xfrm>
            <a:off x="9944100" y="1165860"/>
            <a:ext cx="434340" cy="251460"/>
          </a:xfrm>
          <a:prstGeom prst="line">
            <a:avLst/>
          </a:prstGeom>
          <a:noFill/>
          <a:ln w="15875">
            <a:solidFill>
              <a:srgbClr val="5C7C90"/>
            </a:solidFill>
            <a:prstDash val="solid"/>
          </a:ln>
        </p:spPr>
      </p:sp>
      <p:sp>
        <p:nvSpPr>
          <p:cNvPr id="12" name="Shape 10"/>
          <p:cNvSpPr/>
          <p:nvPr/>
        </p:nvSpPr>
        <p:spPr>
          <a:xfrm flipH="1">
            <a:off x="10195560" y="1165860"/>
            <a:ext cx="685800" cy="251460"/>
          </a:xfrm>
          <a:prstGeom prst="line">
            <a:avLst/>
          </a:prstGeom>
          <a:noFill/>
          <a:ln w="15875">
            <a:solidFill>
              <a:srgbClr val="5C7C90"/>
            </a:solidFill>
            <a:prstDash val="solid"/>
          </a:ln>
        </p:spPr>
      </p:sp>
      <p:sp>
        <p:nvSpPr>
          <p:cNvPr id="13" name="Text 11"/>
          <p:cNvSpPr/>
          <p:nvPr/>
        </p:nvSpPr>
        <p:spPr>
          <a:xfrm>
            <a:off x="822960" y="6126480"/>
            <a:ext cx="3657600" cy="274320"/>
          </a:xfrm>
          <a:prstGeom prst="rect">
            <a:avLst/>
          </a:prstGeom>
          <a:noFill/>
          <a:ln/>
        </p:spPr>
        <p:txBody>
          <a:bodyPr wrap="square" lIns="0" tIns="0" rIns="0" bIns="0" rtlCol="0" anchor="ctr"/>
          <a:lstStyle/>
          <a:p>
            <a:pPr indent="0" marL="0">
              <a:buNone/>
            </a:pPr>
            <a:r>
              <a:rPr lang="en-US" sz="1100" dirty="0">
                <a:solidFill>
                  <a:srgbClr val="7C93A3"/>
                </a:solidFill>
                <a:latin typeface="Calibri" pitchFamily="34" charset="0"/>
                <a:ea typeface="Calibri" pitchFamily="34" charset="-122"/>
                <a:cs typeface="Calibri" pitchFamily="34" charset="-120"/>
              </a:rPr>
              <a:t>Sep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Two Halves of Postgres Architecture</a:t>
            </a:r>
            <a:endParaRPr lang="en-US" sz="3000" dirty="0"/>
          </a:p>
        </p:txBody>
      </p:sp>
      <p:sp>
        <p:nvSpPr>
          <p:cNvPr id="4" name="Text 2"/>
          <p:cNvSpPr/>
          <p:nvPr/>
        </p:nvSpPr>
        <p:spPr>
          <a:xfrm>
            <a:off x="457200" y="1371600"/>
            <a:ext cx="11247120" cy="54864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Every running Postgres server is really two systems working together: a set of cooperating operating-system processes, and a memory layout that lets those processes share data safely and quickly.</a:t>
            </a:r>
            <a:endParaRPr lang="en-US" sz="1400" dirty="0"/>
          </a:p>
        </p:txBody>
      </p:sp>
      <p:sp>
        <p:nvSpPr>
          <p:cNvPr id="5" name="Shape 3"/>
          <p:cNvSpPr/>
          <p:nvPr/>
        </p:nvSpPr>
        <p:spPr>
          <a:xfrm>
            <a:off x="457200" y="2148840"/>
            <a:ext cx="5394960" cy="3977640"/>
          </a:xfrm>
          <a:prstGeom prst="roundRect">
            <a:avLst>
              <a:gd name="adj" fmla="val 1839"/>
            </a:avLst>
          </a:prstGeom>
          <a:solidFill>
            <a:srgbClr val="DCEBF7"/>
          </a:solidFill>
          <a:ln w="12700">
            <a:solidFill>
              <a:srgbClr val="AFCFE6"/>
            </a:solidFill>
            <a:prstDash val="solid"/>
          </a:ln>
          <a:effectLst>
            <a:outerShdw sx="100000" sy="100000" kx="0" ky="0" algn="bl" rotWithShape="0" blurRad="76200" dist="25400" dir="5400000">
              <a:srgbClr val="9FB4C4">
                <a:alpha val="30000"/>
              </a:srgbClr>
            </a:outerShdw>
          </a:effectLst>
        </p:spPr>
      </p:sp>
      <p:sp>
        <p:nvSpPr>
          <p:cNvPr id="6" name="Shape 4"/>
          <p:cNvSpPr/>
          <p:nvPr/>
        </p:nvSpPr>
        <p:spPr>
          <a:xfrm>
            <a:off x="868680" y="2514600"/>
            <a:ext cx="640080" cy="640080"/>
          </a:xfrm>
          <a:prstGeom prst="ellipse">
            <a:avLst/>
          </a:prstGeom>
          <a:solidFill>
            <a:srgbClr val="336791"/>
          </a:solidFill>
          <a:ln/>
        </p:spPr>
      </p:sp>
      <p:sp>
        <p:nvSpPr>
          <p:cNvPr id="7" name="Text 5"/>
          <p:cNvSpPr/>
          <p:nvPr/>
        </p:nvSpPr>
        <p:spPr>
          <a:xfrm>
            <a:off x="868680" y="251460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P</a:t>
            </a:r>
            <a:endParaRPr lang="en-US" sz="1540" dirty="0"/>
          </a:p>
        </p:txBody>
      </p:sp>
      <p:sp>
        <p:nvSpPr>
          <p:cNvPr id="8" name="Text 6"/>
          <p:cNvSpPr/>
          <p:nvPr/>
        </p:nvSpPr>
        <p:spPr>
          <a:xfrm>
            <a:off x="1691640" y="2560320"/>
            <a:ext cx="3931920" cy="548640"/>
          </a:xfrm>
          <a:prstGeom prst="rect">
            <a:avLst/>
          </a:prstGeom>
          <a:noFill/>
          <a:ln/>
        </p:spPr>
        <p:txBody>
          <a:bodyPr wrap="square" lIns="0" tIns="0" rIns="0" bIns="0" rtlCol="0" anchor="ctr"/>
          <a:lstStyle/>
          <a:p>
            <a:pPr indent="0" marL="0">
              <a:buNone/>
            </a:pPr>
            <a:r>
              <a:rPr lang="en-US" sz="2000" b="1" dirty="0">
                <a:solidFill>
                  <a:srgbClr val="22303C"/>
                </a:solidFill>
                <a:latin typeface="Cambria" pitchFamily="34" charset="0"/>
                <a:ea typeface="Cambria" pitchFamily="34" charset="-122"/>
                <a:cs typeface="Cambria" pitchFamily="34" charset="-120"/>
              </a:rPr>
              <a:t>Process Architecture</a:t>
            </a:r>
            <a:endParaRPr lang="en-US" sz="2000" dirty="0"/>
          </a:p>
        </p:txBody>
      </p:sp>
      <p:sp>
        <p:nvSpPr>
          <p:cNvPr id="9" name="Text 7"/>
          <p:cNvSpPr/>
          <p:nvPr/>
        </p:nvSpPr>
        <p:spPr>
          <a:xfrm>
            <a:off x="868680" y="3337560"/>
            <a:ext cx="4572000" cy="1005840"/>
          </a:xfrm>
          <a:prstGeom prst="rect">
            <a:avLst/>
          </a:prstGeom>
          <a:noFill/>
          <a:ln/>
        </p:spPr>
        <p:txBody>
          <a:bodyPr wrap="square" lIns="0" tIns="0" rIns="0" bIns="0" rtlCol="0" anchor="ctr"/>
          <a:lstStyle/>
          <a:p>
            <a:pPr indent="0" marL="0">
              <a:buNone/>
            </a:pPr>
            <a:r>
              <a:rPr lang="en-US" sz="1350" dirty="0">
                <a:solidFill>
                  <a:srgbClr val="22303C"/>
                </a:solidFill>
                <a:latin typeface="Calibri" pitchFamily="34" charset="0"/>
                <a:ea typeface="Calibri" pitchFamily="34" charset="-122"/>
                <a:cs typeface="Calibri" pitchFamily="34" charset="-120"/>
              </a:rPr>
              <a:t>Postgres uses one OS process per client connection instead of threads, plus a handful of dedicated background processes that keep the server durable and healthy.</a:t>
            </a:r>
            <a:endParaRPr lang="en-US" sz="1350" dirty="0"/>
          </a:p>
        </p:txBody>
      </p:sp>
      <p:sp>
        <p:nvSpPr>
          <p:cNvPr id="10" name="Text 8"/>
          <p:cNvSpPr/>
          <p:nvPr/>
        </p:nvSpPr>
        <p:spPr>
          <a:xfrm>
            <a:off x="868680" y="4434840"/>
            <a:ext cx="4572000" cy="411480"/>
          </a:xfrm>
          <a:prstGeom prst="rect">
            <a:avLst/>
          </a:prstGeom>
          <a:noFill/>
          <a:ln/>
        </p:spPr>
        <p:txBody>
          <a:bodyPr wrap="square" lIns="0" tIns="0" rIns="0" bIns="0" rtlCol="0" anchor="ctr"/>
          <a:lstStyle/>
          <a:p>
            <a:pPr marL="342900" indent="-342900">
              <a:buSzPct val="100000"/>
              <a:buChar char="•"/>
            </a:pPr>
            <a:r>
              <a:rPr lang="en-US" sz="1300" dirty="0">
                <a:solidFill>
                  <a:srgbClr val="22303C"/>
                </a:solidFill>
                <a:latin typeface="Calibri" pitchFamily="34" charset="0"/>
                <a:ea typeface="Calibri" pitchFamily="34" charset="-122"/>
                <a:cs typeface="Calibri" pitchFamily="34" charset="-120"/>
              </a:rPr>
              <a:t>Postmaster (main) process</a:t>
            </a:r>
            <a:endParaRPr lang="en-US" sz="1300" dirty="0"/>
          </a:p>
        </p:txBody>
      </p:sp>
      <p:sp>
        <p:nvSpPr>
          <p:cNvPr id="11" name="Text 9"/>
          <p:cNvSpPr/>
          <p:nvPr/>
        </p:nvSpPr>
        <p:spPr>
          <a:xfrm>
            <a:off x="868680" y="4937760"/>
            <a:ext cx="4572000" cy="411480"/>
          </a:xfrm>
          <a:prstGeom prst="rect">
            <a:avLst/>
          </a:prstGeom>
          <a:noFill/>
          <a:ln/>
        </p:spPr>
        <p:txBody>
          <a:bodyPr wrap="square" lIns="0" tIns="0" rIns="0" bIns="0" rtlCol="0" anchor="ctr"/>
          <a:lstStyle/>
          <a:p>
            <a:pPr marL="342900" indent="-342900">
              <a:buSzPct val="100000"/>
              <a:buChar char="•"/>
            </a:pPr>
            <a:r>
              <a:rPr lang="en-US" sz="1300" dirty="0">
                <a:solidFill>
                  <a:srgbClr val="22303C"/>
                </a:solidFill>
                <a:latin typeface="Calibri" pitchFamily="34" charset="0"/>
                <a:ea typeface="Calibri" pitchFamily="34" charset="-122"/>
                <a:cs typeface="Calibri" pitchFamily="34" charset="-120"/>
              </a:rPr>
              <a:t>One backend process per session</a:t>
            </a:r>
            <a:endParaRPr lang="en-US" sz="1300" dirty="0"/>
          </a:p>
        </p:txBody>
      </p:sp>
      <p:sp>
        <p:nvSpPr>
          <p:cNvPr id="12" name="Text 10"/>
          <p:cNvSpPr/>
          <p:nvPr/>
        </p:nvSpPr>
        <p:spPr>
          <a:xfrm>
            <a:off x="868680" y="5440680"/>
            <a:ext cx="4572000" cy="411480"/>
          </a:xfrm>
          <a:prstGeom prst="rect">
            <a:avLst/>
          </a:prstGeom>
          <a:noFill/>
          <a:ln/>
        </p:spPr>
        <p:txBody>
          <a:bodyPr wrap="square" lIns="0" tIns="0" rIns="0" bIns="0" rtlCol="0" anchor="ctr"/>
          <a:lstStyle/>
          <a:p>
            <a:pPr marL="342900" indent="-342900">
              <a:buSzPct val="100000"/>
              <a:buChar char="•"/>
            </a:pPr>
            <a:r>
              <a:rPr lang="en-US" sz="1300" dirty="0">
                <a:solidFill>
                  <a:srgbClr val="22303C"/>
                </a:solidFill>
                <a:latin typeface="Calibri" pitchFamily="34" charset="0"/>
                <a:ea typeface="Calibri" pitchFamily="34" charset="-122"/>
                <a:cs typeface="Calibri" pitchFamily="34" charset="-120"/>
              </a:rPr>
              <a:t>Checkpointer, WAL writer, autovacuum, and more</a:t>
            </a:r>
            <a:endParaRPr lang="en-US" sz="1300" dirty="0"/>
          </a:p>
        </p:txBody>
      </p:sp>
      <p:sp>
        <p:nvSpPr>
          <p:cNvPr id="13" name="Shape 11"/>
          <p:cNvSpPr/>
          <p:nvPr/>
        </p:nvSpPr>
        <p:spPr>
          <a:xfrm>
            <a:off x="6309360" y="2148840"/>
            <a:ext cx="5422392" cy="3977640"/>
          </a:xfrm>
          <a:prstGeom prst="roundRect">
            <a:avLst>
              <a:gd name="adj" fmla="val 1839"/>
            </a:avLst>
          </a:prstGeom>
          <a:solidFill>
            <a:srgbClr val="DCEBF7"/>
          </a:solidFill>
          <a:ln w="12700">
            <a:solidFill>
              <a:srgbClr val="AFCFE6"/>
            </a:solidFill>
            <a:prstDash val="solid"/>
          </a:ln>
          <a:effectLst>
            <a:outerShdw sx="100000" sy="100000" kx="0" ky="0" algn="bl" rotWithShape="0" blurRad="76200" dist="25400" dir="5400000">
              <a:srgbClr val="9FB4C4">
                <a:alpha val="30000"/>
              </a:srgbClr>
            </a:outerShdw>
          </a:effectLst>
        </p:spPr>
      </p:sp>
      <p:sp>
        <p:nvSpPr>
          <p:cNvPr id="14" name="Shape 12"/>
          <p:cNvSpPr/>
          <p:nvPr/>
        </p:nvSpPr>
        <p:spPr>
          <a:xfrm>
            <a:off x="6720840" y="2514600"/>
            <a:ext cx="640080" cy="640080"/>
          </a:xfrm>
          <a:prstGeom prst="ellipse">
            <a:avLst/>
          </a:prstGeom>
          <a:solidFill>
            <a:srgbClr val="E76F51"/>
          </a:solidFill>
          <a:ln/>
        </p:spPr>
      </p:sp>
      <p:sp>
        <p:nvSpPr>
          <p:cNvPr id="15" name="Text 13"/>
          <p:cNvSpPr/>
          <p:nvPr/>
        </p:nvSpPr>
        <p:spPr>
          <a:xfrm>
            <a:off x="6720840" y="251460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M</a:t>
            </a:r>
            <a:endParaRPr lang="en-US" sz="1540" dirty="0"/>
          </a:p>
        </p:txBody>
      </p:sp>
      <p:sp>
        <p:nvSpPr>
          <p:cNvPr id="16" name="Text 14"/>
          <p:cNvSpPr/>
          <p:nvPr/>
        </p:nvSpPr>
        <p:spPr>
          <a:xfrm>
            <a:off x="7543800" y="2560320"/>
            <a:ext cx="3931920" cy="548640"/>
          </a:xfrm>
          <a:prstGeom prst="rect">
            <a:avLst/>
          </a:prstGeom>
          <a:noFill/>
          <a:ln/>
        </p:spPr>
        <p:txBody>
          <a:bodyPr wrap="square" lIns="0" tIns="0" rIns="0" bIns="0" rtlCol="0" anchor="ctr"/>
          <a:lstStyle/>
          <a:p>
            <a:pPr indent="0" marL="0">
              <a:buNone/>
            </a:pPr>
            <a:r>
              <a:rPr lang="en-US" sz="2000" b="1" dirty="0">
                <a:solidFill>
                  <a:srgbClr val="22303C"/>
                </a:solidFill>
                <a:latin typeface="Cambria" pitchFamily="34" charset="0"/>
                <a:ea typeface="Cambria" pitchFamily="34" charset="-122"/>
                <a:cs typeface="Cambria" pitchFamily="34" charset="-120"/>
              </a:rPr>
              <a:t>Memory Architecture</a:t>
            </a:r>
            <a:endParaRPr lang="en-US" sz="2000" dirty="0"/>
          </a:p>
        </p:txBody>
      </p:sp>
      <p:sp>
        <p:nvSpPr>
          <p:cNvPr id="17" name="Text 15"/>
          <p:cNvSpPr/>
          <p:nvPr/>
        </p:nvSpPr>
        <p:spPr>
          <a:xfrm>
            <a:off x="6720840" y="3337560"/>
            <a:ext cx="4572000" cy="1005840"/>
          </a:xfrm>
          <a:prstGeom prst="rect">
            <a:avLst/>
          </a:prstGeom>
          <a:noFill/>
          <a:ln/>
        </p:spPr>
        <p:txBody>
          <a:bodyPr wrap="square" lIns="0" tIns="0" rIns="0" bIns="0" rtlCol="0" anchor="ctr"/>
          <a:lstStyle/>
          <a:p>
            <a:pPr indent="0" marL="0">
              <a:buNone/>
            </a:pPr>
            <a:r>
              <a:rPr lang="en-US" sz="1350" dirty="0">
                <a:solidFill>
                  <a:srgbClr val="22303C"/>
                </a:solidFill>
                <a:latin typeface="Calibri" pitchFamily="34" charset="0"/>
                <a:ea typeface="Calibri" pitchFamily="34" charset="-122"/>
                <a:cs typeface="Calibri" pitchFamily="34" charset="-120"/>
              </a:rPr>
              <a:t>Memory is split into shared memory, allocated once and visible to every process, and local memory, allocated privately inside each backend for its own work.</a:t>
            </a:r>
            <a:endParaRPr lang="en-US" sz="1350" dirty="0"/>
          </a:p>
        </p:txBody>
      </p:sp>
      <p:sp>
        <p:nvSpPr>
          <p:cNvPr id="18" name="Text 16"/>
          <p:cNvSpPr/>
          <p:nvPr/>
        </p:nvSpPr>
        <p:spPr>
          <a:xfrm>
            <a:off x="6720840" y="4434840"/>
            <a:ext cx="4572000" cy="411480"/>
          </a:xfrm>
          <a:prstGeom prst="rect">
            <a:avLst/>
          </a:prstGeom>
          <a:noFill/>
          <a:ln/>
        </p:spPr>
        <p:txBody>
          <a:bodyPr wrap="square" lIns="0" tIns="0" rIns="0" bIns="0" rtlCol="0" anchor="ctr"/>
          <a:lstStyle/>
          <a:p>
            <a:pPr marL="342900" indent="-342900">
              <a:buSzPct val="100000"/>
              <a:buChar char="•"/>
            </a:pPr>
            <a:r>
              <a:rPr lang="en-US" sz="1300" dirty="0">
                <a:solidFill>
                  <a:srgbClr val="22303C"/>
                </a:solidFill>
                <a:latin typeface="Calibri" pitchFamily="34" charset="0"/>
                <a:ea typeface="Calibri" pitchFamily="34" charset="-122"/>
                <a:cs typeface="Calibri" pitchFamily="34" charset="-120"/>
              </a:rPr>
              <a:t>Shared buffers, WAL buffers, lock table</a:t>
            </a:r>
            <a:endParaRPr lang="en-US" sz="1300" dirty="0"/>
          </a:p>
        </p:txBody>
      </p:sp>
      <p:sp>
        <p:nvSpPr>
          <p:cNvPr id="19" name="Text 17"/>
          <p:cNvSpPr/>
          <p:nvPr/>
        </p:nvSpPr>
        <p:spPr>
          <a:xfrm>
            <a:off x="6720840" y="4937760"/>
            <a:ext cx="4572000" cy="411480"/>
          </a:xfrm>
          <a:prstGeom prst="rect">
            <a:avLst/>
          </a:prstGeom>
          <a:noFill/>
          <a:ln/>
        </p:spPr>
        <p:txBody>
          <a:bodyPr wrap="square" lIns="0" tIns="0" rIns="0" bIns="0" rtlCol="0" anchor="ctr"/>
          <a:lstStyle/>
          <a:p>
            <a:pPr marL="342900" indent="-342900">
              <a:buSzPct val="100000"/>
              <a:buChar char="•"/>
            </a:pPr>
            <a:r>
              <a:rPr lang="en-US" sz="1300" dirty="0">
                <a:solidFill>
                  <a:srgbClr val="22303C"/>
                </a:solidFill>
                <a:latin typeface="Calibri" pitchFamily="34" charset="0"/>
                <a:ea typeface="Calibri" pitchFamily="34" charset="-122"/>
                <a:cs typeface="Calibri" pitchFamily="34" charset="-120"/>
              </a:rPr>
              <a:t>Per-backend work_mem and temp buffers</a:t>
            </a:r>
            <a:endParaRPr lang="en-US" sz="1300" dirty="0"/>
          </a:p>
        </p:txBody>
      </p:sp>
      <p:sp>
        <p:nvSpPr>
          <p:cNvPr id="20" name="Text 18"/>
          <p:cNvSpPr/>
          <p:nvPr/>
        </p:nvSpPr>
        <p:spPr>
          <a:xfrm>
            <a:off x="6720840" y="5440680"/>
            <a:ext cx="4572000" cy="411480"/>
          </a:xfrm>
          <a:prstGeom prst="rect">
            <a:avLst/>
          </a:prstGeom>
          <a:noFill/>
          <a:ln/>
        </p:spPr>
        <p:txBody>
          <a:bodyPr wrap="square" lIns="0" tIns="0" rIns="0" bIns="0" rtlCol="0" anchor="ctr"/>
          <a:lstStyle/>
          <a:p>
            <a:pPr marL="342900" indent="-342900">
              <a:buSzPct val="100000"/>
              <a:buChar char="•"/>
            </a:pPr>
            <a:r>
              <a:rPr lang="en-US" sz="1300" dirty="0">
                <a:solidFill>
                  <a:srgbClr val="22303C"/>
                </a:solidFill>
                <a:latin typeface="Calibri" pitchFamily="34" charset="0"/>
                <a:ea typeface="Calibri" pitchFamily="34" charset="-122"/>
                <a:cs typeface="Calibri" pitchFamily="34" charset="-120"/>
              </a:rPr>
              <a:t>Sizing these well drives performance</a:t>
            </a:r>
            <a:endParaRPr lang="en-US" sz="1300" dirty="0"/>
          </a:p>
        </p:txBody>
      </p:sp>
      <p:sp>
        <p:nvSpPr>
          <p:cNvPr id="21" name="Text 19"/>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22" name="Text 20"/>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PROCESS ARCHITECTURE</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Postgres Is Multi-Process, Not Multi-Threaded</a:t>
            </a:r>
            <a:endParaRPr lang="en-US" sz="3000" dirty="0"/>
          </a:p>
        </p:txBody>
      </p:sp>
      <p:sp>
        <p:nvSpPr>
          <p:cNvPr id="4" name="Text 2"/>
          <p:cNvSpPr/>
          <p:nvPr/>
        </p:nvSpPr>
        <p:spPr>
          <a:xfrm>
            <a:off x="457200" y="1280160"/>
            <a:ext cx="11247120" cy="96012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Rather than spawning threads inside one process, Postgres forks a new operating-system process for each job. This isolates failures — a crash in one backend does not take down the whole server — at the cost of higher per-connection memory overhead than a thread-based design.</a:t>
            </a:r>
            <a:endParaRPr lang="en-US" sz="1300" dirty="0"/>
          </a:p>
        </p:txBody>
      </p:sp>
      <p:sp>
        <p:nvSpPr>
          <p:cNvPr id="5" name="Shape 3"/>
          <p:cNvSpPr/>
          <p:nvPr/>
        </p:nvSpPr>
        <p:spPr>
          <a:xfrm>
            <a:off x="457200" y="2880360"/>
            <a:ext cx="1828800" cy="777240"/>
          </a:xfrm>
          <a:prstGeom prst="roundRect">
            <a:avLst>
              <a:gd name="adj" fmla="val 9412"/>
            </a:avLst>
          </a:prstGeom>
          <a:solidFill>
            <a:srgbClr val="FFFFFF"/>
          </a:solidFill>
          <a:ln w="15875">
            <a:solidFill>
              <a:srgbClr val="5C6B73"/>
            </a:solidFill>
            <a:prstDash val="solid"/>
          </a:ln>
        </p:spPr>
      </p:sp>
      <p:sp>
        <p:nvSpPr>
          <p:cNvPr id="6" name="Text 4"/>
          <p:cNvSpPr/>
          <p:nvPr/>
        </p:nvSpPr>
        <p:spPr>
          <a:xfrm>
            <a:off x="457200" y="2880360"/>
            <a:ext cx="1828800" cy="777240"/>
          </a:xfrm>
          <a:prstGeom prst="rect">
            <a:avLst/>
          </a:prstGeom>
          <a:noFill/>
          <a:ln/>
        </p:spPr>
        <p:txBody>
          <a:bodyPr wrap="square" lIns="0" tIns="0" rIns="0" bIns="0" rtlCol="0" anchor="ctr"/>
          <a:lstStyle/>
          <a:p>
            <a:pPr algn="ctr" indent="0" marL="0">
              <a:buNone/>
            </a:pPr>
            <a:r>
              <a:rPr lang="en-US" sz="1400" b="1" dirty="0">
                <a:solidFill>
                  <a:srgbClr val="22303C"/>
                </a:solidFill>
                <a:latin typeface="Calibri" pitchFamily="34" charset="0"/>
                <a:ea typeface="Calibri" pitchFamily="34" charset="-122"/>
                <a:cs typeface="Calibri" pitchFamily="34" charset="-120"/>
              </a:rPr>
              <a:t>Client</a:t>
            </a:r>
            <a:endParaRPr lang="en-US" sz="1400" dirty="0"/>
          </a:p>
        </p:txBody>
      </p:sp>
      <p:sp>
        <p:nvSpPr>
          <p:cNvPr id="7" name="Shape 5"/>
          <p:cNvSpPr/>
          <p:nvPr/>
        </p:nvSpPr>
        <p:spPr>
          <a:xfrm>
            <a:off x="2834640" y="2743200"/>
            <a:ext cx="2103120" cy="1051560"/>
          </a:xfrm>
          <a:prstGeom prst="roundRect">
            <a:avLst>
              <a:gd name="adj" fmla="val 6957"/>
            </a:avLst>
          </a:prstGeom>
          <a:solidFill>
            <a:srgbClr val="336791"/>
          </a:solidFill>
          <a:ln/>
        </p:spPr>
      </p:sp>
      <p:sp>
        <p:nvSpPr>
          <p:cNvPr id="8" name="Text 6"/>
          <p:cNvSpPr/>
          <p:nvPr/>
        </p:nvSpPr>
        <p:spPr>
          <a:xfrm>
            <a:off x="2834640" y="2743200"/>
            <a:ext cx="2103120" cy="10515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Postmaster</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(main process)</a:t>
            </a:r>
            <a:endParaRPr lang="en-US" sz="1350" dirty="0"/>
          </a:p>
        </p:txBody>
      </p:sp>
      <p:sp>
        <p:nvSpPr>
          <p:cNvPr id="9" name="Shape 7"/>
          <p:cNvSpPr/>
          <p:nvPr/>
        </p:nvSpPr>
        <p:spPr>
          <a:xfrm>
            <a:off x="2286000" y="3264408"/>
            <a:ext cx="548640" cy="914"/>
          </a:xfrm>
          <a:prstGeom prst="line">
            <a:avLst/>
          </a:prstGeom>
          <a:noFill/>
          <a:ln w="19050">
            <a:solidFill>
              <a:srgbClr val="5C6B73"/>
            </a:solidFill>
            <a:prstDash val="solid"/>
            <a:tailEnd type="triangle"/>
          </a:ln>
        </p:spPr>
      </p:sp>
      <p:sp>
        <p:nvSpPr>
          <p:cNvPr id="10" name="Shape 8"/>
          <p:cNvSpPr/>
          <p:nvPr/>
        </p:nvSpPr>
        <p:spPr>
          <a:xfrm>
            <a:off x="6400800" y="1920240"/>
            <a:ext cx="2194560" cy="777240"/>
          </a:xfrm>
          <a:prstGeom prst="roundRect">
            <a:avLst>
              <a:gd name="adj" fmla="val 9412"/>
            </a:avLst>
          </a:prstGeom>
          <a:solidFill>
            <a:srgbClr val="DCEBF7"/>
          </a:solidFill>
          <a:ln w="12700">
            <a:solidFill>
              <a:srgbClr val="AFCFE6"/>
            </a:solidFill>
            <a:prstDash val="solid"/>
          </a:ln>
        </p:spPr>
      </p:sp>
      <p:sp>
        <p:nvSpPr>
          <p:cNvPr id="11" name="Text 9"/>
          <p:cNvSpPr/>
          <p:nvPr/>
        </p:nvSpPr>
        <p:spPr>
          <a:xfrm>
            <a:off x="6400800" y="1920240"/>
            <a:ext cx="2194560" cy="777240"/>
          </a:xfrm>
          <a:prstGeom prst="rect">
            <a:avLst/>
          </a:prstGeom>
          <a:noFill/>
          <a:ln/>
        </p:spPr>
        <p:txBody>
          <a:bodyPr wrap="square" lIns="0" tIns="0" rIns="0" bIns="0" rtlCol="0" anchor="ctr"/>
          <a:lstStyle/>
          <a:p>
            <a:pPr algn="ctr" indent="0" marL="0">
              <a:buNone/>
            </a:pPr>
            <a:r>
              <a:rPr lang="en-US" sz="1250" b="1" dirty="0">
                <a:solidFill>
                  <a:srgbClr val="22303C"/>
                </a:solidFill>
                <a:latin typeface="Calibri" pitchFamily="34" charset="0"/>
                <a:ea typeface="Calibri" pitchFamily="34" charset="-122"/>
                <a:cs typeface="Calibri" pitchFamily="34" charset="-120"/>
              </a:rPr>
              <a:t>Backend</a:t>
            </a:r>
            <a:endParaRPr lang="en-US" sz="1250" dirty="0"/>
          </a:p>
          <a:p>
            <a:pPr algn="ctr" indent="0" marL="0">
              <a:buNone/>
            </a:pPr>
            <a:r>
              <a:rPr lang="en-US" sz="1250" b="1" dirty="0">
                <a:solidFill>
                  <a:srgbClr val="22303C"/>
                </a:solidFill>
                <a:latin typeface="Calibri" pitchFamily="34" charset="0"/>
                <a:ea typeface="Calibri" pitchFamily="34" charset="-122"/>
                <a:cs typeface="Calibri" pitchFamily="34" charset="-120"/>
              </a:rPr>
              <a:t>Process A</a:t>
            </a:r>
            <a:endParaRPr lang="en-US" sz="1250" dirty="0"/>
          </a:p>
        </p:txBody>
      </p:sp>
      <p:sp>
        <p:nvSpPr>
          <p:cNvPr id="12" name="Shape 10"/>
          <p:cNvSpPr/>
          <p:nvPr/>
        </p:nvSpPr>
        <p:spPr>
          <a:xfrm flipV="1">
            <a:off x="4937760" y="2304288"/>
            <a:ext cx="1463040" cy="960120"/>
          </a:xfrm>
          <a:prstGeom prst="line">
            <a:avLst/>
          </a:prstGeom>
          <a:noFill/>
          <a:ln w="19050">
            <a:solidFill>
              <a:srgbClr val="AFCFE6"/>
            </a:solidFill>
            <a:prstDash val="solid"/>
            <a:tailEnd type="triangle"/>
          </a:ln>
        </p:spPr>
      </p:sp>
      <p:sp>
        <p:nvSpPr>
          <p:cNvPr id="13" name="Shape 11"/>
          <p:cNvSpPr/>
          <p:nvPr/>
        </p:nvSpPr>
        <p:spPr>
          <a:xfrm>
            <a:off x="6400800" y="2880360"/>
            <a:ext cx="2194560" cy="777240"/>
          </a:xfrm>
          <a:prstGeom prst="roundRect">
            <a:avLst>
              <a:gd name="adj" fmla="val 9412"/>
            </a:avLst>
          </a:prstGeom>
          <a:solidFill>
            <a:srgbClr val="DCEBF7"/>
          </a:solidFill>
          <a:ln w="12700">
            <a:solidFill>
              <a:srgbClr val="AFCFE6"/>
            </a:solidFill>
            <a:prstDash val="solid"/>
          </a:ln>
        </p:spPr>
      </p:sp>
      <p:sp>
        <p:nvSpPr>
          <p:cNvPr id="14" name="Text 12"/>
          <p:cNvSpPr/>
          <p:nvPr/>
        </p:nvSpPr>
        <p:spPr>
          <a:xfrm>
            <a:off x="6400800" y="2880360"/>
            <a:ext cx="2194560" cy="777240"/>
          </a:xfrm>
          <a:prstGeom prst="rect">
            <a:avLst/>
          </a:prstGeom>
          <a:noFill/>
          <a:ln/>
        </p:spPr>
        <p:txBody>
          <a:bodyPr wrap="square" lIns="0" tIns="0" rIns="0" bIns="0" rtlCol="0" anchor="ctr"/>
          <a:lstStyle/>
          <a:p>
            <a:pPr algn="ctr" indent="0" marL="0">
              <a:buNone/>
            </a:pPr>
            <a:r>
              <a:rPr lang="en-US" sz="1250" b="1" dirty="0">
                <a:solidFill>
                  <a:srgbClr val="22303C"/>
                </a:solidFill>
                <a:latin typeface="Calibri" pitchFamily="34" charset="0"/>
                <a:ea typeface="Calibri" pitchFamily="34" charset="-122"/>
                <a:cs typeface="Calibri" pitchFamily="34" charset="-120"/>
              </a:rPr>
              <a:t>Backend</a:t>
            </a:r>
            <a:endParaRPr lang="en-US" sz="1250" dirty="0"/>
          </a:p>
          <a:p>
            <a:pPr algn="ctr" indent="0" marL="0">
              <a:buNone/>
            </a:pPr>
            <a:r>
              <a:rPr lang="en-US" sz="1250" b="1" dirty="0">
                <a:solidFill>
                  <a:srgbClr val="22303C"/>
                </a:solidFill>
                <a:latin typeface="Calibri" pitchFamily="34" charset="0"/>
                <a:ea typeface="Calibri" pitchFamily="34" charset="-122"/>
                <a:cs typeface="Calibri" pitchFamily="34" charset="-120"/>
              </a:rPr>
              <a:t>Process B</a:t>
            </a:r>
            <a:endParaRPr lang="en-US" sz="1250" dirty="0"/>
          </a:p>
        </p:txBody>
      </p:sp>
      <p:sp>
        <p:nvSpPr>
          <p:cNvPr id="15" name="Shape 13"/>
          <p:cNvSpPr/>
          <p:nvPr/>
        </p:nvSpPr>
        <p:spPr>
          <a:xfrm>
            <a:off x="4937760" y="3264408"/>
            <a:ext cx="1463040" cy="914"/>
          </a:xfrm>
          <a:prstGeom prst="line">
            <a:avLst/>
          </a:prstGeom>
          <a:noFill/>
          <a:ln w="19050">
            <a:solidFill>
              <a:srgbClr val="AFCFE6"/>
            </a:solidFill>
            <a:prstDash val="solid"/>
            <a:tailEnd type="triangle"/>
          </a:ln>
        </p:spPr>
      </p:sp>
      <p:sp>
        <p:nvSpPr>
          <p:cNvPr id="16" name="Shape 14"/>
          <p:cNvSpPr/>
          <p:nvPr/>
        </p:nvSpPr>
        <p:spPr>
          <a:xfrm>
            <a:off x="6400800" y="3840480"/>
            <a:ext cx="2194560" cy="777240"/>
          </a:xfrm>
          <a:prstGeom prst="roundRect">
            <a:avLst>
              <a:gd name="adj" fmla="val 9412"/>
            </a:avLst>
          </a:prstGeom>
          <a:solidFill>
            <a:srgbClr val="DCEBF7"/>
          </a:solidFill>
          <a:ln w="12700">
            <a:solidFill>
              <a:srgbClr val="AFCFE6"/>
            </a:solidFill>
            <a:prstDash val="solid"/>
          </a:ln>
        </p:spPr>
      </p:sp>
      <p:sp>
        <p:nvSpPr>
          <p:cNvPr id="17" name="Text 15"/>
          <p:cNvSpPr/>
          <p:nvPr/>
        </p:nvSpPr>
        <p:spPr>
          <a:xfrm>
            <a:off x="6400800" y="3840480"/>
            <a:ext cx="2194560" cy="777240"/>
          </a:xfrm>
          <a:prstGeom prst="rect">
            <a:avLst/>
          </a:prstGeom>
          <a:noFill/>
          <a:ln/>
        </p:spPr>
        <p:txBody>
          <a:bodyPr wrap="square" lIns="0" tIns="0" rIns="0" bIns="0" rtlCol="0" anchor="ctr"/>
          <a:lstStyle/>
          <a:p>
            <a:pPr algn="ctr" indent="0" marL="0">
              <a:buNone/>
            </a:pPr>
            <a:r>
              <a:rPr lang="en-US" sz="1250" b="1" dirty="0">
                <a:solidFill>
                  <a:srgbClr val="22303C"/>
                </a:solidFill>
                <a:latin typeface="Calibri" pitchFamily="34" charset="0"/>
                <a:ea typeface="Calibri" pitchFamily="34" charset="-122"/>
                <a:cs typeface="Calibri" pitchFamily="34" charset="-120"/>
              </a:rPr>
              <a:t>Backend</a:t>
            </a:r>
            <a:endParaRPr lang="en-US" sz="1250" dirty="0"/>
          </a:p>
          <a:p>
            <a:pPr algn="ctr" indent="0" marL="0">
              <a:buNone/>
            </a:pPr>
            <a:r>
              <a:rPr lang="en-US" sz="1250" b="1" dirty="0">
                <a:solidFill>
                  <a:srgbClr val="22303C"/>
                </a:solidFill>
                <a:latin typeface="Calibri" pitchFamily="34" charset="0"/>
                <a:ea typeface="Calibri" pitchFamily="34" charset="-122"/>
                <a:cs typeface="Calibri" pitchFamily="34" charset="-120"/>
              </a:rPr>
              <a:t>Process C</a:t>
            </a:r>
            <a:endParaRPr lang="en-US" sz="1250" dirty="0"/>
          </a:p>
        </p:txBody>
      </p:sp>
      <p:sp>
        <p:nvSpPr>
          <p:cNvPr id="18" name="Shape 16"/>
          <p:cNvSpPr/>
          <p:nvPr/>
        </p:nvSpPr>
        <p:spPr>
          <a:xfrm>
            <a:off x="4937760" y="3264408"/>
            <a:ext cx="1463040" cy="960120"/>
          </a:xfrm>
          <a:prstGeom prst="line">
            <a:avLst/>
          </a:prstGeom>
          <a:noFill/>
          <a:ln w="19050">
            <a:solidFill>
              <a:srgbClr val="AFCFE6"/>
            </a:solidFill>
            <a:prstDash val="solid"/>
            <a:tailEnd type="triangle"/>
          </a:ln>
        </p:spPr>
      </p:sp>
      <p:sp>
        <p:nvSpPr>
          <p:cNvPr id="19" name="Text 17"/>
          <p:cNvSpPr/>
          <p:nvPr/>
        </p:nvSpPr>
        <p:spPr>
          <a:xfrm>
            <a:off x="4983480" y="2286000"/>
            <a:ext cx="1417320" cy="502920"/>
          </a:xfrm>
          <a:prstGeom prst="rect">
            <a:avLst/>
          </a:prstGeom>
          <a:noFill/>
          <a:ln/>
        </p:spPr>
        <p:txBody>
          <a:bodyPr wrap="square" lIns="0" tIns="0" rIns="0" bIns="0" rtlCol="0" anchor="ctr"/>
          <a:lstStyle/>
          <a:p>
            <a:pPr algn="ctr" indent="0" marL="0">
              <a:buNone/>
            </a:pPr>
            <a:r>
              <a:rPr lang="en-US" sz="1050" i="1" dirty="0">
                <a:solidFill>
                  <a:srgbClr val="5C6B73"/>
                </a:solidFill>
                <a:latin typeface="Calibri" pitchFamily="34" charset="0"/>
                <a:ea typeface="Calibri" pitchFamily="34" charset="-122"/>
                <a:cs typeface="Calibri" pitchFamily="34" charset="-120"/>
              </a:rPr>
              <a:t>fork() per new</a:t>
            </a:r>
            <a:endParaRPr lang="en-US" sz="1050" dirty="0"/>
          </a:p>
          <a:p>
            <a:pPr algn="ctr" indent="0" marL="0">
              <a:buNone/>
            </a:pPr>
            <a:r>
              <a:rPr lang="en-US" sz="1050" i="1" dirty="0">
                <a:solidFill>
                  <a:srgbClr val="5C6B73"/>
                </a:solidFill>
                <a:latin typeface="Calibri" pitchFamily="34" charset="0"/>
                <a:ea typeface="Calibri" pitchFamily="34" charset="-122"/>
                <a:cs typeface="Calibri" pitchFamily="34" charset="-120"/>
              </a:rPr>
              <a:t>connection</a:t>
            </a:r>
            <a:endParaRPr lang="en-US" sz="1050" dirty="0"/>
          </a:p>
        </p:txBody>
      </p:sp>
      <p:sp>
        <p:nvSpPr>
          <p:cNvPr id="20" name="Shape 18"/>
          <p:cNvSpPr/>
          <p:nvPr/>
        </p:nvSpPr>
        <p:spPr>
          <a:xfrm>
            <a:off x="9189720" y="1783080"/>
            <a:ext cx="2606040" cy="3063240"/>
          </a:xfrm>
          <a:prstGeom prst="roundRect">
            <a:avLst>
              <a:gd name="adj" fmla="val 2807"/>
            </a:avLst>
          </a:prstGeom>
          <a:solidFill>
            <a:srgbClr val="FBEFEA"/>
          </a:solidFill>
          <a:ln w="12700">
            <a:solidFill>
              <a:srgbClr val="E76F51"/>
            </a:solidFill>
            <a:prstDash val="solid"/>
          </a:ln>
        </p:spPr>
      </p:sp>
      <p:sp>
        <p:nvSpPr>
          <p:cNvPr id="21" name="Text 19"/>
          <p:cNvSpPr/>
          <p:nvPr/>
        </p:nvSpPr>
        <p:spPr>
          <a:xfrm>
            <a:off x="9189720" y="1874520"/>
            <a:ext cx="2606040" cy="502920"/>
          </a:xfrm>
          <a:prstGeom prst="rect">
            <a:avLst/>
          </a:prstGeom>
          <a:noFill/>
          <a:ln/>
        </p:spPr>
        <p:txBody>
          <a:bodyPr wrap="square" lIns="0" tIns="0" rIns="0" bIns="0" rtlCol="0" anchor="ctr"/>
          <a:lstStyle/>
          <a:p>
            <a:pPr algn="ctr" indent="0" marL="0">
              <a:buNone/>
            </a:pPr>
            <a:r>
              <a:rPr lang="en-US" sz="1250" b="1" dirty="0">
                <a:solidFill>
                  <a:srgbClr val="E76F51"/>
                </a:solidFill>
                <a:latin typeface="Calibri" pitchFamily="34" charset="0"/>
                <a:ea typeface="Calibri" pitchFamily="34" charset="-122"/>
                <a:cs typeface="Calibri" pitchFamily="34" charset="-120"/>
              </a:rPr>
              <a:t>Background</a:t>
            </a:r>
            <a:endParaRPr lang="en-US" sz="1250" dirty="0"/>
          </a:p>
          <a:p>
            <a:pPr algn="ctr" indent="0" marL="0">
              <a:buNone/>
            </a:pPr>
            <a:r>
              <a:rPr lang="en-US" sz="1250" b="1" dirty="0">
                <a:solidFill>
                  <a:srgbClr val="E76F51"/>
                </a:solidFill>
                <a:latin typeface="Calibri" pitchFamily="34" charset="0"/>
                <a:ea typeface="Calibri" pitchFamily="34" charset="-122"/>
                <a:cs typeface="Calibri" pitchFamily="34" charset="-120"/>
              </a:rPr>
              <a:t>Processes</a:t>
            </a:r>
            <a:endParaRPr lang="en-US" sz="1250" dirty="0"/>
          </a:p>
        </p:txBody>
      </p:sp>
      <p:sp>
        <p:nvSpPr>
          <p:cNvPr id="22" name="Text 20"/>
          <p:cNvSpPr/>
          <p:nvPr/>
        </p:nvSpPr>
        <p:spPr>
          <a:xfrm>
            <a:off x="9372600" y="2468880"/>
            <a:ext cx="2286000" cy="365760"/>
          </a:xfrm>
          <a:prstGeom prst="rect">
            <a:avLst/>
          </a:prstGeom>
          <a:noFill/>
          <a:ln/>
        </p:spPr>
        <p:txBody>
          <a:bodyPr wrap="square" lIns="0" tIns="0" rIns="0" bIns="0" rtlCol="0" anchor="ctr"/>
          <a:lstStyle/>
          <a:p>
            <a:pPr marL="342900" indent="-342900">
              <a:buSzPct val="100000"/>
              <a:buChar char="•"/>
            </a:pPr>
            <a:r>
              <a:rPr lang="en-US" sz="1150" dirty="0">
                <a:solidFill>
                  <a:srgbClr val="22303C"/>
                </a:solidFill>
                <a:latin typeface="Calibri" pitchFamily="34" charset="0"/>
                <a:ea typeface="Calibri" pitchFamily="34" charset="-122"/>
                <a:cs typeface="Calibri" pitchFamily="34" charset="-120"/>
              </a:rPr>
              <a:t>Checkpointer</a:t>
            </a:r>
            <a:endParaRPr lang="en-US" sz="1150" dirty="0"/>
          </a:p>
        </p:txBody>
      </p:sp>
      <p:sp>
        <p:nvSpPr>
          <p:cNvPr id="23" name="Text 21"/>
          <p:cNvSpPr/>
          <p:nvPr/>
        </p:nvSpPr>
        <p:spPr>
          <a:xfrm>
            <a:off x="9372600" y="2926080"/>
            <a:ext cx="2286000" cy="365760"/>
          </a:xfrm>
          <a:prstGeom prst="rect">
            <a:avLst/>
          </a:prstGeom>
          <a:noFill/>
          <a:ln/>
        </p:spPr>
        <p:txBody>
          <a:bodyPr wrap="square" lIns="0" tIns="0" rIns="0" bIns="0" rtlCol="0" anchor="ctr"/>
          <a:lstStyle/>
          <a:p>
            <a:pPr marL="342900" indent="-342900">
              <a:buSzPct val="100000"/>
              <a:buChar char="•"/>
            </a:pPr>
            <a:r>
              <a:rPr lang="en-US" sz="1150" dirty="0">
                <a:solidFill>
                  <a:srgbClr val="22303C"/>
                </a:solidFill>
                <a:latin typeface="Calibri" pitchFamily="34" charset="0"/>
                <a:ea typeface="Calibri" pitchFamily="34" charset="-122"/>
                <a:cs typeface="Calibri" pitchFamily="34" charset="-120"/>
              </a:rPr>
              <a:t>Background Writer</a:t>
            </a:r>
            <a:endParaRPr lang="en-US" sz="1150" dirty="0"/>
          </a:p>
        </p:txBody>
      </p:sp>
      <p:sp>
        <p:nvSpPr>
          <p:cNvPr id="24" name="Text 22"/>
          <p:cNvSpPr/>
          <p:nvPr/>
        </p:nvSpPr>
        <p:spPr>
          <a:xfrm>
            <a:off x="9372600" y="3383280"/>
            <a:ext cx="2286000" cy="365760"/>
          </a:xfrm>
          <a:prstGeom prst="rect">
            <a:avLst/>
          </a:prstGeom>
          <a:noFill/>
          <a:ln/>
        </p:spPr>
        <p:txBody>
          <a:bodyPr wrap="square" lIns="0" tIns="0" rIns="0" bIns="0" rtlCol="0" anchor="ctr"/>
          <a:lstStyle/>
          <a:p>
            <a:pPr marL="342900" indent="-342900">
              <a:buSzPct val="100000"/>
              <a:buChar char="•"/>
            </a:pPr>
            <a:r>
              <a:rPr lang="en-US" sz="1150" dirty="0">
                <a:solidFill>
                  <a:srgbClr val="22303C"/>
                </a:solidFill>
                <a:latin typeface="Calibri" pitchFamily="34" charset="0"/>
                <a:ea typeface="Calibri" pitchFamily="34" charset="-122"/>
                <a:cs typeface="Calibri" pitchFamily="34" charset="-120"/>
              </a:rPr>
              <a:t>WAL Writer</a:t>
            </a:r>
            <a:endParaRPr lang="en-US" sz="1150" dirty="0"/>
          </a:p>
        </p:txBody>
      </p:sp>
      <p:sp>
        <p:nvSpPr>
          <p:cNvPr id="25" name="Text 23"/>
          <p:cNvSpPr/>
          <p:nvPr/>
        </p:nvSpPr>
        <p:spPr>
          <a:xfrm>
            <a:off x="9372600" y="3840480"/>
            <a:ext cx="2286000" cy="365760"/>
          </a:xfrm>
          <a:prstGeom prst="rect">
            <a:avLst/>
          </a:prstGeom>
          <a:noFill/>
          <a:ln/>
        </p:spPr>
        <p:txBody>
          <a:bodyPr wrap="square" lIns="0" tIns="0" rIns="0" bIns="0" rtlCol="0" anchor="ctr"/>
          <a:lstStyle/>
          <a:p>
            <a:pPr marL="342900" indent="-342900">
              <a:buSzPct val="100000"/>
              <a:buChar char="•"/>
            </a:pPr>
            <a:r>
              <a:rPr lang="en-US" sz="1150" dirty="0">
                <a:solidFill>
                  <a:srgbClr val="22303C"/>
                </a:solidFill>
                <a:latin typeface="Calibri" pitchFamily="34" charset="0"/>
                <a:ea typeface="Calibri" pitchFamily="34" charset="-122"/>
                <a:cs typeface="Calibri" pitchFamily="34" charset="-120"/>
              </a:rPr>
              <a:t>Autovacuum</a:t>
            </a:r>
            <a:endParaRPr lang="en-US" sz="1150" dirty="0"/>
          </a:p>
        </p:txBody>
      </p:sp>
      <p:sp>
        <p:nvSpPr>
          <p:cNvPr id="26" name="Text 24"/>
          <p:cNvSpPr/>
          <p:nvPr/>
        </p:nvSpPr>
        <p:spPr>
          <a:xfrm>
            <a:off x="9372600" y="4297680"/>
            <a:ext cx="2286000" cy="365760"/>
          </a:xfrm>
          <a:prstGeom prst="rect">
            <a:avLst/>
          </a:prstGeom>
          <a:noFill/>
          <a:ln/>
        </p:spPr>
        <p:txBody>
          <a:bodyPr wrap="square" lIns="0" tIns="0" rIns="0" bIns="0" rtlCol="0" anchor="ctr"/>
          <a:lstStyle/>
          <a:p>
            <a:pPr marL="342900" indent="-342900">
              <a:buSzPct val="100000"/>
              <a:buChar char="•"/>
            </a:pPr>
            <a:r>
              <a:rPr lang="en-US" sz="1150" dirty="0">
                <a:solidFill>
                  <a:srgbClr val="22303C"/>
                </a:solidFill>
                <a:latin typeface="Calibri" pitchFamily="34" charset="0"/>
                <a:ea typeface="Calibri" pitchFamily="34" charset="-122"/>
                <a:cs typeface="Calibri" pitchFamily="34" charset="-120"/>
              </a:rPr>
              <a:t>Archiver</a:t>
            </a:r>
            <a:endParaRPr lang="en-US" sz="1150" dirty="0"/>
          </a:p>
        </p:txBody>
      </p:sp>
      <p:sp>
        <p:nvSpPr>
          <p:cNvPr id="27" name="Shape 25"/>
          <p:cNvSpPr/>
          <p:nvPr/>
        </p:nvSpPr>
        <p:spPr>
          <a:xfrm flipV="1">
            <a:off x="4937760" y="2286000"/>
            <a:ext cx="4251960" cy="640080"/>
          </a:xfrm>
          <a:prstGeom prst="line">
            <a:avLst/>
          </a:prstGeom>
          <a:noFill/>
          <a:ln w="19050">
            <a:solidFill>
              <a:srgbClr val="F0BBA4"/>
            </a:solidFill>
            <a:prstDash val="solid"/>
            <a:tailEnd type="triangle"/>
          </a:ln>
        </p:spPr>
      </p:sp>
      <p:sp>
        <p:nvSpPr>
          <p:cNvPr id="28" name="Text 26"/>
          <p:cNvSpPr/>
          <p:nvPr/>
        </p:nvSpPr>
        <p:spPr>
          <a:xfrm>
            <a:off x="9189720" y="4983480"/>
            <a:ext cx="2606040" cy="365760"/>
          </a:xfrm>
          <a:prstGeom prst="rect">
            <a:avLst/>
          </a:prstGeom>
          <a:noFill/>
          <a:ln/>
        </p:spPr>
        <p:txBody>
          <a:bodyPr wrap="square" lIns="0" tIns="0" rIns="0" bIns="0" rtlCol="0" anchor="ctr"/>
          <a:lstStyle/>
          <a:p>
            <a:pPr algn="ctr" indent="0" marL="0">
              <a:buNone/>
            </a:pPr>
            <a:r>
              <a:rPr lang="en-US" sz="1050" i="1" dirty="0">
                <a:solidFill>
                  <a:srgbClr val="5C6B73"/>
                </a:solidFill>
                <a:latin typeface="Calibri" pitchFamily="34" charset="0"/>
                <a:ea typeface="Calibri" pitchFamily="34" charset="-122"/>
                <a:cs typeface="Calibri" pitchFamily="34" charset="-120"/>
              </a:rPr>
              <a:t>Started once per</a:t>
            </a:r>
            <a:endParaRPr lang="en-US" sz="1050" dirty="0"/>
          </a:p>
          <a:p>
            <a:pPr algn="ctr" indent="0" marL="0">
              <a:buNone/>
            </a:pPr>
            <a:r>
              <a:rPr lang="en-US" sz="1050" i="1" dirty="0">
                <a:solidFill>
                  <a:srgbClr val="5C6B73"/>
                </a:solidFill>
                <a:latin typeface="Calibri" pitchFamily="34" charset="0"/>
                <a:ea typeface="Calibri" pitchFamily="34" charset="-122"/>
                <a:cs typeface="Calibri" pitchFamily="34" charset="-120"/>
              </a:rPr>
              <a:t>server lifetime</a:t>
            </a:r>
            <a:endParaRPr lang="en-US" sz="1050" dirty="0"/>
          </a:p>
        </p:txBody>
      </p:sp>
      <p:sp>
        <p:nvSpPr>
          <p:cNvPr id="29" name="Text 27"/>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30" name="Text 28"/>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PROCESS ARCHITECTURE</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Postmaster &amp; the Backend Lifecycle</a:t>
            </a:r>
            <a:endParaRPr lang="en-US" sz="3000" dirty="0"/>
          </a:p>
        </p:txBody>
      </p:sp>
      <p:sp>
        <p:nvSpPr>
          <p:cNvPr id="4" name="Text 2"/>
          <p:cNvSpPr/>
          <p:nvPr/>
        </p:nvSpPr>
        <p:spPr>
          <a:xfrm>
            <a:off x="457200" y="1298448"/>
            <a:ext cx="11247120" cy="77724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The postmaster is the first process started when the server boots. It listens on the configured port (5432 by default), and for every incoming connection it forks a dedicated backend process that handles all queries for that session until the client disconnects.</a:t>
            </a:r>
            <a:endParaRPr lang="en-US" sz="1350" dirty="0"/>
          </a:p>
        </p:txBody>
      </p:sp>
      <p:sp>
        <p:nvSpPr>
          <p:cNvPr id="5" name="Shape 3"/>
          <p:cNvSpPr/>
          <p:nvPr/>
        </p:nvSpPr>
        <p:spPr>
          <a:xfrm>
            <a:off x="457200" y="3017520"/>
            <a:ext cx="1965960" cy="1417320"/>
          </a:xfrm>
          <a:prstGeom prst="roundRect">
            <a:avLst>
              <a:gd name="adj" fmla="val 5161"/>
            </a:avLst>
          </a:prstGeom>
          <a:solidFill>
            <a:srgbClr val="DCEBF7"/>
          </a:solidFill>
          <a:ln w="12700">
            <a:solidFill>
              <a:srgbClr val="AFCFE6"/>
            </a:solidFill>
            <a:prstDash val="solid"/>
          </a:ln>
        </p:spPr>
      </p:sp>
      <p:sp>
        <p:nvSpPr>
          <p:cNvPr id="6" name="Text 4"/>
          <p:cNvSpPr/>
          <p:nvPr/>
        </p:nvSpPr>
        <p:spPr>
          <a:xfrm>
            <a:off x="548640" y="3127248"/>
            <a:ext cx="1783080" cy="365760"/>
          </a:xfrm>
          <a:prstGeom prst="rect">
            <a:avLst/>
          </a:prstGeom>
          <a:noFill/>
          <a:ln/>
        </p:spPr>
        <p:txBody>
          <a:bodyPr wrap="square" lIns="0" tIns="0" rIns="0" bIns="0" rtlCol="0" anchor="ctr"/>
          <a:lstStyle/>
          <a:p>
            <a:pPr algn="ctr" indent="0" marL="0">
              <a:buNone/>
            </a:pPr>
            <a:r>
              <a:rPr lang="en-US" sz="1300" b="1" dirty="0">
                <a:solidFill>
                  <a:srgbClr val="336791"/>
                </a:solidFill>
                <a:latin typeface="Calibri" pitchFamily="34" charset="0"/>
                <a:ea typeface="Calibri" pitchFamily="34" charset="-122"/>
                <a:cs typeface="Calibri" pitchFamily="34" charset="-120"/>
              </a:rPr>
              <a:t>Server Starts</a:t>
            </a:r>
            <a:endParaRPr lang="en-US" sz="1300" dirty="0"/>
          </a:p>
        </p:txBody>
      </p:sp>
      <p:sp>
        <p:nvSpPr>
          <p:cNvPr id="7" name="Text 5"/>
          <p:cNvSpPr/>
          <p:nvPr/>
        </p:nvSpPr>
        <p:spPr>
          <a:xfrm>
            <a:off x="548640" y="3520440"/>
            <a:ext cx="1783080" cy="822960"/>
          </a:xfrm>
          <a:prstGeom prst="rect">
            <a:avLst/>
          </a:prstGeom>
          <a:noFill/>
          <a:ln/>
        </p:spPr>
        <p:txBody>
          <a:bodyPr wrap="square" lIns="0" tIns="0" rIns="0" bIns="0" rtlCol="0" anchor="ctr"/>
          <a:lstStyle/>
          <a:p>
            <a:pPr algn="ctr" indent="0" marL="0">
              <a:buNone/>
            </a:pPr>
            <a:r>
              <a:rPr lang="en-US" sz="1100" dirty="0">
                <a:solidFill>
                  <a:srgbClr val="22303C"/>
                </a:solidFill>
                <a:latin typeface="Calibri" pitchFamily="34" charset="0"/>
                <a:ea typeface="Calibri" pitchFamily="34" charset="-122"/>
                <a:cs typeface="Calibri" pitchFamily="34" charset="-120"/>
              </a:rPr>
              <a:t>Postmaster initializes</a:t>
            </a:r>
            <a:endParaRPr lang="en-US" sz="1100" dirty="0"/>
          </a:p>
          <a:p>
            <a:pPr algn="ctr" indent="0" marL="0">
              <a:buNone/>
            </a:pPr>
            <a:r>
              <a:rPr lang="en-US" sz="1100" dirty="0">
                <a:solidFill>
                  <a:srgbClr val="22303C"/>
                </a:solidFill>
                <a:latin typeface="Calibri" pitchFamily="34" charset="0"/>
                <a:ea typeface="Calibri" pitchFamily="34" charset="-122"/>
                <a:cs typeface="Calibri" pitchFamily="34" charset="-120"/>
              </a:rPr>
              <a:t>shared memory</a:t>
            </a:r>
            <a:endParaRPr lang="en-US" sz="1100" dirty="0"/>
          </a:p>
        </p:txBody>
      </p:sp>
      <p:sp>
        <p:nvSpPr>
          <p:cNvPr id="8" name="Shape 6"/>
          <p:cNvSpPr/>
          <p:nvPr/>
        </p:nvSpPr>
        <p:spPr>
          <a:xfrm>
            <a:off x="2423160" y="3726180"/>
            <a:ext cx="320040" cy="914"/>
          </a:xfrm>
          <a:prstGeom prst="line">
            <a:avLst/>
          </a:prstGeom>
          <a:noFill/>
          <a:ln w="19050">
            <a:solidFill>
              <a:srgbClr val="5C6B73"/>
            </a:solidFill>
            <a:prstDash val="solid"/>
            <a:tailEnd type="triangle"/>
          </a:ln>
        </p:spPr>
      </p:sp>
      <p:sp>
        <p:nvSpPr>
          <p:cNvPr id="9" name="Shape 7"/>
          <p:cNvSpPr/>
          <p:nvPr/>
        </p:nvSpPr>
        <p:spPr>
          <a:xfrm>
            <a:off x="2743200" y="3017520"/>
            <a:ext cx="1965960" cy="1417320"/>
          </a:xfrm>
          <a:prstGeom prst="roundRect">
            <a:avLst>
              <a:gd name="adj" fmla="val 5161"/>
            </a:avLst>
          </a:prstGeom>
          <a:solidFill>
            <a:srgbClr val="DCEBF7"/>
          </a:solidFill>
          <a:ln w="12700">
            <a:solidFill>
              <a:srgbClr val="AFCFE6"/>
            </a:solidFill>
            <a:prstDash val="solid"/>
          </a:ln>
        </p:spPr>
      </p:sp>
      <p:sp>
        <p:nvSpPr>
          <p:cNvPr id="10" name="Text 8"/>
          <p:cNvSpPr/>
          <p:nvPr/>
        </p:nvSpPr>
        <p:spPr>
          <a:xfrm>
            <a:off x="2834640" y="3127248"/>
            <a:ext cx="1783080" cy="365760"/>
          </a:xfrm>
          <a:prstGeom prst="rect">
            <a:avLst/>
          </a:prstGeom>
          <a:noFill/>
          <a:ln/>
        </p:spPr>
        <p:txBody>
          <a:bodyPr wrap="square" lIns="0" tIns="0" rIns="0" bIns="0" rtlCol="0" anchor="ctr"/>
          <a:lstStyle/>
          <a:p>
            <a:pPr algn="ctr" indent="0" marL="0">
              <a:buNone/>
            </a:pPr>
            <a:r>
              <a:rPr lang="en-US" sz="1300" b="1" dirty="0">
                <a:solidFill>
                  <a:srgbClr val="336791"/>
                </a:solidFill>
                <a:latin typeface="Calibri" pitchFamily="34" charset="0"/>
                <a:ea typeface="Calibri" pitchFamily="34" charset="-122"/>
                <a:cs typeface="Calibri" pitchFamily="34" charset="-120"/>
              </a:rPr>
              <a:t>Listens</a:t>
            </a:r>
            <a:endParaRPr lang="en-US" sz="1300" dirty="0"/>
          </a:p>
        </p:txBody>
      </p:sp>
      <p:sp>
        <p:nvSpPr>
          <p:cNvPr id="11" name="Text 9"/>
          <p:cNvSpPr/>
          <p:nvPr/>
        </p:nvSpPr>
        <p:spPr>
          <a:xfrm>
            <a:off x="2834640" y="3520440"/>
            <a:ext cx="1783080" cy="822960"/>
          </a:xfrm>
          <a:prstGeom prst="rect">
            <a:avLst/>
          </a:prstGeom>
          <a:noFill/>
          <a:ln/>
        </p:spPr>
        <p:txBody>
          <a:bodyPr wrap="square" lIns="0" tIns="0" rIns="0" bIns="0" rtlCol="0" anchor="ctr"/>
          <a:lstStyle/>
          <a:p>
            <a:pPr algn="ctr" indent="0" marL="0">
              <a:buNone/>
            </a:pPr>
            <a:r>
              <a:rPr lang="en-US" sz="1100" dirty="0">
                <a:solidFill>
                  <a:srgbClr val="22303C"/>
                </a:solidFill>
                <a:latin typeface="Calibri" pitchFamily="34" charset="0"/>
                <a:ea typeface="Calibri" pitchFamily="34" charset="-122"/>
                <a:cs typeface="Calibri" pitchFamily="34" charset="-120"/>
              </a:rPr>
              <a:t>Waits on TCP port</a:t>
            </a:r>
            <a:endParaRPr lang="en-US" sz="1100" dirty="0"/>
          </a:p>
          <a:p>
            <a:pPr algn="ctr" indent="0" marL="0">
              <a:buNone/>
            </a:pPr>
            <a:r>
              <a:rPr lang="en-US" sz="1100" dirty="0">
                <a:solidFill>
                  <a:srgbClr val="22303C"/>
                </a:solidFill>
                <a:latin typeface="Calibri" pitchFamily="34" charset="0"/>
                <a:ea typeface="Calibri" pitchFamily="34" charset="-122"/>
                <a:cs typeface="Calibri" pitchFamily="34" charset="-120"/>
              </a:rPr>
              <a:t>5432 for connections</a:t>
            </a:r>
            <a:endParaRPr lang="en-US" sz="1100" dirty="0"/>
          </a:p>
        </p:txBody>
      </p:sp>
      <p:sp>
        <p:nvSpPr>
          <p:cNvPr id="12" name="Shape 10"/>
          <p:cNvSpPr/>
          <p:nvPr/>
        </p:nvSpPr>
        <p:spPr>
          <a:xfrm>
            <a:off x="4709160" y="3726180"/>
            <a:ext cx="320040" cy="914"/>
          </a:xfrm>
          <a:prstGeom prst="line">
            <a:avLst/>
          </a:prstGeom>
          <a:noFill/>
          <a:ln w="19050">
            <a:solidFill>
              <a:srgbClr val="5C6B73"/>
            </a:solidFill>
            <a:prstDash val="solid"/>
            <a:tailEnd type="triangle"/>
          </a:ln>
        </p:spPr>
      </p:sp>
      <p:sp>
        <p:nvSpPr>
          <p:cNvPr id="13" name="Shape 11"/>
          <p:cNvSpPr/>
          <p:nvPr/>
        </p:nvSpPr>
        <p:spPr>
          <a:xfrm>
            <a:off x="5029200" y="3017520"/>
            <a:ext cx="1965960" cy="1417320"/>
          </a:xfrm>
          <a:prstGeom prst="roundRect">
            <a:avLst>
              <a:gd name="adj" fmla="val 5161"/>
            </a:avLst>
          </a:prstGeom>
          <a:solidFill>
            <a:srgbClr val="DCEBF7"/>
          </a:solidFill>
          <a:ln w="12700">
            <a:solidFill>
              <a:srgbClr val="AFCFE6"/>
            </a:solidFill>
            <a:prstDash val="solid"/>
          </a:ln>
        </p:spPr>
      </p:sp>
      <p:sp>
        <p:nvSpPr>
          <p:cNvPr id="14" name="Text 12"/>
          <p:cNvSpPr/>
          <p:nvPr/>
        </p:nvSpPr>
        <p:spPr>
          <a:xfrm>
            <a:off x="5120640" y="3127248"/>
            <a:ext cx="1783080" cy="365760"/>
          </a:xfrm>
          <a:prstGeom prst="rect">
            <a:avLst/>
          </a:prstGeom>
          <a:noFill/>
          <a:ln/>
        </p:spPr>
        <p:txBody>
          <a:bodyPr wrap="square" lIns="0" tIns="0" rIns="0" bIns="0" rtlCol="0" anchor="ctr"/>
          <a:lstStyle/>
          <a:p>
            <a:pPr algn="ctr" indent="0" marL="0">
              <a:buNone/>
            </a:pPr>
            <a:r>
              <a:rPr lang="en-US" sz="1300" b="1" dirty="0">
                <a:solidFill>
                  <a:srgbClr val="336791"/>
                </a:solidFill>
                <a:latin typeface="Calibri" pitchFamily="34" charset="0"/>
                <a:ea typeface="Calibri" pitchFamily="34" charset="-122"/>
                <a:cs typeface="Calibri" pitchFamily="34" charset="-120"/>
              </a:rPr>
              <a:t>New Connection</a:t>
            </a:r>
            <a:endParaRPr lang="en-US" sz="1300" dirty="0"/>
          </a:p>
        </p:txBody>
      </p:sp>
      <p:sp>
        <p:nvSpPr>
          <p:cNvPr id="15" name="Text 13"/>
          <p:cNvSpPr/>
          <p:nvPr/>
        </p:nvSpPr>
        <p:spPr>
          <a:xfrm>
            <a:off x="5120640" y="3520440"/>
            <a:ext cx="1783080" cy="822960"/>
          </a:xfrm>
          <a:prstGeom prst="rect">
            <a:avLst/>
          </a:prstGeom>
          <a:noFill/>
          <a:ln/>
        </p:spPr>
        <p:txBody>
          <a:bodyPr wrap="square" lIns="0" tIns="0" rIns="0" bIns="0" rtlCol="0" anchor="ctr"/>
          <a:lstStyle/>
          <a:p>
            <a:pPr algn="ctr" indent="0" marL="0">
              <a:buNone/>
            </a:pPr>
            <a:r>
              <a:rPr lang="en-US" sz="1100" dirty="0">
                <a:solidFill>
                  <a:srgbClr val="22303C"/>
                </a:solidFill>
                <a:latin typeface="Calibri" pitchFamily="34" charset="0"/>
                <a:ea typeface="Calibri" pitchFamily="34" charset="-122"/>
                <a:cs typeface="Calibri" pitchFamily="34" charset="-120"/>
              </a:rPr>
              <a:t>Client requests</a:t>
            </a:r>
            <a:endParaRPr lang="en-US" sz="1100" dirty="0"/>
          </a:p>
          <a:p>
            <a:pPr algn="ctr" indent="0" marL="0">
              <a:buNone/>
            </a:pPr>
            <a:r>
              <a:rPr lang="en-US" sz="1100" dirty="0">
                <a:solidFill>
                  <a:srgbClr val="22303C"/>
                </a:solidFill>
                <a:latin typeface="Calibri" pitchFamily="34" charset="0"/>
                <a:ea typeface="Calibri" pitchFamily="34" charset="-122"/>
                <a:cs typeface="Calibri" pitchFamily="34" charset="-120"/>
              </a:rPr>
              <a:t>a session</a:t>
            </a:r>
            <a:endParaRPr lang="en-US" sz="1100" dirty="0"/>
          </a:p>
        </p:txBody>
      </p:sp>
      <p:sp>
        <p:nvSpPr>
          <p:cNvPr id="16" name="Shape 14"/>
          <p:cNvSpPr/>
          <p:nvPr/>
        </p:nvSpPr>
        <p:spPr>
          <a:xfrm>
            <a:off x="6995160" y="3726180"/>
            <a:ext cx="320040" cy="914"/>
          </a:xfrm>
          <a:prstGeom prst="line">
            <a:avLst/>
          </a:prstGeom>
          <a:noFill/>
          <a:ln w="19050">
            <a:solidFill>
              <a:srgbClr val="5C6B73"/>
            </a:solidFill>
            <a:prstDash val="solid"/>
            <a:tailEnd type="triangle"/>
          </a:ln>
        </p:spPr>
      </p:sp>
      <p:sp>
        <p:nvSpPr>
          <p:cNvPr id="17" name="Shape 15"/>
          <p:cNvSpPr/>
          <p:nvPr/>
        </p:nvSpPr>
        <p:spPr>
          <a:xfrm>
            <a:off x="7315200" y="3017520"/>
            <a:ext cx="1965960" cy="1417320"/>
          </a:xfrm>
          <a:prstGeom prst="roundRect">
            <a:avLst>
              <a:gd name="adj" fmla="val 5161"/>
            </a:avLst>
          </a:prstGeom>
          <a:solidFill>
            <a:srgbClr val="DCEBF7"/>
          </a:solidFill>
          <a:ln w="12700">
            <a:solidFill>
              <a:srgbClr val="AFCFE6"/>
            </a:solidFill>
            <a:prstDash val="solid"/>
          </a:ln>
        </p:spPr>
      </p:sp>
      <p:sp>
        <p:nvSpPr>
          <p:cNvPr id="18" name="Text 16"/>
          <p:cNvSpPr/>
          <p:nvPr/>
        </p:nvSpPr>
        <p:spPr>
          <a:xfrm>
            <a:off x="7406640" y="3127248"/>
            <a:ext cx="1783080" cy="365760"/>
          </a:xfrm>
          <a:prstGeom prst="rect">
            <a:avLst/>
          </a:prstGeom>
          <a:noFill/>
          <a:ln/>
        </p:spPr>
        <p:txBody>
          <a:bodyPr wrap="square" lIns="0" tIns="0" rIns="0" bIns="0" rtlCol="0" anchor="ctr"/>
          <a:lstStyle/>
          <a:p>
            <a:pPr algn="ctr" indent="0" marL="0">
              <a:buNone/>
            </a:pPr>
            <a:r>
              <a:rPr lang="en-US" sz="1300" b="1" dirty="0">
                <a:solidFill>
                  <a:srgbClr val="336791"/>
                </a:solidFill>
                <a:latin typeface="Calibri" pitchFamily="34" charset="0"/>
                <a:ea typeface="Calibri" pitchFamily="34" charset="-122"/>
                <a:cs typeface="Calibri" pitchFamily="34" charset="-120"/>
              </a:rPr>
              <a:t>fork()</a:t>
            </a:r>
            <a:endParaRPr lang="en-US" sz="1300" dirty="0"/>
          </a:p>
        </p:txBody>
      </p:sp>
      <p:sp>
        <p:nvSpPr>
          <p:cNvPr id="19" name="Text 17"/>
          <p:cNvSpPr/>
          <p:nvPr/>
        </p:nvSpPr>
        <p:spPr>
          <a:xfrm>
            <a:off x="7406640" y="3520440"/>
            <a:ext cx="1783080" cy="822960"/>
          </a:xfrm>
          <a:prstGeom prst="rect">
            <a:avLst/>
          </a:prstGeom>
          <a:noFill/>
          <a:ln/>
        </p:spPr>
        <p:txBody>
          <a:bodyPr wrap="square" lIns="0" tIns="0" rIns="0" bIns="0" rtlCol="0" anchor="ctr"/>
          <a:lstStyle/>
          <a:p>
            <a:pPr algn="ctr" indent="0" marL="0">
              <a:buNone/>
            </a:pPr>
            <a:r>
              <a:rPr lang="en-US" sz="1100" dirty="0">
                <a:solidFill>
                  <a:srgbClr val="22303C"/>
                </a:solidFill>
                <a:latin typeface="Calibri" pitchFamily="34" charset="0"/>
                <a:ea typeface="Calibri" pitchFamily="34" charset="-122"/>
                <a:cs typeface="Calibri" pitchFamily="34" charset="-120"/>
              </a:rPr>
              <a:t>Postmaster spawns a</a:t>
            </a:r>
            <a:endParaRPr lang="en-US" sz="1100" dirty="0"/>
          </a:p>
          <a:p>
            <a:pPr algn="ctr" indent="0" marL="0">
              <a:buNone/>
            </a:pPr>
            <a:r>
              <a:rPr lang="en-US" sz="1100" dirty="0">
                <a:solidFill>
                  <a:srgbClr val="22303C"/>
                </a:solidFill>
                <a:latin typeface="Calibri" pitchFamily="34" charset="0"/>
                <a:ea typeface="Calibri" pitchFamily="34" charset="-122"/>
                <a:cs typeface="Calibri" pitchFamily="34" charset="-120"/>
              </a:rPr>
              <a:t>child process</a:t>
            </a:r>
            <a:endParaRPr lang="en-US" sz="1100" dirty="0"/>
          </a:p>
        </p:txBody>
      </p:sp>
      <p:sp>
        <p:nvSpPr>
          <p:cNvPr id="20" name="Shape 18"/>
          <p:cNvSpPr/>
          <p:nvPr/>
        </p:nvSpPr>
        <p:spPr>
          <a:xfrm>
            <a:off x="9281160" y="3726180"/>
            <a:ext cx="320040" cy="914"/>
          </a:xfrm>
          <a:prstGeom prst="line">
            <a:avLst/>
          </a:prstGeom>
          <a:noFill/>
          <a:ln w="19050">
            <a:solidFill>
              <a:srgbClr val="5C6B73"/>
            </a:solidFill>
            <a:prstDash val="solid"/>
            <a:tailEnd type="triangle"/>
          </a:ln>
        </p:spPr>
      </p:sp>
      <p:sp>
        <p:nvSpPr>
          <p:cNvPr id="21" name="Shape 19"/>
          <p:cNvSpPr/>
          <p:nvPr/>
        </p:nvSpPr>
        <p:spPr>
          <a:xfrm>
            <a:off x="9601200" y="3017520"/>
            <a:ext cx="1965960" cy="1417320"/>
          </a:xfrm>
          <a:prstGeom prst="roundRect">
            <a:avLst>
              <a:gd name="adj" fmla="val 5161"/>
            </a:avLst>
          </a:prstGeom>
          <a:solidFill>
            <a:srgbClr val="336791"/>
          </a:solidFill>
          <a:ln/>
        </p:spPr>
      </p:sp>
      <p:sp>
        <p:nvSpPr>
          <p:cNvPr id="22" name="Text 20"/>
          <p:cNvSpPr/>
          <p:nvPr/>
        </p:nvSpPr>
        <p:spPr>
          <a:xfrm>
            <a:off x="9692640" y="3127248"/>
            <a:ext cx="17830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 Runs</a:t>
            </a:r>
            <a:endParaRPr lang="en-US" sz="1300" dirty="0"/>
          </a:p>
        </p:txBody>
      </p:sp>
      <p:sp>
        <p:nvSpPr>
          <p:cNvPr id="23" name="Text 21"/>
          <p:cNvSpPr/>
          <p:nvPr/>
        </p:nvSpPr>
        <p:spPr>
          <a:xfrm>
            <a:off x="9692640" y="3520440"/>
            <a:ext cx="1783080" cy="822960"/>
          </a:xfrm>
          <a:prstGeom prst="rect">
            <a:avLst/>
          </a:prstGeom>
          <a:noFill/>
          <a:ln/>
        </p:spPr>
        <p:txBody>
          <a:bodyPr wrap="square" lIns="0" tIns="0" rIns="0" bIns="0" rtlCol="0" anchor="ctr"/>
          <a:lstStyle/>
          <a:p>
            <a:pPr algn="ctr" indent="0" marL="0">
              <a:buNone/>
            </a:pPr>
            <a:r>
              <a:rPr lang="en-US" sz="1100" dirty="0">
                <a:solidFill>
                  <a:srgbClr val="E9F1F7"/>
                </a:solidFill>
                <a:latin typeface="Calibri" pitchFamily="34" charset="0"/>
                <a:ea typeface="Calibri" pitchFamily="34" charset="-122"/>
                <a:cs typeface="Calibri" pitchFamily="34" charset="-120"/>
              </a:rPr>
              <a:t>Handles queries until</a:t>
            </a:r>
            <a:endParaRPr lang="en-US" sz="1100" dirty="0"/>
          </a:p>
          <a:p>
            <a:pPr algn="ctr" indent="0" marL="0">
              <a:buNone/>
            </a:pPr>
            <a:r>
              <a:rPr lang="en-US" sz="1100" dirty="0">
                <a:solidFill>
                  <a:srgbClr val="E9F1F7"/>
                </a:solidFill>
                <a:latin typeface="Calibri" pitchFamily="34" charset="0"/>
                <a:ea typeface="Calibri" pitchFamily="34" charset="-122"/>
                <a:cs typeface="Calibri" pitchFamily="34" charset="-120"/>
              </a:rPr>
              <a:t>client disconnects</a:t>
            </a:r>
            <a:endParaRPr lang="en-US" sz="1100" dirty="0"/>
          </a:p>
        </p:txBody>
      </p:sp>
      <p:sp>
        <p:nvSpPr>
          <p:cNvPr id="24" name="Shape 22"/>
          <p:cNvSpPr/>
          <p:nvPr/>
        </p:nvSpPr>
        <p:spPr>
          <a:xfrm>
            <a:off x="457200" y="4892040"/>
            <a:ext cx="11292840" cy="1051560"/>
          </a:xfrm>
          <a:prstGeom prst="roundRect">
            <a:avLst>
              <a:gd name="adj" fmla="val 6957"/>
            </a:avLst>
          </a:prstGeom>
          <a:solidFill>
            <a:srgbClr val="FBEFEA"/>
          </a:solidFill>
          <a:ln w="12700">
            <a:solidFill>
              <a:srgbClr val="E76F51"/>
            </a:solidFill>
            <a:prstDash val="solid"/>
          </a:ln>
        </p:spPr>
      </p:sp>
      <p:sp>
        <p:nvSpPr>
          <p:cNvPr id="25" name="Text 23"/>
          <p:cNvSpPr/>
          <p:nvPr/>
        </p:nvSpPr>
        <p:spPr>
          <a:xfrm>
            <a:off x="731520" y="5029200"/>
            <a:ext cx="2103120" cy="320040"/>
          </a:xfrm>
          <a:prstGeom prst="rect">
            <a:avLst/>
          </a:prstGeom>
          <a:noFill/>
          <a:ln/>
        </p:spPr>
        <p:txBody>
          <a:bodyPr wrap="square" lIns="0" tIns="0" rIns="0" bIns="0" rtlCol="0" anchor="ctr"/>
          <a:lstStyle/>
          <a:p>
            <a:pPr indent="0" marL="0">
              <a:buNone/>
            </a:pPr>
            <a:r>
              <a:rPr lang="en-US" sz="1300" b="1" dirty="0">
                <a:solidFill>
                  <a:srgbClr val="E76F51"/>
                </a:solidFill>
                <a:latin typeface="Calibri" pitchFamily="34" charset="0"/>
                <a:ea typeface="Calibri" pitchFamily="34" charset="-122"/>
                <a:cs typeface="Calibri" pitchFamily="34" charset="-120"/>
              </a:rPr>
              <a:t>Why this matters:</a:t>
            </a:r>
            <a:endParaRPr lang="en-US" sz="1300" dirty="0"/>
          </a:p>
        </p:txBody>
      </p:sp>
      <p:sp>
        <p:nvSpPr>
          <p:cNvPr id="26" name="Text 24"/>
          <p:cNvSpPr/>
          <p:nvPr/>
        </p:nvSpPr>
        <p:spPr>
          <a:xfrm>
            <a:off x="731520" y="5330952"/>
            <a:ext cx="10744200" cy="548640"/>
          </a:xfrm>
          <a:prstGeom prst="rect">
            <a:avLst/>
          </a:prstGeom>
          <a:noFill/>
          <a:ln/>
        </p:spPr>
        <p:txBody>
          <a:bodyPr wrap="square" lIns="0" tIns="0" rIns="0" bIns="0" rtlCol="0" anchor="ctr"/>
          <a:lstStyle/>
          <a:p>
            <a:pPr indent="0" marL="0">
              <a:buNone/>
            </a:pPr>
            <a:r>
              <a:rPr lang="en-US" sz="1250" dirty="0">
                <a:solidFill>
                  <a:srgbClr val="22303C"/>
                </a:solidFill>
                <a:latin typeface="Calibri" pitchFamily="34" charset="0"/>
                <a:ea typeface="Calibri" pitchFamily="34" charset="-122"/>
                <a:cs typeface="Calibri" pitchFamily="34" charset="-120"/>
              </a:rPr>
              <a:t>Because each session is its own OS process, memory corruption or a crash in one backend is contained — the postmaster detects the failure, cleans up shared memory, and restarts the server’s other backends safely.</a:t>
            </a:r>
            <a:endParaRPr lang="en-US" sz="1250" dirty="0"/>
          </a:p>
        </p:txBody>
      </p:sp>
      <p:sp>
        <p:nvSpPr>
          <p:cNvPr id="27" name="Text 25"/>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28" name="Text 26"/>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PROCESS ARCHITECTURE</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Background (Utility) Processes</a:t>
            </a:r>
            <a:endParaRPr lang="en-US" sz="3000" dirty="0"/>
          </a:p>
        </p:txBody>
      </p:sp>
      <p:sp>
        <p:nvSpPr>
          <p:cNvPr id="4" name="Text 2"/>
          <p:cNvSpPr/>
          <p:nvPr/>
        </p:nvSpPr>
        <p:spPr>
          <a:xfrm>
            <a:off x="457200" y="1298448"/>
            <a:ext cx="11247120" cy="54864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Alongside client backends, Postgres runs several permanent helper processes that keep data durable, storage clean, and statistics current — all without any application involvement.</a:t>
            </a:r>
            <a:endParaRPr lang="en-US" sz="1350" dirty="0"/>
          </a:p>
        </p:txBody>
      </p:sp>
      <p:sp>
        <p:nvSpPr>
          <p:cNvPr id="5" name="Shape 3"/>
          <p:cNvSpPr/>
          <p:nvPr/>
        </p:nvSpPr>
        <p:spPr>
          <a:xfrm>
            <a:off x="457200" y="2057400"/>
            <a:ext cx="5440680" cy="1234440"/>
          </a:xfrm>
          <a:prstGeom prst="roundRect">
            <a:avLst>
              <a:gd name="adj" fmla="val 5926"/>
            </a:avLst>
          </a:prstGeom>
          <a:solidFill>
            <a:srgbClr val="DCEBF7"/>
          </a:solidFill>
          <a:ln w="12700">
            <a:solidFill>
              <a:srgbClr val="AFCFE6"/>
            </a:solidFill>
            <a:prstDash val="solid"/>
          </a:ln>
        </p:spPr>
      </p:sp>
      <p:sp>
        <p:nvSpPr>
          <p:cNvPr id="6" name="Shape 4"/>
          <p:cNvSpPr/>
          <p:nvPr/>
        </p:nvSpPr>
        <p:spPr>
          <a:xfrm>
            <a:off x="685800" y="2400300"/>
            <a:ext cx="548640" cy="548640"/>
          </a:xfrm>
          <a:prstGeom prst="ellipse">
            <a:avLst/>
          </a:prstGeom>
          <a:solidFill>
            <a:srgbClr val="336791"/>
          </a:solidFill>
          <a:ln/>
        </p:spPr>
      </p:sp>
      <p:sp>
        <p:nvSpPr>
          <p:cNvPr id="7" name="Text 5"/>
          <p:cNvSpPr/>
          <p:nvPr/>
        </p:nvSpPr>
        <p:spPr>
          <a:xfrm>
            <a:off x="685800" y="240030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8" name="Text 6"/>
          <p:cNvSpPr/>
          <p:nvPr/>
        </p:nvSpPr>
        <p:spPr>
          <a:xfrm>
            <a:off x="1417320" y="2194560"/>
            <a:ext cx="4297680" cy="320040"/>
          </a:xfrm>
          <a:prstGeom prst="rect">
            <a:avLst/>
          </a:prstGeom>
          <a:noFill/>
          <a:ln/>
        </p:spPr>
        <p:txBody>
          <a:bodyPr wrap="square" lIns="0" tIns="0" rIns="0" bIns="0" rtlCol="0" anchor="ctr"/>
          <a:lstStyle/>
          <a:p>
            <a:pPr indent="0" marL="0">
              <a:buNone/>
            </a:pPr>
            <a:r>
              <a:rPr lang="en-US" sz="1450" b="1" dirty="0">
                <a:solidFill>
                  <a:srgbClr val="22303C"/>
                </a:solidFill>
                <a:latin typeface="Calibri" pitchFamily="34" charset="0"/>
                <a:ea typeface="Calibri" pitchFamily="34" charset="-122"/>
                <a:cs typeface="Calibri" pitchFamily="34" charset="-120"/>
              </a:rPr>
              <a:t>Checkpointer</a:t>
            </a:r>
            <a:endParaRPr lang="en-US" sz="1450" dirty="0"/>
          </a:p>
        </p:txBody>
      </p:sp>
      <p:sp>
        <p:nvSpPr>
          <p:cNvPr id="9" name="Text 7"/>
          <p:cNvSpPr/>
          <p:nvPr/>
        </p:nvSpPr>
        <p:spPr>
          <a:xfrm>
            <a:off x="1417320" y="2532888"/>
            <a:ext cx="42976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Periodically flushes dirty shared-buffer pages to disk, bounding crash-recovery time.</a:t>
            </a:r>
            <a:endParaRPr lang="en-US" sz="1150" dirty="0"/>
          </a:p>
        </p:txBody>
      </p:sp>
      <p:sp>
        <p:nvSpPr>
          <p:cNvPr id="10" name="Shape 8"/>
          <p:cNvSpPr/>
          <p:nvPr/>
        </p:nvSpPr>
        <p:spPr>
          <a:xfrm>
            <a:off x="6309360" y="2057400"/>
            <a:ext cx="5440680" cy="1234440"/>
          </a:xfrm>
          <a:prstGeom prst="roundRect">
            <a:avLst>
              <a:gd name="adj" fmla="val 5926"/>
            </a:avLst>
          </a:prstGeom>
          <a:solidFill>
            <a:srgbClr val="DCEBF7"/>
          </a:solidFill>
          <a:ln w="12700">
            <a:solidFill>
              <a:srgbClr val="AFCFE6"/>
            </a:solidFill>
            <a:prstDash val="solid"/>
          </a:ln>
        </p:spPr>
      </p:sp>
      <p:sp>
        <p:nvSpPr>
          <p:cNvPr id="11" name="Shape 9"/>
          <p:cNvSpPr/>
          <p:nvPr/>
        </p:nvSpPr>
        <p:spPr>
          <a:xfrm>
            <a:off x="6537960" y="2400300"/>
            <a:ext cx="548640" cy="548640"/>
          </a:xfrm>
          <a:prstGeom prst="ellipse">
            <a:avLst/>
          </a:prstGeom>
          <a:solidFill>
            <a:srgbClr val="336791"/>
          </a:solidFill>
          <a:ln/>
        </p:spPr>
      </p:sp>
      <p:sp>
        <p:nvSpPr>
          <p:cNvPr id="12" name="Text 10"/>
          <p:cNvSpPr/>
          <p:nvPr/>
        </p:nvSpPr>
        <p:spPr>
          <a:xfrm>
            <a:off x="6537960" y="240030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3" name="Text 11"/>
          <p:cNvSpPr/>
          <p:nvPr/>
        </p:nvSpPr>
        <p:spPr>
          <a:xfrm>
            <a:off x="7269480" y="2194560"/>
            <a:ext cx="4297680" cy="320040"/>
          </a:xfrm>
          <a:prstGeom prst="rect">
            <a:avLst/>
          </a:prstGeom>
          <a:noFill/>
          <a:ln/>
        </p:spPr>
        <p:txBody>
          <a:bodyPr wrap="square" lIns="0" tIns="0" rIns="0" bIns="0" rtlCol="0" anchor="ctr"/>
          <a:lstStyle/>
          <a:p>
            <a:pPr indent="0" marL="0">
              <a:buNone/>
            </a:pPr>
            <a:r>
              <a:rPr lang="en-US" sz="1450" b="1" dirty="0">
                <a:solidFill>
                  <a:srgbClr val="22303C"/>
                </a:solidFill>
                <a:latin typeface="Calibri" pitchFamily="34" charset="0"/>
                <a:ea typeface="Calibri" pitchFamily="34" charset="-122"/>
                <a:cs typeface="Calibri" pitchFamily="34" charset="-120"/>
              </a:rPr>
              <a:t>Background Writer</a:t>
            </a:r>
            <a:endParaRPr lang="en-US" sz="1450" dirty="0"/>
          </a:p>
        </p:txBody>
      </p:sp>
      <p:sp>
        <p:nvSpPr>
          <p:cNvPr id="14" name="Text 12"/>
          <p:cNvSpPr/>
          <p:nvPr/>
        </p:nvSpPr>
        <p:spPr>
          <a:xfrm>
            <a:off x="7269480" y="2532888"/>
            <a:ext cx="42976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Writes dirty buffers to disk incrementally between checkpoints to smooth I/O spikes.</a:t>
            </a:r>
            <a:endParaRPr lang="en-US" sz="1150" dirty="0"/>
          </a:p>
        </p:txBody>
      </p:sp>
      <p:sp>
        <p:nvSpPr>
          <p:cNvPr id="15" name="Shape 13"/>
          <p:cNvSpPr/>
          <p:nvPr/>
        </p:nvSpPr>
        <p:spPr>
          <a:xfrm>
            <a:off x="457200" y="3566160"/>
            <a:ext cx="5440680" cy="1234440"/>
          </a:xfrm>
          <a:prstGeom prst="roundRect">
            <a:avLst>
              <a:gd name="adj" fmla="val 5926"/>
            </a:avLst>
          </a:prstGeom>
          <a:solidFill>
            <a:srgbClr val="DCEBF7"/>
          </a:solidFill>
          <a:ln w="12700">
            <a:solidFill>
              <a:srgbClr val="AFCFE6"/>
            </a:solidFill>
            <a:prstDash val="solid"/>
          </a:ln>
        </p:spPr>
      </p:sp>
      <p:sp>
        <p:nvSpPr>
          <p:cNvPr id="16" name="Shape 14"/>
          <p:cNvSpPr/>
          <p:nvPr/>
        </p:nvSpPr>
        <p:spPr>
          <a:xfrm>
            <a:off x="685800" y="3909060"/>
            <a:ext cx="548640" cy="548640"/>
          </a:xfrm>
          <a:prstGeom prst="ellipse">
            <a:avLst/>
          </a:prstGeom>
          <a:solidFill>
            <a:srgbClr val="336791"/>
          </a:solidFill>
          <a:ln/>
        </p:spPr>
      </p:sp>
      <p:sp>
        <p:nvSpPr>
          <p:cNvPr id="17" name="Text 15"/>
          <p:cNvSpPr/>
          <p:nvPr/>
        </p:nvSpPr>
        <p:spPr>
          <a:xfrm>
            <a:off x="685800" y="39090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8" name="Text 16"/>
          <p:cNvSpPr/>
          <p:nvPr/>
        </p:nvSpPr>
        <p:spPr>
          <a:xfrm>
            <a:off x="1417320" y="3703320"/>
            <a:ext cx="4297680" cy="320040"/>
          </a:xfrm>
          <a:prstGeom prst="rect">
            <a:avLst/>
          </a:prstGeom>
          <a:noFill/>
          <a:ln/>
        </p:spPr>
        <p:txBody>
          <a:bodyPr wrap="square" lIns="0" tIns="0" rIns="0" bIns="0" rtlCol="0" anchor="ctr"/>
          <a:lstStyle/>
          <a:p>
            <a:pPr indent="0" marL="0">
              <a:buNone/>
            </a:pPr>
            <a:r>
              <a:rPr lang="en-US" sz="1450" b="1" dirty="0">
                <a:solidFill>
                  <a:srgbClr val="22303C"/>
                </a:solidFill>
                <a:latin typeface="Calibri" pitchFamily="34" charset="0"/>
                <a:ea typeface="Calibri" pitchFamily="34" charset="-122"/>
                <a:cs typeface="Calibri" pitchFamily="34" charset="-120"/>
              </a:rPr>
              <a:t>WAL Writer</a:t>
            </a:r>
            <a:endParaRPr lang="en-US" sz="1450" dirty="0"/>
          </a:p>
        </p:txBody>
      </p:sp>
      <p:sp>
        <p:nvSpPr>
          <p:cNvPr id="19" name="Text 17"/>
          <p:cNvSpPr/>
          <p:nvPr/>
        </p:nvSpPr>
        <p:spPr>
          <a:xfrm>
            <a:off x="1417320" y="4041648"/>
            <a:ext cx="42976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Flushes Write-Ahead Log buffers to disk on a regular schedule.</a:t>
            </a:r>
            <a:endParaRPr lang="en-US" sz="1150" dirty="0"/>
          </a:p>
        </p:txBody>
      </p:sp>
      <p:sp>
        <p:nvSpPr>
          <p:cNvPr id="20" name="Shape 18"/>
          <p:cNvSpPr/>
          <p:nvPr/>
        </p:nvSpPr>
        <p:spPr>
          <a:xfrm>
            <a:off x="6309360" y="3566160"/>
            <a:ext cx="5440680" cy="1234440"/>
          </a:xfrm>
          <a:prstGeom prst="roundRect">
            <a:avLst>
              <a:gd name="adj" fmla="val 5926"/>
            </a:avLst>
          </a:prstGeom>
          <a:solidFill>
            <a:srgbClr val="DCEBF7"/>
          </a:solidFill>
          <a:ln w="12700">
            <a:solidFill>
              <a:srgbClr val="AFCFE6"/>
            </a:solidFill>
            <a:prstDash val="solid"/>
          </a:ln>
        </p:spPr>
      </p:sp>
      <p:sp>
        <p:nvSpPr>
          <p:cNvPr id="21" name="Shape 19"/>
          <p:cNvSpPr/>
          <p:nvPr/>
        </p:nvSpPr>
        <p:spPr>
          <a:xfrm>
            <a:off x="6537960" y="3909060"/>
            <a:ext cx="548640" cy="548640"/>
          </a:xfrm>
          <a:prstGeom prst="ellipse">
            <a:avLst/>
          </a:prstGeom>
          <a:solidFill>
            <a:srgbClr val="336791"/>
          </a:solidFill>
          <a:ln/>
        </p:spPr>
      </p:sp>
      <p:sp>
        <p:nvSpPr>
          <p:cNvPr id="22" name="Text 20"/>
          <p:cNvSpPr/>
          <p:nvPr/>
        </p:nvSpPr>
        <p:spPr>
          <a:xfrm>
            <a:off x="6537960" y="390906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3" name="Text 21"/>
          <p:cNvSpPr/>
          <p:nvPr/>
        </p:nvSpPr>
        <p:spPr>
          <a:xfrm>
            <a:off x="7269480" y="3703320"/>
            <a:ext cx="4297680" cy="320040"/>
          </a:xfrm>
          <a:prstGeom prst="rect">
            <a:avLst/>
          </a:prstGeom>
          <a:noFill/>
          <a:ln/>
        </p:spPr>
        <p:txBody>
          <a:bodyPr wrap="square" lIns="0" tIns="0" rIns="0" bIns="0" rtlCol="0" anchor="ctr"/>
          <a:lstStyle/>
          <a:p>
            <a:pPr indent="0" marL="0">
              <a:buNone/>
            </a:pPr>
            <a:r>
              <a:rPr lang="en-US" sz="1450" b="1" dirty="0">
                <a:solidFill>
                  <a:srgbClr val="22303C"/>
                </a:solidFill>
                <a:latin typeface="Calibri" pitchFamily="34" charset="0"/>
                <a:ea typeface="Calibri" pitchFamily="34" charset="-122"/>
                <a:cs typeface="Calibri" pitchFamily="34" charset="-120"/>
              </a:rPr>
              <a:t>Autovacuum Launcher</a:t>
            </a:r>
            <a:endParaRPr lang="en-US" sz="1450" dirty="0"/>
          </a:p>
        </p:txBody>
      </p:sp>
      <p:sp>
        <p:nvSpPr>
          <p:cNvPr id="24" name="Text 22"/>
          <p:cNvSpPr/>
          <p:nvPr/>
        </p:nvSpPr>
        <p:spPr>
          <a:xfrm>
            <a:off x="7269480" y="4041648"/>
            <a:ext cx="42976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Starts worker processes that reclaim dead rows and refresh planner statistics.</a:t>
            </a:r>
            <a:endParaRPr lang="en-US" sz="1150" dirty="0"/>
          </a:p>
        </p:txBody>
      </p:sp>
      <p:sp>
        <p:nvSpPr>
          <p:cNvPr id="25" name="Shape 23"/>
          <p:cNvSpPr/>
          <p:nvPr/>
        </p:nvSpPr>
        <p:spPr>
          <a:xfrm>
            <a:off x="457200" y="5074920"/>
            <a:ext cx="5440680" cy="1234440"/>
          </a:xfrm>
          <a:prstGeom prst="roundRect">
            <a:avLst>
              <a:gd name="adj" fmla="val 5926"/>
            </a:avLst>
          </a:prstGeom>
          <a:solidFill>
            <a:srgbClr val="DCEBF7"/>
          </a:solidFill>
          <a:ln w="12700">
            <a:solidFill>
              <a:srgbClr val="AFCFE6"/>
            </a:solidFill>
            <a:prstDash val="solid"/>
          </a:ln>
        </p:spPr>
      </p:sp>
      <p:sp>
        <p:nvSpPr>
          <p:cNvPr id="26" name="Shape 24"/>
          <p:cNvSpPr/>
          <p:nvPr/>
        </p:nvSpPr>
        <p:spPr>
          <a:xfrm>
            <a:off x="685800" y="5417820"/>
            <a:ext cx="548640" cy="548640"/>
          </a:xfrm>
          <a:prstGeom prst="ellipse">
            <a:avLst/>
          </a:prstGeom>
          <a:solidFill>
            <a:srgbClr val="336791"/>
          </a:solidFill>
          <a:ln/>
        </p:spPr>
      </p:sp>
      <p:sp>
        <p:nvSpPr>
          <p:cNvPr id="27" name="Text 25"/>
          <p:cNvSpPr/>
          <p:nvPr/>
        </p:nvSpPr>
        <p:spPr>
          <a:xfrm>
            <a:off x="685800" y="541782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5</a:t>
            </a:r>
            <a:endParaRPr lang="en-US" sz="1320" dirty="0"/>
          </a:p>
        </p:txBody>
      </p:sp>
      <p:sp>
        <p:nvSpPr>
          <p:cNvPr id="28" name="Text 26"/>
          <p:cNvSpPr/>
          <p:nvPr/>
        </p:nvSpPr>
        <p:spPr>
          <a:xfrm>
            <a:off x="1417320" y="5212080"/>
            <a:ext cx="4297680" cy="320040"/>
          </a:xfrm>
          <a:prstGeom prst="rect">
            <a:avLst/>
          </a:prstGeom>
          <a:noFill/>
          <a:ln/>
        </p:spPr>
        <p:txBody>
          <a:bodyPr wrap="square" lIns="0" tIns="0" rIns="0" bIns="0" rtlCol="0" anchor="ctr"/>
          <a:lstStyle/>
          <a:p>
            <a:pPr indent="0" marL="0">
              <a:buNone/>
            </a:pPr>
            <a:r>
              <a:rPr lang="en-US" sz="1450" b="1" dirty="0">
                <a:solidFill>
                  <a:srgbClr val="22303C"/>
                </a:solidFill>
                <a:latin typeface="Calibri" pitchFamily="34" charset="0"/>
                <a:ea typeface="Calibri" pitchFamily="34" charset="-122"/>
                <a:cs typeface="Calibri" pitchFamily="34" charset="-120"/>
              </a:rPr>
              <a:t>Stats Collector</a:t>
            </a:r>
            <a:endParaRPr lang="en-US" sz="1450" dirty="0"/>
          </a:p>
        </p:txBody>
      </p:sp>
      <p:sp>
        <p:nvSpPr>
          <p:cNvPr id="29" name="Text 27"/>
          <p:cNvSpPr/>
          <p:nvPr/>
        </p:nvSpPr>
        <p:spPr>
          <a:xfrm>
            <a:off x="1417320" y="5550408"/>
            <a:ext cx="42976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Tracks table and index usage statistics used for monitoring and planning.</a:t>
            </a:r>
            <a:endParaRPr lang="en-US" sz="1150" dirty="0"/>
          </a:p>
        </p:txBody>
      </p:sp>
      <p:sp>
        <p:nvSpPr>
          <p:cNvPr id="30" name="Shape 28"/>
          <p:cNvSpPr/>
          <p:nvPr/>
        </p:nvSpPr>
        <p:spPr>
          <a:xfrm>
            <a:off x="6309360" y="5074920"/>
            <a:ext cx="5440680" cy="1234440"/>
          </a:xfrm>
          <a:prstGeom prst="roundRect">
            <a:avLst>
              <a:gd name="adj" fmla="val 5926"/>
            </a:avLst>
          </a:prstGeom>
          <a:solidFill>
            <a:srgbClr val="DCEBF7"/>
          </a:solidFill>
          <a:ln w="12700">
            <a:solidFill>
              <a:srgbClr val="AFCFE6"/>
            </a:solidFill>
            <a:prstDash val="solid"/>
          </a:ln>
        </p:spPr>
      </p:sp>
      <p:sp>
        <p:nvSpPr>
          <p:cNvPr id="31" name="Shape 29"/>
          <p:cNvSpPr/>
          <p:nvPr/>
        </p:nvSpPr>
        <p:spPr>
          <a:xfrm>
            <a:off x="6537960" y="5417820"/>
            <a:ext cx="548640" cy="548640"/>
          </a:xfrm>
          <a:prstGeom prst="ellipse">
            <a:avLst/>
          </a:prstGeom>
          <a:solidFill>
            <a:srgbClr val="336791"/>
          </a:solidFill>
          <a:ln/>
        </p:spPr>
      </p:sp>
      <p:sp>
        <p:nvSpPr>
          <p:cNvPr id="32" name="Text 30"/>
          <p:cNvSpPr/>
          <p:nvPr/>
        </p:nvSpPr>
        <p:spPr>
          <a:xfrm>
            <a:off x="6537960" y="541782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6</a:t>
            </a:r>
            <a:endParaRPr lang="en-US" sz="1320" dirty="0"/>
          </a:p>
        </p:txBody>
      </p:sp>
      <p:sp>
        <p:nvSpPr>
          <p:cNvPr id="33" name="Text 31"/>
          <p:cNvSpPr/>
          <p:nvPr/>
        </p:nvSpPr>
        <p:spPr>
          <a:xfrm>
            <a:off x="7269480" y="5212080"/>
            <a:ext cx="4297680" cy="320040"/>
          </a:xfrm>
          <a:prstGeom prst="rect">
            <a:avLst/>
          </a:prstGeom>
          <a:noFill/>
          <a:ln/>
        </p:spPr>
        <p:txBody>
          <a:bodyPr wrap="square" lIns="0" tIns="0" rIns="0" bIns="0" rtlCol="0" anchor="ctr"/>
          <a:lstStyle/>
          <a:p>
            <a:pPr indent="0" marL="0">
              <a:buNone/>
            </a:pPr>
            <a:r>
              <a:rPr lang="en-US" sz="1450" b="1" dirty="0">
                <a:solidFill>
                  <a:srgbClr val="22303C"/>
                </a:solidFill>
                <a:latin typeface="Calibri" pitchFamily="34" charset="0"/>
                <a:ea typeface="Calibri" pitchFamily="34" charset="-122"/>
                <a:cs typeface="Calibri" pitchFamily="34" charset="-120"/>
              </a:rPr>
              <a:t>Archiver</a:t>
            </a:r>
            <a:endParaRPr lang="en-US" sz="1450" dirty="0"/>
          </a:p>
        </p:txBody>
      </p:sp>
      <p:sp>
        <p:nvSpPr>
          <p:cNvPr id="34" name="Text 32"/>
          <p:cNvSpPr/>
          <p:nvPr/>
        </p:nvSpPr>
        <p:spPr>
          <a:xfrm>
            <a:off x="7269480" y="5550408"/>
            <a:ext cx="42976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Copies completed WAL segments to archive storage when WAL archiving is enabled.</a:t>
            </a:r>
            <a:endParaRPr lang="en-US" sz="1150" dirty="0"/>
          </a:p>
        </p:txBody>
      </p:sp>
      <p:sp>
        <p:nvSpPr>
          <p:cNvPr id="35" name="Text 33"/>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36" name="Text 34"/>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MEMORY ARCHITECTURE</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Shared Memory vs. Local Memory</a:t>
            </a:r>
            <a:endParaRPr lang="en-US" sz="3000" dirty="0"/>
          </a:p>
        </p:txBody>
      </p:sp>
      <p:sp>
        <p:nvSpPr>
          <p:cNvPr id="4" name="Text 2"/>
          <p:cNvSpPr/>
          <p:nvPr/>
        </p:nvSpPr>
        <p:spPr>
          <a:xfrm>
            <a:off x="457200" y="1298448"/>
            <a:ext cx="11247120" cy="68580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Postgres memory splits into two regions: one shared memory segment allocated at startup and visible to every process, and separate local memory that each backend allocates privately for its own query work.</a:t>
            </a:r>
            <a:endParaRPr lang="en-US" sz="1350" dirty="0"/>
          </a:p>
        </p:txBody>
      </p:sp>
      <p:sp>
        <p:nvSpPr>
          <p:cNvPr id="5" name="Shape 3"/>
          <p:cNvSpPr/>
          <p:nvPr/>
        </p:nvSpPr>
        <p:spPr>
          <a:xfrm>
            <a:off x="457200" y="2331720"/>
            <a:ext cx="11292840" cy="1600200"/>
          </a:xfrm>
          <a:prstGeom prst="roundRect">
            <a:avLst>
              <a:gd name="adj" fmla="val 5714"/>
            </a:avLst>
          </a:prstGeom>
          <a:solidFill>
            <a:srgbClr val="336791"/>
          </a:solidFill>
          <a:ln/>
        </p:spPr>
      </p:sp>
      <p:sp>
        <p:nvSpPr>
          <p:cNvPr id="6" name="Text 4"/>
          <p:cNvSpPr/>
          <p:nvPr/>
        </p:nvSpPr>
        <p:spPr>
          <a:xfrm>
            <a:off x="685800" y="2450592"/>
            <a:ext cx="10881360" cy="320040"/>
          </a:xfrm>
          <a:prstGeom prst="rect">
            <a:avLst/>
          </a:prstGeom>
          <a:noFill/>
          <a:ln/>
        </p:spPr>
        <p:txBody>
          <a:bodyPr wrap="square" lIns="0" tIns="0" rIns="0" bIns="0" rtlCol="0" anchor="ctr"/>
          <a:lstStyle/>
          <a:p>
            <a:pPr indent="0" marL="0">
              <a:buNone/>
            </a:pPr>
            <a:r>
              <a:rPr lang="en-US" sz="1250" b="1" spc="50" kern="0" dirty="0">
                <a:solidFill>
                  <a:srgbClr val="FFFFFF"/>
                </a:solidFill>
                <a:latin typeface="Calibri" pitchFamily="34" charset="0"/>
                <a:ea typeface="Calibri" pitchFamily="34" charset="-122"/>
                <a:cs typeface="Calibri" pitchFamily="34" charset="-120"/>
              </a:rPr>
              <a:t>SHARED MEMORY  ·  allocated once at server startup, visible to every process</a:t>
            </a:r>
            <a:endParaRPr lang="en-US" sz="1250" dirty="0"/>
          </a:p>
        </p:txBody>
      </p:sp>
      <p:sp>
        <p:nvSpPr>
          <p:cNvPr id="7" name="Shape 5"/>
          <p:cNvSpPr/>
          <p:nvPr/>
        </p:nvSpPr>
        <p:spPr>
          <a:xfrm>
            <a:off x="777240" y="2926080"/>
            <a:ext cx="2468880" cy="822960"/>
          </a:xfrm>
          <a:prstGeom prst="roundRect">
            <a:avLst>
              <a:gd name="adj" fmla="val 8889"/>
            </a:avLst>
          </a:prstGeom>
          <a:solidFill>
            <a:srgbClr val="2A5A82"/>
          </a:solidFill>
          <a:ln/>
        </p:spPr>
      </p:sp>
      <p:sp>
        <p:nvSpPr>
          <p:cNvPr id="8" name="Text 6"/>
          <p:cNvSpPr/>
          <p:nvPr/>
        </p:nvSpPr>
        <p:spPr>
          <a:xfrm>
            <a:off x="777240" y="2926080"/>
            <a:ext cx="246888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Shared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Buffers</a:t>
            </a:r>
            <a:endParaRPr lang="en-US" sz="1300" dirty="0"/>
          </a:p>
        </p:txBody>
      </p:sp>
      <p:sp>
        <p:nvSpPr>
          <p:cNvPr id="9" name="Shape 7"/>
          <p:cNvSpPr/>
          <p:nvPr/>
        </p:nvSpPr>
        <p:spPr>
          <a:xfrm>
            <a:off x="3502152" y="2926080"/>
            <a:ext cx="2468880" cy="822960"/>
          </a:xfrm>
          <a:prstGeom prst="roundRect">
            <a:avLst>
              <a:gd name="adj" fmla="val 8889"/>
            </a:avLst>
          </a:prstGeom>
          <a:solidFill>
            <a:srgbClr val="2A5A82"/>
          </a:solidFill>
          <a:ln/>
        </p:spPr>
      </p:sp>
      <p:sp>
        <p:nvSpPr>
          <p:cNvPr id="10" name="Text 8"/>
          <p:cNvSpPr/>
          <p:nvPr/>
        </p:nvSpPr>
        <p:spPr>
          <a:xfrm>
            <a:off x="3502152" y="2926080"/>
            <a:ext cx="246888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Buffers</a:t>
            </a:r>
            <a:endParaRPr lang="en-US" sz="1300" dirty="0"/>
          </a:p>
        </p:txBody>
      </p:sp>
      <p:sp>
        <p:nvSpPr>
          <p:cNvPr id="11" name="Shape 9"/>
          <p:cNvSpPr/>
          <p:nvPr/>
        </p:nvSpPr>
        <p:spPr>
          <a:xfrm>
            <a:off x="6227064" y="2926080"/>
            <a:ext cx="2468880" cy="822960"/>
          </a:xfrm>
          <a:prstGeom prst="roundRect">
            <a:avLst>
              <a:gd name="adj" fmla="val 8889"/>
            </a:avLst>
          </a:prstGeom>
          <a:solidFill>
            <a:srgbClr val="2A5A82"/>
          </a:solidFill>
          <a:ln/>
        </p:spPr>
      </p:sp>
      <p:sp>
        <p:nvSpPr>
          <p:cNvPr id="12" name="Text 10"/>
          <p:cNvSpPr/>
          <p:nvPr/>
        </p:nvSpPr>
        <p:spPr>
          <a:xfrm>
            <a:off x="6227064" y="2926080"/>
            <a:ext cx="246888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CLOG</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Buffers</a:t>
            </a:r>
            <a:endParaRPr lang="en-US" sz="1300" dirty="0"/>
          </a:p>
        </p:txBody>
      </p:sp>
      <p:sp>
        <p:nvSpPr>
          <p:cNvPr id="13" name="Shape 11"/>
          <p:cNvSpPr/>
          <p:nvPr/>
        </p:nvSpPr>
        <p:spPr>
          <a:xfrm>
            <a:off x="8951976" y="2926080"/>
            <a:ext cx="2468880" cy="822960"/>
          </a:xfrm>
          <a:prstGeom prst="roundRect">
            <a:avLst>
              <a:gd name="adj" fmla="val 8889"/>
            </a:avLst>
          </a:prstGeom>
          <a:solidFill>
            <a:srgbClr val="2A5A82"/>
          </a:solidFill>
          <a:ln/>
        </p:spPr>
      </p:sp>
      <p:sp>
        <p:nvSpPr>
          <p:cNvPr id="14" name="Text 12"/>
          <p:cNvSpPr/>
          <p:nvPr/>
        </p:nvSpPr>
        <p:spPr>
          <a:xfrm>
            <a:off x="8951976" y="2926080"/>
            <a:ext cx="246888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Lock</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Table</a:t>
            </a:r>
            <a:endParaRPr lang="en-US" sz="1300" dirty="0"/>
          </a:p>
        </p:txBody>
      </p:sp>
      <p:sp>
        <p:nvSpPr>
          <p:cNvPr id="15" name="Shape 13"/>
          <p:cNvSpPr/>
          <p:nvPr/>
        </p:nvSpPr>
        <p:spPr>
          <a:xfrm>
            <a:off x="457200" y="4434840"/>
            <a:ext cx="3520440" cy="1783080"/>
          </a:xfrm>
          <a:prstGeom prst="roundRect">
            <a:avLst>
              <a:gd name="adj" fmla="val 4103"/>
            </a:avLst>
          </a:prstGeom>
          <a:solidFill>
            <a:srgbClr val="DCEBF7"/>
          </a:solidFill>
          <a:ln w="12700">
            <a:solidFill>
              <a:srgbClr val="AFCFE6"/>
            </a:solidFill>
            <a:prstDash val="solid"/>
          </a:ln>
        </p:spPr>
      </p:sp>
      <p:sp>
        <p:nvSpPr>
          <p:cNvPr id="16" name="Text 14"/>
          <p:cNvSpPr/>
          <p:nvPr/>
        </p:nvSpPr>
        <p:spPr>
          <a:xfrm>
            <a:off x="640080" y="4544568"/>
            <a:ext cx="315468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Backend A</a:t>
            </a:r>
            <a:endParaRPr lang="en-US" sz="1350" dirty="0"/>
          </a:p>
        </p:txBody>
      </p:sp>
      <p:sp>
        <p:nvSpPr>
          <p:cNvPr id="17" name="Text 15"/>
          <p:cNvSpPr/>
          <p:nvPr/>
        </p:nvSpPr>
        <p:spPr>
          <a:xfrm>
            <a:off x="640080" y="4873752"/>
            <a:ext cx="3154680" cy="274320"/>
          </a:xfrm>
          <a:prstGeom prst="rect">
            <a:avLst/>
          </a:prstGeom>
          <a:noFill/>
          <a:ln/>
        </p:spPr>
        <p:txBody>
          <a:bodyPr wrap="square" lIns="0" tIns="0" rIns="0" bIns="0" rtlCol="0" anchor="ctr"/>
          <a:lstStyle/>
          <a:p>
            <a:pPr indent="0" marL="0">
              <a:buNone/>
            </a:pPr>
            <a:r>
              <a:rPr lang="en-US" sz="1100" i="1" dirty="0">
                <a:solidFill>
                  <a:srgbClr val="E76F51"/>
                </a:solidFill>
                <a:latin typeface="Calibri" pitchFamily="34" charset="0"/>
                <a:ea typeface="Calibri" pitchFamily="34" charset="-122"/>
                <a:cs typeface="Calibri" pitchFamily="34" charset="-120"/>
              </a:rPr>
              <a:t>Local memory</a:t>
            </a:r>
            <a:endParaRPr lang="en-US" sz="1100" dirty="0"/>
          </a:p>
        </p:txBody>
      </p:sp>
      <p:sp>
        <p:nvSpPr>
          <p:cNvPr id="18" name="Text 16"/>
          <p:cNvSpPr/>
          <p:nvPr/>
        </p:nvSpPr>
        <p:spPr>
          <a:xfrm>
            <a:off x="777240" y="518464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work_mem</a:t>
            </a:r>
            <a:endParaRPr lang="en-US" sz="1100" dirty="0"/>
          </a:p>
        </p:txBody>
      </p:sp>
      <p:sp>
        <p:nvSpPr>
          <p:cNvPr id="19" name="Text 17"/>
          <p:cNvSpPr/>
          <p:nvPr/>
        </p:nvSpPr>
        <p:spPr>
          <a:xfrm>
            <a:off x="777240" y="550468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temp_buffers</a:t>
            </a:r>
            <a:endParaRPr lang="en-US" sz="1100" dirty="0"/>
          </a:p>
        </p:txBody>
      </p:sp>
      <p:sp>
        <p:nvSpPr>
          <p:cNvPr id="20" name="Text 18"/>
          <p:cNvSpPr/>
          <p:nvPr/>
        </p:nvSpPr>
        <p:spPr>
          <a:xfrm>
            <a:off x="777240" y="582472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catalog cache</a:t>
            </a:r>
            <a:endParaRPr lang="en-US" sz="1100" dirty="0"/>
          </a:p>
        </p:txBody>
      </p:sp>
      <p:sp>
        <p:nvSpPr>
          <p:cNvPr id="21" name="Shape 19"/>
          <p:cNvSpPr/>
          <p:nvPr/>
        </p:nvSpPr>
        <p:spPr>
          <a:xfrm flipV="1">
            <a:off x="2217420" y="3931920"/>
            <a:ext cx="914" cy="502920"/>
          </a:xfrm>
          <a:prstGeom prst="line">
            <a:avLst/>
          </a:prstGeom>
          <a:noFill/>
          <a:ln w="19050">
            <a:solidFill>
              <a:srgbClr val="AFCFE6"/>
            </a:solidFill>
            <a:prstDash val="solid"/>
            <a:tailEnd type="triangle"/>
          </a:ln>
        </p:spPr>
      </p:sp>
      <p:sp>
        <p:nvSpPr>
          <p:cNvPr id="22" name="Shape 20"/>
          <p:cNvSpPr/>
          <p:nvPr/>
        </p:nvSpPr>
        <p:spPr>
          <a:xfrm>
            <a:off x="4343400" y="4434840"/>
            <a:ext cx="3520440" cy="1783080"/>
          </a:xfrm>
          <a:prstGeom prst="roundRect">
            <a:avLst>
              <a:gd name="adj" fmla="val 4103"/>
            </a:avLst>
          </a:prstGeom>
          <a:solidFill>
            <a:srgbClr val="DCEBF7"/>
          </a:solidFill>
          <a:ln w="12700">
            <a:solidFill>
              <a:srgbClr val="AFCFE6"/>
            </a:solidFill>
            <a:prstDash val="solid"/>
          </a:ln>
        </p:spPr>
      </p:sp>
      <p:sp>
        <p:nvSpPr>
          <p:cNvPr id="23" name="Text 21"/>
          <p:cNvSpPr/>
          <p:nvPr/>
        </p:nvSpPr>
        <p:spPr>
          <a:xfrm>
            <a:off x="4526280" y="4544568"/>
            <a:ext cx="315468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Backend B</a:t>
            </a:r>
            <a:endParaRPr lang="en-US" sz="1350" dirty="0"/>
          </a:p>
        </p:txBody>
      </p:sp>
      <p:sp>
        <p:nvSpPr>
          <p:cNvPr id="24" name="Text 22"/>
          <p:cNvSpPr/>
          <p:nvPr/>
        </p:nvSpPr>
        <p:spPr>
          <a:xfrm>
            <a:off x="4526280" y="4873752"/>
            <a:ext cx="3154680" cy="274320"/>
          </a:xfrm>
          <a:prstGeom prst="rect">
            <a:avLst/>
          </a:prstGeom>
          <a:noFill/>
          <a:ln/>
        </p:spPr>
        <p:txBody>
          <a:bodyPr wrap="square" lIns="0" tIns="0" rIns="0" bIns="0" rtlCol="0" anchor="ctr"/>
          <a:lstStyle/>
          <a:p>
            <a:pPr indent="0" marL="0">
              <a:buNone/>
            </a:pPr>
            <a:r>
              <a:rPr lang="en-US" sz="1100" i="1" dirty="0">
                <a:solidFill>
                  <a:srgbClr val="E76F51"/>
                </a:solidFill>
                <a:latin typeface="Calibri" pitchFamily="34" charset="0"/>
                <a:ea typeface="Calibri" pitchFamily="34" charset="-122"/>
                <a:cs typeface="Calibri" pitchFamily="34" charset="-120"/>
              </a:rPr>
              <a:t>Local memory</a:t>
            </a:r>
            <a:endParaRPr lang="en-US" sz="1100" dirty="0"/>
          </a:p>
        </p:txBody>
      </p:sp>
      <p:sp>
        <p:nvSpPr>
          <p:cNvPr id="25" name="Text 23"/>
          <p:cNvSpPr/>
          <p:nvPr/>
        </p:nvSpPr>
        <p:spPr>
          <a:xfrm>
            <a:off x="4663440" y="518464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work_mem</a:t>
            </a:r>
            <a:endParaRPr lang="en-US" sz="1100" dirty="0"/>
          </a:p>
        </p:txBody>
      </p:sp>
      <p:sp>
        <p:nvSpPr>
          <p:cNvPr id="26" name="Text 24"/>
          <p:cNvSpPr/>
          <p:nvPr/>
        </p:nvSpPr>
        <p:spPr>
          <a:xfrm>
            <a:off x="4663440" y="550468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temp_buffers</a:t>
            </a:r>
            <a:endParaRPr lang="en-US" sz="1100" dirty="0"/>
          </a:p>
        </p:txBody>
      </p:sp>
      <p:sp>
        <p:nvSpPr>
          <p:cNvPr id="27" name="Text 25"/>
          <p:cNvSpPr/>
          <p:nvPr/>
        </p:nvSpPr>
        <p:spPr>
          <a:xfrm>
            <a:off x="4663440" y="582472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catalog cache</a:t>
            </a:r>
            <a:endParaRPr lang="en-US" sz="1100" dirty="0"/>
          </a:p>
        </p:txBody>
      </p:sp>
      <p:sp>
        <p:nvSpPr>
          <p:cNvPr id="28" name="Shape 26"/>
          <p:cNvSpPr/>
          <p:nvPr/>
        </p:nvSpPr>
        <p:spPr>
          <a:xfrm flipV="1">
            <a:off x="6103620" y="3931920"/>
            <a:ext cx="914" cy="502920"/>
          </a:xfrm>
          <a:prstGeom prst="line">
            <a:avLst/>
          </a:prstGeom>
          <a:noFill/>
          <a:ln w="19050">
            <a:solidFill>
              <a:srgbClr val="AFCFE6"/>
            </a:solidFill>
            <a:prstDash val="solid"/>
            <a:tailEnd type="triangle"/>
          </a:ln>
        </p:spPr>
      </p:sp>
      <p:sp>
        <p:nvSpPr>
          <p:cNvPr id="29" name="Shape 27"/>
          <p:cNvSpPr/>
          <p:nvPr/>
        </p:nvSpPr>
        <p:spPr>
          <a:xfrm>
            <a:off x="8229600" y="4434840"/>
            <a:ext cx="3520440" cy="1783080"/>
          </a:xfrm>
          <a:prstGeom prst="roundRect">
            <a:avLst>
              <a:gd name="adj" fmla="val 4103"/>
            </a:avLst>
          </a:prstGeom>
          <a:solidFill>
            <a:srgbClr val="DCEBF7"/>
          </a:solidFill>
          <a:ln w="12700">
            <a:solidFill>
              <a:srgbClr val="AFCFE6"/>
            </a:solidFill>
            <a:prstDash val="solid"/>
          </a:ln>
        </p:spPr>
      </p:sp>
      <p:sp>
        <p:nvSpPr>
          <p:cNvPr id="30" name="Text 28"/>
          <p:cNvSpPr/>
          <p:nvPr/>
        </p:nvSpPr>
        <p:spPr>
          <a:xfrm>
            <a:off x="8412480" y="4544568"/>
            <a:ext cx="3154680" cy="320040"/>
          </a:xfrm>
          <a:prstGeom prst="rect">
            <a:avLst/>
          </a:prstGeom>
          <a:noFill/>
          <a:ln/>
        </p:spPr>
        <p:txBody>
          <a:bodyPr wrap="square" lIns="0" tIns="0" rIns="0" bIns="0" rtlCol="0" anchor="ctr"/>
          <a:lstStyle/>
          <a:p>
            <a:pPr indent="0" marL="0">
              <a:buNone/>
            </a:pPr>
            <a:r>
              <a:rPr lang="en-US" sz="1350" b="1" dirty="0">
                <a:solidFill>
                  <a:srgbClr val="22303C"/>
                </a:solidFill>
                <a:latin typeface="Calibri" pitchFamily="34" charset="0"/>
                <a:ea typeface="Calibri" pitchFamily="34" charset="-122"/>
                <a:cs typeface="Calibri" pitchFamily="34" charset="-120"/>
              </a:rPr>
              <a:t>Backend C</a:t>
            </a:r>
            <a:endParaRPr lang="en-US" sz="1350" dirty="0"/>
          </a:p>
        </p:txBody>
      </p:sp>
      <p:sp>
        <p:nvSpPr>
          <p:cNvPr id="31" name="Text 29"/>
          <p:cNvSpPr/>
          <p:nvPr/>
        </p:nvSpPr>
        <p:spPr>
          <a:xfrm>
            <a:off x="8412480" y="4873752"/>
            <a:ext cx="3154680" cy="274320"/>
          </a:xfrm>
          <a:prstGeom prst="rect">
            <a:avLst/>
          </a:prstGeom>
          <a:noFill/>
          <a:ln/>
        </p:spPr>
        <p:txBody>
          <a:bodyPr wrap="square" lIns="0" tIns="0" rIns="0" bIns="0" rtlCol="0" anchor="ctr"/>
          <a:lstStyle/>
          <a:p>
            <a:pPr indent="0" marL="0">
              <a:buNone/>
            </a:pPr>
            <a:r>
              <a:rPr lang="en-US" sz="1100" i="1" dirty="0">
                <a:solidFill>
                  <a:srgbClr val="E76F51"/>
                </a:solidFill>
                <a:latin typeface="Calibri" pitchFamily="34" charset="0"/>
                <a:ea typeface="Calibri" pitchFamily="34" charset="-122"/>
                <a:cs typeface="Calibri" pitchFamily="34" charset="-120"/>
              </a:rPr>
              <a:t>Local memory</a:t>
            </a:r>
            <a:endParaRPr lang="en-US" sz="1100" dirty="0"/>
          </a:p>
        </p:txBody>
      </p:sp>
      <p:sp>
        <p:nvSpPr>
          <p:cNvPr id="32" name="Text 30"/>
          <p:cNvSpPr/>
          <p:nvPr/>
        </p:nvSpPr>
        <p:spPr>
          <a:xfrm>
            <a:off x="8549640" y="518464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work_mem</a:t>
            </a:r>
            <a:endParaRPr lang="en-US" sz="1100" dirty="0"/>
          </a:p>
        </p:txBody>
      </p:sp>
      <p:sp>
        <p:nvSpPr>
          <p:cNvPr id="33" name="Text 31"/>
          <p:cNvSpPr/>
          <p:nvPr/>
        </p:nvSpPr>
        <p:spPr>
          <a:xfrm>
            <a:off x="8549640" y="550468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temp_buffers</a:t>
            </a:r>
            <a:endParaRPr lang="en-US" sz="1100" dirty="0"/>
          </a:p>
        </p:txBody>
      </p:sp>
      <p:sp>
        <p:nvSpPr>
          <p:cNvPr id="34" name="Text 32"/>
          <p:cNvSpPr/>
          <p:nvPr/>
        </p:nvSpPr>
        <p:spPr>
          <a:xfrm>
            <a:off x="8549640" y="5824728"/>
            <a:ext cx="2971800" cy="27432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catalog cache</a:t>
            </a:r>
            <a:endParaRPr lang="en-US" sz="1100" dirty="0"/>
          </a:p>
        </p:txBody>
      </p:sp>
      <p:sp>
        <p:nvSpPr>
          <p:cNvPr id="35" name="Shape 33"/>
          <p:cNvSpPr/>
          <p:nvPr/>
        </p:nvSpPr>
        <p:spPr>
          <a:xfrm flipV="1">
            <a:off x="9989820" y="3931920"/>
            <a:ext cx="914" cy="502920"/>
          </a:xfrm>
          <a:prstGeom prst="line">
            <a:avLst/>
          </a:prstGeom>
          <a:noFill/>
          <a:ln w="19050">
            <a:solidFill>
              <a:srgbClr val="AFCFE6"/>
            </a:solidFill>
            <a:prstDash val="solid"/>
            <a:tailEnd type="triangle"/>
          </a:ln>
        </p:spPr>
      </p:sp>
      <p:sp>
        <p:nvSpPr>
          <p:cNvPr id="36" name="Text 34"/>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37" name="Text 35"/>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MEMORY ARCHITECTURE</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Inside Shared Memory</a:t>
            </a:r>
            <a:endParaRPr lang="en-US" sz="3000" dirty="0"/>
          </a:p>
        </p:txBody>
      </p:sp>
      <p:sp>
        <p:nvSpPr>
          <p:cNvPr id="4" name="Text 2"/>
          <p:cNvSpPr/>
          <p:nvPr/>
        </p:nvSpPr>
        <p:spPr>
          <a:xfrm>
            <a:off x="457200" y="1298448"/>
            <a:ext cx="11247120" cy="54864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Shared memory is the common workspace every backend and background process can read and write, coordinated through locks so concurrent access stays safe.</a:t>
            </a:r>
            <a:endParaRPr lang="en-US" sz="1350" dirty="0"/>
          </a:p>
        </p:txBody>
      </p:sp>
      <p:sp>
        <p:nvSpPr>
          <p:cNvPr id="5" name="Shape 3"/>
          <p:cNvSpPr/>
          <p:nvPr/>
        </p:nvSpPr>
        <p:spPr>
          <a:xfrm>
            <a:off x="457200" y="2057400"/>
            <a:ext cx="5440680" cy="1965960"/>
          </a:xfrm>
          <a:prstGeom prst="roundRect">
            <a:avLst>
              <a:gd name="adj" fmla="val 3721"/>
            </a:avLst>
          </a:prstGeom>
          <a:solidFill>
            <a:srgbClr val="DCEBF7"/>
          </a:solidFill>
          <a:ln w="12700">
            <a:solidFill>
              <a:srgbClr val="AFCFE6"/>
            </a:solidFill>
            <a:prstDash val="solid"/>
          </a:ln>
        </p:spPr>
      </p:sp>
      <p:sp>
        <p:nvSpPr>
          <p:cNvPr id="6" name="Shape 4"/>
          <p:cNvSpPr/>
          <p:nvPr/>
        </p:nvSpPr>
        <p:spPr>
          <a:xfrm>
            <a:off x="731520" y="2331720"/>
            <a:ext cx="502920" cy="502920"/>
          </a:xfrm>
          <a:prstGeom prst="roundRect">
            <a:avLst>
              <a:gd name="adj" fmla="val 90909"/>
            </a:avLst>
          </a:prstGeom>
          <a:solidFill>
            <a:srgbClr val="336791"/>
          </a:solidFill>
          <a:ln/>
        </p:spPr>
      </p:sp>
      <p:sp>
        <p:nvSpPr>
          <p:cNvPr id="7" name="Text 5"/>
          <p:cNvSpPr/>
          <p:nvPr/>
        </p:nvSpPr>
        <p:spPr>
          <a:xfrm>
            <a:off x="731520"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17320" y="231343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Shared Buffers</a:t>
            </a:r>
            <a:endParaRPr lang="en-US" sz="1500" dirty="0"/>
          </a:p>
        </p:txBody>
      </p:sp>
      <p:sp>
        <p:nvSpPr>
          <p:cNvPr id="9" name="Text 7"/>
          <p:cNvSpPr/>
          <p:nvPr/>
        </p:nvSpPr>
        <p:spPr>
          <a:xfrm>
            <a:off x="1417320" y="271576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The main page cache for table and index data, sized by shared_buffers. Nearly all reads and writes pass through here before touching disk.</a:t>
            </a:r>
            <a:endParaRPr lang="en-US" sz="1200" dirty="0"/>
          </a:p>
        </p:txBody>
      </p:sp>
      <p:sp>
        <p:nvSpPr>
          <p:cNvPr id="10" name="Shape 8"/>
          <p:cNvSpPr/>
          <p:nvPr/>
        </p:nvSpPr>
        <p:spPr>
          <a:xfrm>
            <a:off x="6309360" y="2057400"/>
            <a:ext cx="5440680" cy="1965960"/>
          </a:xfrm>
          <a:prstGeom prst="roundRect">
            <a:avLst>
              <a:gd name="adj" fmla="val 3721"/>
            </a:avLst>
          </a:prstGeom>
          <a:solidFill>
            <a:srgbClr val="DCEBF7"/>
          </a:solidFill>
          <a:ln w="12700">
            <a:solidFill>
              <a:srgbClr val="AFCFE6"/>
            </a:solidFill>
            <a:prstDash val="solid"/>
          </a:ln>
        </p:spPr>
      </p:sp>
      <p:sp>
        <p:nvSpPr>
          <p:cNvPr id="11" name="Shape 9"/>
          <p:cNvSpPr/>
          <p:nvPr/>
        </p:nvSpPr>
        <p:spPr>
          <a:xfrm>
            <a:off x="6583680" y="2331720"/>
            <a:ext cx="502920" cy="502920"/>
          </a:xfrm>
          <a:prstGeom prst="roundRect">
            <a:avLst>
              <a:gd name="adj" fmla="val 90909"/>
            </a:avLst>
          </a:prstGeom>
          <a:solidFill>
            <a:srgbClr val="336791"/>
          </a:solidFill>
          <a:ln/>
        </p:spPr>
      </p:sp>
      <p:sp>
        <p:nvSpPr>
          <p:cNvPr id="12" name="Text 10"/>
          <p:cNvSpPr/>
          <p:nvPr/>
        </p:nvSpPr>
        <p:spPr>
          <a:xfrm>
            <a:off x="6583680"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7269480" y="231343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WAL Buffers</a:t>
            </a:r>
            <a:endParaRPr lang="en-US" sz="1500" dirty="0"/>
          </a:p>
        </p:txBody>
      </p:sp>
      <p:sp>
        <p:nvSpPr>
          <p:cNvPr id="14" name="Text 12"/>
          <p:cNvSpPr/>
          <p:nvPr/>
        </p:nvSpPr>
        <p:spPr>
          <a:xfrm>
            <a:off x="7269480" y="271576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Holds Write-Ahead Log records before they are flushed to WAL files, sized by wal_buffers.</a:t>
            </a:r>
            <a:endParaRPr lang="en-US" sz="1200" dirty="0"/>
          </a:p>
        </p:txBody>
      </p:sp>
      <p:sp>
        <p:nvSpPr>
          <p:cNvPr id="15" name="Shape 13"/>
          <p:cNvSpPr/>
          <p:nvPr/>
        </p:nvSpPr>
        <p:spPr>
          <a:xfrm>
            <a:off x="457200" y="4297680"/>
            <a:ext cx="5440680" cy="1965960"/>
          </a:xfrm>
          <a:prstGeom prst="roundRect">
            <a:avLst>
              <a:gd name="adj" fmla="val 3721"/>
            </a:avLst>
          </a:prstGeom>
          <a:solidFill>
            <a:srgbClr val="DCEBF7"/>
          </a:solidFill>
          <a:ln w="12700">
            <a:solidFill>
              <a:srgbClr val="AFCFE6"/>
            </a:solidFill>
            <a:prstDash val="solid"/>
          </a:ln>
        </p:spPr>
      </p:sp>
      <p:sp>
        <p:nvSpPr>
          <p:cNvPr id="16" name="Shape 14"/>
          <p:cNvSpPr/>
          <p:nvPr/>
        </p:nvSpPr>
        <p:spPr>
          <a:xfrm>
            <a:off x="731520" y="4572000"/>
            <a:ext cx="502920" cy="502920"/>
          </a:xfrm>
          <a:prstGeom prst="roundRect">
            <a:avLst>
              <a:gd name="adj" fmla="val 90909"/>
            </a:avLst>
          </a:prstGeom>
          <a:solidFill>
            <a:srgbClr val="336791"/>
          </a:solidFill>
          <a:ln/>
        </p:spPr>
      </p:sp>
      <p:sp>
        <p:nvSpPr>
          <p:cNvPr id="17" name="Text 15"/>
          <p:cNvSpPr/>
          <p:nvPr/>
        </p:nvSpPr>
        <p:spPr>
          <a:xfrm>
            <a:off x="731520" y="4572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17320" y="455371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CLOG Buffers</a:t>
            </a:r>
            <a:endParaRPr lang="en-US" sz="1500" dirty="0"/>
          </a:p>
        </p:txBody>
      </p:sp>
      <p:sp>
        <p:nvSpPr>
          <p:cNvPr id="19" name="Text 17"/>
          <p:cNvSpPr/>
          <p:nvPr/>
        </p:nvSpPr>
        <p:spPr>
          <a:xfrm>
            <a:off x="1417320" y="495604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The commit log tracks whether each transaction committed, aborted, or is still in progress.</a:t>
            </a:r>
            <a:endParaRPr lang="en-US" sz="1200" dirty="0"/>
          </a:p>
        </p:txBody>
      </p:sp>
      <p:sp>
        <p:nvSpPr>
          <p:cNvPr id="20" name="Shape 18"/>
          <p:cNvSpPr/>
          <p:nvPr/>
        </p:nvSpPr>
        <p:spPr>
          <a:xfrm>
            <a:off x="6309360" y="4297680"/>
            <a:ext cx="5440680" cy="1965960"/>
          </a:xfrm>
          <a:prstGeom prst="roundRect">
            <a:avLst>
              <a:gd name="adj" fmla="val 3721"/>
            </a:avLst>
          </a:prstGeom>
          <a:solidFill>
            <a:srgbClr val="DCEBF7"/>
          </a:solidFill>
          <a:ln w="12700">
            <a:solidFill>
              <a:srgbClr val="AFCFE6"/>
            </a:solidFill>
            <a:prstDash val="solid"/>
          </a:ln>
        </p:spPr>
      </p:sp>
      <p:sp>
        <p:nvSpPr>
          <p:cNvPr id="21" name="Shape 19"/>
          <p:cNvSpPr/>
          <p:nvPr/>
        </p:nvSpPr>
        <p:spPr>
          <a:xfrm>
            <a:off x="6583680" y="4572000"/>
            <a:ext cx="502920" cy="502920"/>
          </a:xfrm>
          <a:prstGeom prst="roundRect">
            <a:avLst>
              <a:gd name="adj" fmla="val 90909"/>
            </a:avLst>
          </a:prstGeom>
          <a:solidFill>
            <a:srgbClr val="336791"/>
          </a:solidFill>
          <a:ln/>
        </p:spPr>
      </p:sp>
      <p:sp>
        <p:nvSpPr>
          <p:cNvPr id="22" name="Text 20"/>
          <p:cNvSpPr/>
          <p:nvPr/>
        </p:nvSpPr>
        <p:spPr>
          <a:xfrm>
            <a:off x="6583680" y="4572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269480" y="455371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Lock Table</a:t>
            </a:r>
            <a:endParaRPr lang="en-US" sz="1500" dirty="0"/>
          </a:p>
        </p:txBody>
      </p:sp>
      <p:sp>
        <p:nvSpPr>
          <p:cNvPr id="24" name="Text 22"/>
          <p:cNvSpPr/>
          <p:nvPr/>
        </p:nvSpPr>
        <p:spPr>
          <a:xfrm>
            <a:off x="7269480" y="495604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Tracks table- and row-level locks so concurrent transactions coordinate safely.</a:t>
            </a:r>
            <a:endParaRPr lang="en-US" sz="1200" dirty="0"/>
          </a:p>
        </p:txBody>
      </p:sp>
      <p:sp>
        <p:nvSpPr>
          <p:cNvPr id="25" name="Text 23"/>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26" name="Text 24"/>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MEMORY ARCHITECTURE</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Local Memory, Per Backend</a:t>
            </a:r>
            <a:endParaRPr lang="en-US" sz="3000" dirty="0"/>
          </a:p>
        </p:txBody>
      </p:sp>
      <p:sp>
        <p:nvSpPr>
          <p:cNvPr id="4" name="Text 2"/>
          <p:cNvSpPr/>
          <p:nvPr/>
        </p:nvSpPr>
        <p:spPr>
          <a:xfrm>
            <a:off x="457200" y="1298448"/>
            <a:ext cx="11247120" cy="54864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Each backend also allocates its own private memory for the query it is running. This memory is not shared and is freed when the operation, or the session, completes.</a:t>
            </a:r>
            <a:endParaRPr lang="en-US" sz="1350" dirty="0"/>
          </a:p>
        </p:txBody>
      </p:sp>
      <p:sp>
        <p:nvSpPr>
          <p:cNvPr id="5" name="Shape 3"/>
          <p:cNvSpPr/>
          <p:nvPr/>
        </p:nvSpPr>
        <p:spPr>
          <a:xfrm>
            <a:off x="457200" y="2057400"/>
            <a:ext cx="5440680" cy="1965960"/>
          </a:xfrm>
          <a:prstGeom prst="roundRect">
            <a:avLst>
              <a:gd name="adj" fmla="val 3721"/>
            </a:avLst>
          </a:prstGeom>
          <a:solidFill>
            <a:srgbClr val="FBEFEA"/>
          </a:solidFill>
          <a:ln w="12700">
            <a:solidFill>
              <a:srgbClr val="E76F51"/>
            </a:solidFill>
            <a:prstDash val="solid"/>
          </a:ln>
        </p:spPr>
      </p:sp>
      <p:sp>
        <p:nvSpPr>
          <p:cNvPr id="6" name="Shape 4"/>
          <p:cNvSpPr/>
          <p:nvPr/>
        </p:nvSpPr>
        <p:spPr>
          <a:xfrm>
            <a:off x="731520" y="2331720"/>
            <a:ext cx="502920" cy="502920"/>
          </a:xfrm>
          <a:prstGeom prst="roundRect">
            <a:avLst>
              <a:gd name="adj" fmla="val 90909"/>
            </a:avLst>
          </a:prstGeom>
          <a:solidFill>
            <a:srgbClr val="E76F51"/>
          </a:solidFill>
          <a:ln/>
        </p:spPr>
      </p:sp>
      <p:sp>
        <p:nvSpPr>
          <p:cNvPr id="7" name="Text 5"/>
          <p:cNvSpPr/>
          <p:nvPr/>
        </p:nvSpPr>
        <p:spPr>
          <a:xfrm>
            <a:off x="731520"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17320" y="231343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work_mem</a:t>
            </a:r>
            <a:endParaRPr lang="en-US" sz="1500" dirty="0"/>
          </a:p>
        </p:txBody>
      </p:sp>
      <p:sp>
        <p:nvSpPr>
          <p:cNvPr id="9" name="Text 7"/>
          <p:cNvSpPr/>
          <p:nvPr/>
        </p:nvSpPr>
        <p:spPr>
          <a:xfrm>
            <a:off x="1417320" y="271576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Memory available for one sort or hash operation, such as ORDER BY or a hash join. A complex query can use several multiples of this.</a:t>
            </a:r>
            <a:endParaRPr lang="en-US" sz="1200" dirty="0"/>
          </a:p>
        </p:txBody>
      </p:sp>
      <p:sp>
        <p:nvSpPr>
          <p:cNvPr id="10" name="Shape 8"/>
          <p:cNvSpPr/>
          <p:nvPr/>
        </p:nvSpPr>
        <p:spPr>
          <a:xfrm>
            <a:off x="6309360" y="2057400"/>
            <a:ext cx="5440680" cy="1965960"/>
          </a:xfrm>
          <a:prstGeom prst="roundRect">
            <a:avLst>
              <a:gd name="adj" fmla="val 3721"/>
            </a:avLst>
          </a:prstGeom>
          <a:solidFill>
            <a:srgbClr val="FBEFEA"/>
          </a:solidFill>
          <a:ln w="12700">
            <a:solidFill>
              <a:srgbClr val="E76F51"/>
            </a:solidFill>
            <a:prstDash val="solid"/>
          </a:ln>
        </p:spPr>
      </p:sp>
      <p:sp>
        <p:nvSpPr>
          <p:cNvPr id="11" name="Shape 9"/>
          <p:cNvSpPr/>
          <p:nvPr/>
        </p:nvSpPr>
        <p:spPr>
          <a:xfrm>
            <a:off x="6583680" y="2331720"/>
            <a:ext cx="502920" cy="502920"/>
          </a:xfrm>
          <a:prstGeom prst="roundRect">
            <a:avLst>
              <a:gd name="adj" fmla="val 90909"/>
            </a:avLst>
          </a:prstGeom>
          <a:solidFill>
            <a:srgbClr val="E76F51"/>
          </a:solidFill>
          <a:ln/>
        </p:spPr>
      </p:sp>
      <p:sp>
        <p:nvSpPr>
          <p:cNvPr id="12" name="Text 10"/>
          <p:cNvSpPr/>
          <p:nvPr/>
        </p:nvSpPr>
        <p:spPr>
          <a:xfrm>
            <a:off x="6583680"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7269480" y="231343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maintenance_work_mem</a:t>
            </a:r>
            <a:endParaRPr lang="en-US" sz="1500" dirty="0"/>
          </a:p>
        </p:txBody>
      </p:sp>
      <p:sp>
        <p:nvSpPr>
          <p:cNvPr id="14" name="Text 12"/>
          <p:cNvSpPr/>
          <p:nvPr/>
        </p:nvSpPr>
        <p:spPr>
          <a:xfrm>
            <a:off x="7269480" y="271576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Memory used for maintenance operations like VACUUM, CREATE INDEX, and ALTER TABLE ADD FOREIGN KEY.</a:t>
            </a:r>
            <a:endParaRPr lang="en-US" sz="1200" dirty="0"/>
          </a:p>
        </p:txBody>
      </p:sp>
      <p:sp>
        <p:nvSpPr>
          <p:cNvPr id="15" name="Shape 13"/>
          <p:cNvSpPr/>
          <p:nvPr/>
        </p:nvSpPr>
        <p:spPr>
          <a:xfrm>
            <a:off x="457200" y="4297680"/>
            <a:ext cx="5440680" cy="1965960"/>
          </a:xfrm>
          <a:prstGeom prst="roundRect">
            <a:avLst>
              <a:gd name="adj" fmla="val 3721"/>
            </a:avLst>
          </a:prstGeom>
          <a:solidFill>
            <a:srgbClr val="FBEFEA"/>
          </a:solidFill>
          <a:ln w="12700">
            <a:solidFill>
              <a:srgbClr val="E76F51"/>
            </a:solidFill>
            <a:prstDash val="solid"/>
          </a:ln>
        </p:spPr>
      </p:sp>
      <p:sp>
        <p:nvSpPr>
          <p:cNvPr id="16" name="Shape 14"/>
          <p:cNvSpPr/>
          <p:nvPr/>
        </p:nvSpPr>
        <p:spPr>
          <a:xfrm>
            <a:off x="731520" y="4572000"/>
            <a:ext cx="502920" cy="502920"/>
          </a:xfrm>
          <a:prstGeom prst="roundRect">
            <a:avLst>
              <a:gd name="adj" fmla="val 90909"/>
            </a:avLst>
          </a:prstGeom>
          <a:solidFill>
            <a:srgbClr val="E76F51"/>
          </a:solidFill>
          <a:ln/>
        </p:spPr>
      </p:sp>
      <p:sp>
        <p:nvSpPr>
          <p:cNvPr id="17" name="Text 15"/>
          <p:cNvSpPr/>
          <p:nvPr/>
        </p:nvSpPr>
        <p:spPr>
          <a:xfrm>
            <a:off x="731520" y="4572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17320" y="455371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temp_buffers</a:t>
            </a:r>
            <a:endParaRPr lang="en-US" sz="1500" dirty="0"/>
          </a:p>
        </p:txBody>
      </p:sp>
      <p:sp>
        <p:nvSpPr>
          <p:cNvPr id="19" name="Text 17"/>
          <p:cNvSpPr/>
          <p:nvPr/>
        </p:nvSpPr>
        <p:spPr>
          <a:xfrm>
            <a:off x="1417320" y="495604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Memory used to hold temporary tables accessed within a session.</a:t>
            </a:r>
            <a:endParaRPr lang="en-US" sz="1200" dirty="0"/>
          </a:p>
        </p:txBody>
      </p:sp>
      <p:sp>
        <p:nvSpPr>
          <p:cNvPr id="20" name="Shape 18"/>
          <p:cNvSpPr/>
          <p:nvPr/>
        </p:nvSpPr>
        <p:spPr>
          <a:xfrm>
            <a:off x="6309360" y="4297680"/>
            <a:ext cx="5440680" cy="1965960"/>
          </a:xfrm>
          <a:prstGeom prst="roundRect">
            <a:avLst>
              <a:gd name="adj" fmla="val 3721"/>
            </a:avLst>
          </a:prstGeom>
          <a:solidFill>
            <a:srgbClr val="FBEFEA"/>
          </a:solidFill>
          <a:ln w="12700">
            <a:solidFill>
              <a:srgbClr val="E76F51"/>
            </a:solidFill>
            <a:prstDash val="solid"/>
          </a:ln>
        </p:spPr>
      </p:sp>
      <p:sp>
        <p:nvSpPr>
          <p:cNvPr id="21" name="Shape 19"/>
          <p:cNvSpPr/>
          <p:nvPr/>
        </p:nvSpPr>
        <p:spPr>
          <a:xfrm>
            <a:off x="6583680" y="4572000"/>
            <a:ext cx="502920" cy="502920"/>
          </a:xfrm>
          <a:prstGeom prst="roundRect">
            <a:avLst>
              <a:gd name="adj" fmla="val 90909"/>
            </a:avLst>
          </a:prstGeom>
          <a:solidFill>
            <a:srgbClr val="E76F51"/>
          </a:solidFill>
          <a:ln/>
        </p:spPr>
      </p:sp>
      <p:sp>
        <p:nvSpPr>
          <p:cNvPr id="22" name="Text 20"/>
          <p:cNvSpPr/>
          <p:nvPr/>
        </p:nvSpPr>
        <p:spPr>
          <a:xfrm>
            <a:off x="6583680" y="4572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269480" y="4553712"/>
            <a:ext cx="425196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Catalog &amp; Plan Caches</a:t>
            </a:r>
            <a:endParaRPr lang="en-US" sz="1500" dirty="0"/>
          </a:p>
        </p:txBody>
      </p:sp>
      <p:sp>
        <p:nvSpPr>
          <p:cNvPr id="24" name="Text 22"/>
          <p:cNvSpPr/>
          <p:nvPr/>
        </p:nvSpPr>
        <p:spPr>
          <a:xfrm>
            <a:off x="7269480" y="4956048"/>
            <a:ext cx="4251960" cy="118872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Cached lookups of system catalog entries and parsed/planned queries, avoiding repeated parsing.</a:t>
            </a:r>
            <a:endParaRPr lang="en-US" sz="1200" dirty="0"/>
          </a:p>
        </p:txBody>
      </p:sp>
      <p:sp>
        <p:nvSpPr>
          <p:cNvPr id="25" name="Text 23"/>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26" name="Text 24"/>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PROCESS + MEMORY TOGETHER</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How a Query Actually Flows</a:t>
            </a:r>
            <a:endParaRPr lang="en-US" sz="3000" dirty="0"/>
          </a:p>
        </p:txBody>
      </p:sp>
      <p:sp>
        <p:nvSpPr>
          <p:cNvPr id="4" name="Text 2"/>
          <p:cNvSpPr/>
          <p:nvPr/>
        </p:nvSpPr>
        <p:spPr>
          <a:xfrm>
            <a:off x="457200" y="1298448"/>
            <a:ext cx="11247120" cy="68580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A backend process reads and writes table pages in shared buffers, records the change in WAL buffers for durability, and background processes take it from there — flushing WAL and dirty pages to disk without blocking the client.</a:t>
            </a:r>
            <a:endParaRPr lang="en-US" sz="1350" dirty="0"/>
          </a:p>
        </p:txBody>
      </p:sp>
      <p:sp>
        <p:nvSpPr>
          <p:cNvPr id="5" name="Shape 3"/>
          <p:cNvSpPr/>
          <p:nvPr/>
        </p:nvSpPr>
        <p:spPr>
          <a:xfrm>
            <a:off x="365760" y="2651760"/>
            <a:ext cx="1554480" cy="777240"/>
          </a:xfrm>
          <a:prstGeom prst="roundRect">
            <a:avLst>
              <a:gd name="adj" fmla="val 9412"/>
            </a:avLst>
          </a:prstGeom>
          <a:solidFill>
            <a:srgbClr val="FFFFFF"/>
          </a:solidFill>
          <a:ln w="15875">
            <a:solidFill>
              <a:srgbClr val="5C6B73"/>
            </a:solidFill>
            <a:prstDash val="solid"/>
          </a:ln>
        </p:spPr>
      </p:sp>
      <p:sp>
        <p:nvSpPr>
          <p:cNvPr id="6" name="Text 4"/>
          <p:cNvSpPr/>
          <p:nvPr/>
        </p:nvSpPr>
        <p:spPr>
          <a:xfrm>
            <a:off x="365760" y="2651760"/>
            <a:ext cx="1554480" cy="777240"/>
          </a:xfrm>
          <a:prstGeom prst="rect">
            <a:avLst/>
          </a:prstGeom>
          <a:noFill/>
          <a:ln/>
        </p:spPr>
        <p:txBody>
          <a:bodyPr wrap="square" lIns="0" tIns="0" rIns="0" bIns="0" rtlCol="0" anchor="ctr"/>
          <a:lstStyle/>
          <a:p>
            <a:pPr algn="ctr" indent="0" marL="0">
              <a:buNone/>
            </a:pPr>
            <a:r>
              <a:rPr lang="en-US" sz="1300" b="1" dirty="0">
                <a:solidFill>
                  <a:srgbClr val="22303C"/>
                </a:solidFill>
                <a:latin typeface="Calibri" pitchFamily="34" charset="0"/>
                <a:ea typeface="Calibri" pitchFamily="34" charset="-122"/>
                <a:cs typeface="Calibri" pitchFamily="34" charset="-120"/>
              </a:rPr>
              <a:t>Client</a:t>
            </a:r>
            <a:endParaRPr lang="en-US" sz="1300" dirty="0"/>
          </a:p>
        </p:txBody>
      </p:sp>
      <p:sp>
        <p:nvSpPr>
          <p:cNvPr id="7" name="Shape 5"/>
          <p:cNvSpPr/>
          <p:nvPr/>
        </p:nvSpPr>
        <p:spPr>
          <a:xfrm>
            <a:off x="2331720" y="2651760"/>
            <a:ext cx="1737360" cy="777240"/>
          </a:xfrm>
          <a:prstGeom prst="roundRect">
            <a:avLst>
              <a:gd name="adj" fmla="val 9412"/>
            </a:avLst>
          </a:prstGeom>
          <a:solidFill>
            <a:srgbClr val="336791"/>
          </a:solidFill>
          <a:ln/>
        </p:spPr>
      </p:sp>
      <p:sp>
        <p:nvSpPr>
          <p:cNvPr id="8" name="Text 6"/>
          <p:cNvSpPr/>
          <p:nvPr/>
        </p:nvSpPr>
        <p:spPr>
          <a:xfrm>
            <a:off x="2331720" y="2651760"/>
            <a:ext cx="17373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Process</a:t>
            </a:r>
            <a:endParaRPr lang="en-US" sz="1300" dirty="0"/>
          </a:p>
        </p:txBody>
      </p:sp>
      <p:sp>
        <p:nvSpPr>
          <p:cNvPr id="9" name="Shape 7"/>
          <p:cNvSpPr/>
          <p:nvPr/>
        </p:nvSpPr>
        <p:spPr>
          <a:xfrm>
            <a:off x="1920240" y="3035808"/>
            <a:ext cx="411480" cy="914"/>
          </a:xfrm>
          <a:prstGeom prst="line">
            <a:avLst/>
          </a:prstGeom>
          <a:noFill/>
          <a:ln w="19050">
            <a:solidFill>
              <a:srgbClr val="5C6B73"/>
            </a:solidFill>
            <a:prstDash val="solid"/>
            <a:tailEnd type="triangle"/>
          </a:ln>
        </p:spPr>
      </p:sp>
      <p:sp>
        <p:nvSpPr>
          <p:cNvPr id="10" name="Shape 8"/>
          <p:cNvSpPr/>
          <p:nvPr/>
        </p:nvSpPr>
        <p:spPr>
          <a:xfrm>
            <a:off x="4572000" y="2011680"/>
            <a:ext cx="1965960" cy="777240"/>
          </a:xfrm>
          <a:prstGeom prst="roundRect">
            <a:avLst>
              <a:gd name="adj" fmla="val 9412"/>
            </a:avLst>
          </a:prstGeom>
          <a:solidFill>
            <a:srgbClr val="DCEBF7"/>
          </a:solidFill>
          <a:ln w="12700">
            <a:solidFill>
              <a:srgbClr val="AFCFE6"/>
            </a:solidFill>
            <a:prstDash val="solid"/>
          </a:ln>
        </p:spPr>
      </p:sp>
      <p:sp>
        <p:nvSpPr>
          <p:cNvPr id="11" name="Text 9"/>
          <p:cNvSpPr/>
          <p:nvPr/>
        </p:nvSpPr>
        <p:spPr>
          <a:xfrm>
            <a:off x="4572000" y="2011680"/>
            <a:ext cx="1965960" cy="777240"/>
          </a:xfrm>
          <a:prstGeom prst="rect">
            <a:avLst/>
          </a:prstGeom>
          <a:noFill/>
          <a:ln/>
        </p:spPr>
        <p:txBody>
          <a:bodyPr wrap="square" lIns="0" tIns="0" rIns="0" bIns="0" rtlCol="0" anchor="ctr"/>
          <a:lstStyle/>
          <a:p>
            <a:pPr algn="ctr" indent="0" marL="0">
              <a:buNone/>
            </a:pPr>
            <a:r>
              <a:rPr lang="en-US" sz="1250" b="1" dirty="0">
                <a:solidFill>
                  <a:srgbClr val="22303C"/>
                </a:solidFill>
                <a:latin typeface="Calibri" pitchFamily="34" charset="0"/>
                <a:ea typeface="Calibri" pitchFamily="34" charset="-122"/>
                <a:cs typeface="Calibri" pitchFamily="34" charset="-120"/>
              </a:rPr>
              <a:t>Shared</a:t>
            </a:r>
            <a:endParaRPr lang="en-US" sz="1250" dirty="0"/>
          </a:p>
          <a:p>
            <a:pPr algn="ctr" indent="0" marL="0">
              <a:buNone/>
            </a:pPr>
            <a:r>
              <a:rPr lang="en-US" sz="1250" b="1" dirty="0">
                <a:solidFill>
                  <a:srgbClr val="22303C"/>
                </a:solidFill>
                <a:latin typeface="Calibri" pitchFamily="34" charset="0"/>
                <a:ea typeface="Calibri" pitchFamily="34" charset="-122"/>
                <a:cs typeface="Calibri" pitchFamily="34" charset="-120"/>
              </a:rPr>
              <a:t>Buffers</a:t>
            </a:r>
            <a:endParaRPr lang="en-US" sz="1250" dirty="0"/>
          </a:p>
        </p:txBody>
      </p:sp>
      <p:sp>
        <p:nvSpPr>
          <p:cNvPr id="12" name="Shape 10"/>
          <p:cNvSpPr/>
          <p:nvPr/>
        </p:nvSpPr>
        <p:spPr>
          <a:xfrm flipV="1">
            <a:off x="4069080" y="2400300"/>
            <a:ext cx="502920" cy="480060"/>
          </a:xfrm>
          <a:prstGeom prst="line">
            <a:avLst/>
          </a:prstGeom>
          <a:noFill/>
          <a:ln w="19050">
            <a:solidFill>
              <a:srgbClr val="AFCFE6"/>
            </a:solidFill>
            <a:prstDash val="solid"/>
            <a:tailEnd type="triangle"/>
          </a:ln>
        </p:spPr>
      </p:sp>
      <p:sp>
        <p:nvSpPr>
          <p:cNvPr id="13" name="Shape 11"/>
          <p:cNvSpPr/>
          <p:nvPr/>
        </p:nvSpPr>
        <p:spPr>
          <a:xfrm>
            <a:off x="4572000" y="3291840"/>
            <a:ext cx="1965960" cy="777240"/>
          </a:xfrm>
          <a:prstGeom prst="roundRect">
            <a:avLst>
              <a:gd name="adj" fmla="val 9412"/>
            </a:avLst>
          </a:prstGeom>
          <a:solidFill>
            <a:srgbClr val="DCEBF7"/>
          </a:solidFill>
          <a:ln w="12700">
            <a:solidFill>
              <a:srgbClr val="AFCFE6"/>
            </a:solidFill>
            <a:prstDash val="solid"/>
          </a:ln>
        </p:spPr>
      </p:sp>
      <p:sp>
        <p:nvSpPr>
          <p:cNvPr id="14" name="Text 12"/>
          <p:cNvSpPr/>
          <p:nvPr/>
        </p:nvSpPr>
        <p:spPr>
          <a:xfrm>
            <a:off x="4572000" y="3291840"/>
            <a:ext cx="1965960" cy="777240"/>
          </a:xfrm>
          <a:prstGeom prst="rect">
            <a:avLst/>
          </a:prstGeom>
          <a:noFill/>
          <a:ln/>
        </p:spPr>
        <p:txBody>
          <a:bodyPr wrap="square" lIns="0" tIns="0" rIns="0" bIns="0" rtlCol="0" anchor="ctr"/>
          <a:lstStyle/>
          <a:p>
            <a:pPr algn="ctr" indent="0" marL="0">
              <a:buNone/>
            </a:pPr>
            <a:r>
              <a:rPr lang="en-US" sz="1250" b="1" dirty="0">
                <a:solidFill>
                  <a:srgbClr val="22303C"/>
                </a:solidFill>
                <a:latin typeface="Calibri" pitchFamily="34" charset="0"/>
                <a:ea typeface="Calibri" pitchFamily="34" charset="-122"/>
                <a:cs typeface="Calibri" pitchFamily="34" charset="-120"/>
              </a:rPr>
              <a:t>WAL</a:t>
            </a:r>
            <a:endParaRPr lang="en-US" sz="1250" dirty="0"/>
          </a:p>
          <a:p>
            <a:pPr algn="ctr" indent="0" marL="0">
              <a:buNone/>
            </a:pPr>
            <a:r>
              <a:rPr lang="en-US" sz="1250" b="1" dirty="0">
                <a:solidFill>
                  <a:srgbClr val="22303C"/>
                </a:solidFill>
                <a:latin typeface="Calibri" pitchFamily="34" charset="0"/>
                <a:ea typeface="Calibri" pitchFamily="34" charset="-122"/>
                <a:cs typeface="Calibri" pitchFamily="34" charset="-120"/>
              </a:rPr>
              <a:t>Buffers</a:t>
            </a:r>
            <a:endParaRPr lang="en-US" sz="1250" dirty="0"/>
          </a:p>
        </p:txBody>
      </p:sp>
      <p:sp>
        <p:nvSpPr>
          <p:cNvPr id="15" name="Shape 13"/>
          <p:cNvSpPr/>
          <p:nvPr/>
        </p:nvSpPr>
        <p:spPr>
          <a:xfrm>
            <a:off x="4069080" y="3200400"/>
            <a:ext cx="502920" cy="480060"/>
          </a:xfrm>
          <a:prstGeom prst="line">
            <a:avLst/>
          </a:prstGeom>
          <a:noFill/>
          <a:ln w="19050">
            <a:solidFill>
              <a:srgbClr val="AFCFE6"/>
            </a:solidFill>
            <a:prstDash val="solid"/>
            <a:tailEnd type="triangle"/>
          </a:ln>
        </p:spPr>
      </p:sp>
      <p:sp>
        <p:nvSpPr>
          <p:cNvPr id="16" name="Shape 14"/>
          <p:cNvSpPr/>
          <p:nvPr/>
        </p:nvSpPr>
        <p:spPr>
          <a:xfrm>
            <a:off x="7178040" y="2011680"/>
            <a:ext cx="2103120" cy="777240"/>
          </a:xfrm>
          <a:prstGeom prst="roundRect">
            <a:avLst>
              <a:gd name="adj" fmla="val 9412"/>
            </a:avLst>
          </a:prstGeom>
          <a:solidFill>
            <a:srgbClr val="FBEFEA"/>
          </a:solidFill>
          <a:ln w="12700">
            <a:solidFill>
              <a:srgbClr val="E76F51"/>
            </a:solidFill>
            <a:prstDash val="solid"/>
          </a:ln>
        </p:spPr>
      </p:sp>
      <p:sp>
        <p:nvSpPr>
          <p:cNvPr id="17" name="Text 15"/>
          <p:cNvSpPr/>
          <p:nvPr/>
        </p:nvSpPr>
        <p:spPr>
          <a:xfrm>
            <a:off x="7178040" y="2011680"/>
            <a:ext cx="2103120" cy="777240"/>
          </a:xfrm>
          <a:prstGeom prst="rect">
            <a:avLst/>
          </a:prstGeom>
          <a:noFill/>
          <a:ln/>
        </p:spPr>
        <p:txBody>
          <a:bodyPr wrap="square" lIns="0" tIns="0" rIns="0" bIns="0" rtlCol="0" anchor="ctr"/>
          <a:lstStyle/>
          <a:p>
            <a:pPr algn="ctr" indent="0" marL="0">
              <a:buNone/>
            </a:pPr>
            <a:r>
              <a:rPr lang="en-US" sz="1200" b="1" dirty="0">
                <a:solidFill>
                  <a:srgbClr val="E76F51"/>
                </a:solidFill>
                <a:latin typeface="Calibri" pitchFamily="34" charset="0"/>
                <a:ea typeface="Calibri" pitchFamily="34" charset="-122"/>
                <a:cs typeface="Calibri" pitchFamily="34" charset="-120"/>
              </a:rPr>
              <a:t>Checkpointer /</a:t>
            </a:r>
            <a:endParaRPr lang="en-US" sz="1200" dirty="0"/>
          </a:p>
          <a:p>
            <a:pPr algn="ctr" indent="0" marL="0">
              <a:buNone/>
            </a:pPr>
            <a:r>
              <a:rPr lang="en-US" sz="1200" b="1" dirty="0">
                <a:solidFill>
                  <a:srgbClr val="E76F51"/>
                </a:solidFill>
                <a:latin typeface="Calibri" pitchFamily="34" charset="0"/>
                <a:ea typeface="Calibri" pitchFamily="34" charset="-122"/>
                <a:cs typeface="Calibri" pitchFamily="34" charset="-120"/>
              </a:rPr>
              <a:t>Bg Writer</a:t>
            </a:r>
            <a:endParaRPr lang="en-US" sz="1200" dirty="0"/>
          </a:p>
        </p:txBody>
      </p:sp>
      <p:sp>
        <p:nvSpPr>
          <p:cNvPr id="18" name="Shape 16"/>
          <p:cNvSpPr/>
          <p:nvPr/>
        </p:nvSpPr>
        <p:spPr>
          <a:xfrm>
            <a:off x="6537960" y="2400300"/>
            <a:ext cx="640080" cy="914"/>
          </a:xfrm>
          <a:prstGeom prst="line">
            <a:avLst/>
          </a:prstGeom>
          <a:noFill/>
          <a:ln w="19050">
            <a:solidFill>
              <a:srgbClr val="F0BBA4"/>
            </a:solidFill>
            <a:prstDash val="solid"/>
            <a:tailEnd type="triangle"/>
          </a:ln>
        </p:spPr>
      </p:sp>
      <p:sp>
        <p:nvSpPr>
          <p:cNvPr id="19" name="Shape 17"/>
          <p:cNvSpPr/>
          <p:nvPr/>
        </p:nvSpPr>
        <p:spPr>
          <a:xfrm>
            <a:off x="7178040" y="3291840"/>
            <a:ext cx="2103120" cy="777240"/>
          </a:xfrm>
          <a:prstGeom prst="roundRect">
            <a:avLst>
              <a:gd name="adj" fmla="val 9412"/>
            </a:avLst>
          </a:prstGeom>
          <a:solidFill>
            <a:srgbClr val="FBEFEA"/>
          </a:solidFill>
          <a:ln w="12700">
            <a:solidFill>
              <a:srgbClr val="E76F51"/>
            </a:solidFill>
            <a:prstDash val="solid"/>
          </a:ln>
        </p:spPr>
      </p:sp>
      <p:sp>
        <p:nvSpPr>
          <p:cNvPr id="20" name="Text 18"/>
          <p:cNvSpPr/>
          <p:nvPr/>
        </p:nvSpPr>
        <p:spPr>
          <a:xfrm>
            <a:off x="7178040" y="3291840"/>
            <a:ext cx="2103120" cy="777240"/>
          </a:xfrm>
          <a:prstGeom prst="rect">
            <a:avLst/>
          </a:prstGeom>
          <a:noFill/>
          <a:ln/>
        </p:spPr>
        <p:txBody>
          <a:bodyPr wrap="square" lIns="0" tIns="0" rIns="0" bIns="0" rtlCol="0" anchor="ctr"/>
          <a:lstStyle/>
          <a:p>
            <a:pPr algn="ctr" indent="0" marL="0">
              <a:buNone/>
            </a:pPr>
            <a:r>
              <a:rPr lang="en-US" sz="1250" b="1" dirty="0">
                <a:solidFill>
                  <a:srgbClr val="E76F51"/>
                </a:solidFill>
                <a:latin typeface="Calibri" pitchFamily="34" charset="0"/>
                <a:ea typeface="Calibri" pitchFamily="34" charset="-122"/>
                <a:cs typeface="Calibri" pitchFamily="34" charset="-120"/>
              </a:rPr>
              <a:t>WAL Writer</a:t>
            </a:r>
            <a:endParaRPr lang="en-US" sz="1250" dirty="0"/>
          </a:p>
        </p:txBody>
      </p:sp>
      <p:sp>
        <p:nvSpPr>
          <p:cNvPr id="21" name="Shape 19"/>
          <p:cNvSpPr/>
          <p:nvPr/>
        </p:nvSpPr>
        <p:spPr>
          <a:xfrm>
            <a:off x="6537960" y="3680460"/>
            <a:ext cx="640080" cy="914"/>
          </a:xfrm>
          <a:prstGeom prst="line">
            <a:avLst/>
          </a:prstGeom>
          <a:noFill/>
          <a:ln w="19050">
            <a:solidFill>
              <a:srgbClr val="F0BBA4"/>
            </a:solidFill>
            <a:prstDash val="solid"/>
            <a:tailEnd type="triangle"/>
          </a:ln>
        </p:spPr>
      </p:sp>
      <p:sp>
        <p:nvSpPr>
          <p:cNvPr id="22" name="Shape 20"/>
          <p:cNvSpPr/>
          <p:nvPr/>
        </p:nvSpPr>
        <p:spPr>
          <a:xfrm>
            <a:off x="9784080" y="2651760"/>
            <a:ext cx="1965960" cy="777240"/>
          </a:xfrm>
          <a:prstGeom prst="roundRect">
            <a:avLst>
              <a:gd name="adj" fmla="val 9412"/>
            </a:avLst>
          </a:prstGeom>
          <a:solidFill>
            <a:srgbClr val="16324F"/>
          </a:solidFill>
          <a:ln/>
        </p:spPr>
      </p:sp>
      <p:sp>
        <p:nvSpPr>
          <p:cNvPr id="23" name="Text 21"/>
          <p:cNvSpPr/>
          <p:nvPr/>
        </p:nvSpPr>
        <p:spPr>
          <a:xfrm>
            <a:off x="9784080" y="2651760"/>
            <a:ext cx="196596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Disk</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(data + WAL files)</a:t>
            </a:r>
            <a:endParaRPr lang="en-US" sz="1150" dirty="0"/>
          </a:p>
        </p:txBody>
      </p:sp>
      <p:sp>
        <p:nvSpPr>
          <p:cNvPr id="24" name="Shape 22"/>
          <p:cNvSpPr/>
          <p:nvPr/>
        </p:nvSpPr>
        <p:spPr>
          <a:xfrm>
            <a:off x="9281160" y="2400300"/>
            <a:ext cx="502920" cy="480060"/>
          </a:xfrm>
          <a:prstGeom prst="line">
            <a:avLst/>
          </a:prstGeom>
          <a:noFill/>
          <a:ln w="19050">
            <a:solidFill>
              <a:srgbClr val="8FA6B3"/>
            </a:solidFill>
            <a:prstDash val="solid"/>
            <a:tailEnd type="triangle"/>
          </a:ln>
        </p:spPr>
      </p:sp>
      <p:sp>
        <p:nvSpPr>
          <p:cNvPr id="25" name="Shape 23"/>
          <p:cNvSpPr/>
          <p:nvPr/>
        </p:nvSpPr>
        <p:spPr>
          <a:xfrm flipV="1">
            <a:off x="9281160" y="3200400"/>
            <a:ext cx="502920" cy="480060"/>
          </a:xfrm>
          <a:prstGeom prst="line">
            <a:avLst/>
          </a:prstGeom>
          <a:noFill/>
          <a:ln w="19050">
            <a:solidFill>
              <a:srgbClr val="8FA6B3"/>
            </a:solidFill>
            <a:prstDash val="solid"/>
            <a:tailEnd type="triangle"/>
          </a:ln>
        </p:spPr>
      </p:sp>
      <p:sp>
        <p:nvSpPr>
          <p:cNvPr id="26" name="Shape 24"/>
          <p:cNvSpPr/>
          <p:nvPr/>
        </p:nvSpPr>
        <p:spPr>
          <a:xfrm>
            <a:off x="365760" y="4709160"/>
            <a:ext cx="11430000" cy="1234440"/>
          </a:xfrm>
          <a:prstGeom prst="roundRect">
            <a:avLst>
              <a:gd name="adj" fmla="val 5926"/>
            </a:avLst>
          </a:prstGeom>
          <a:solidFill>
            <a:srgbClr val="F4F8FB"/>
          </a:solidFill>
          <a:ln w="12700">
            <a:solidFill>
              <a:srgbClr val="AFCFE6"/>
            </a:solidFill>
            <a:prstDash val="solid"/>
          </a:ln>
        </p:spPr>
      </p:sp>
      <p:sp>
        <p:nvSpPr>
          <p:cNvPr id="27" name="Text 25"/>
          <p:cNvSpPr/>
          <p:nvPr/>
        </p:nvSpPr>
        <p:spPr>
          <a:xfrm>
            <a:off x="594360" y="4846320"/>
            <a:ext cx="10972800" cy="960120"/>
          </a:xfrm>
          <a:prstGeom prst="rect">
            <a:avLst/>
          </a:prstGeom>
          <a:noFill/>
          <a:ln/>
        </p:spPr>
        <p:txBody>
          <a:bodyPr wrap="square" lIns="0" tIns="0" rIns="0" bIns="0" rtlCol="0" anchor="ctr"/>
          <a:lstStyle/>
          <a:p>
            <a:pPr indent="0" marL="0">
              <a:buNone/>
            </a:pPr>
            <a:r>
              <a:rPr lang="en-US" sz="1250" b="1" dirty="0">
                <a:solidFill>
                  <a:srgbClr val="336791"/>
                </a:solidFill>
                <a:latin typeface="Calibri" pitchFamily="34" charset="0"/>
                <a:ea typeface="Calibri" pitchFamily="34" charset="-122"/>
                <a:cs typeface="Calibri" pitchFamily="34" charset="-120"/>
              </a:rPr>
              <a:t>1  </a:t>
            </a:r>
            <a:pPr indent="0" marL="0">
              <a:buNone/>
            </a:pPr>
            <a:r>
              <a:rPr lang="en-US" sz="1250" dirty="0">
                <a:solidFill>
                  <a:srgbClr val="22303C"/>
                </a:solidFill>
                <a:latin typeface="Calibri" pitchFamily="34" charset="0"/>
                <a:ea typeface="Calibri" pitchFamily="34" charset="-122"/>
                <a:cs typeface="Calibri" pitchFamily="34" charset="-120"/>
              </a:rPr>
              <a:t>Backend reads/writes pages directly in shared buffers, and logs every change to WAL buffers first.   </a:t>
            </a:r>
            <a:pPr indent="0" marL="0">
              <a:buNone/>
            </a:pPr>
            <a:r>
              <a:rPr lang="en-US" sz="1250" b="1" dirty="0">
                <a:solidFill>
                  <a:srgbClr val="E76F51"/>
                </a:solidFill>
                <a:latin typeface="Calibri" pitchFamily="34" charset="0"/>
                <a:ea typeface="Calibri" pitchFamily="34" charset="-122"/>
                <a:cs typeface="Calibri" pitchFamily="34" charset="-120"/>
              </a:rPr>
              <a:t>2  </a:t>
            </a:r>
            <a:pPr indent="0" marL="0">
              <a:buNone/>
            </a:pPr>
            <a:r>
              <a:rPr lang="en-US" sz="1250" dirty="0">
                <a:solidFill>
                  <a:srgbClr val="22303C"/>
                </a:solidFill>
                <a:latin typeface="Calibri" pitchFamily="34" charset="0"/>
                <a:ea typeface="Calibri" pitchFamily="34" charset="-122"/>
                <a:cs typeface="Calibri" pitchFamily="34" charset="-120"/>
              </a:rPr>
              <a:t>Background processes asynchronously flush WAL and dirty pages to disk, so the client is not held up waiting for physical I/O.</a:t>
            </a:r>
            <a:endParaRPr lang="en-US" sz="1250" dirty="0"/>
          </a:p>
        </p:txBody>
      </p:sp>
      <p:sp>
        <p:nvSpPr>
          <p:cNvPr id="28" name="Text 26"/>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29" name="Text 27"/>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TUNING</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Configuration Parameters That Matter</a:t>
            </a:r>
            <a:endParaRPr lang="en-US" sz="3000" dirty="0"/>
          </a:p>
        </p:txBody>
      </p:sp>
      <p:sp>
        <p:nvSpPr>
          <p:cNvPr id="4" name="Text 2"/>
          <p:cNvSpPr/>
          <p:nvPr/>
        </p:nvSpPr>
        <p:spPr>
          <a:xfrm>
            <a:off x="457200" y="1298448"/>
            <a:ext cx="11247120" cy="54864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The process and memory concepts above map directly onto a handful of settings in postgresql.conf. Getting these right is one of the highest-leverage things you can do for performance.</a:t>
            </a:r>
            <a:endParaRPr lang="en-US" sz="1350" dirty="0"/>
          </a:p>
        </p:txBody>
      </p:sp>
      <p:sp>
        <p:nvSpPr>
          <p:cNvPr id="5" name="Shape 3"/>
          <p:cNvSpPr/>
          <p:nvPr/>
        </p:nvSpPr>
        <p:spPr>
          <a:xfrm>
            <a:off x="457200" y="2103120"/>
            <a:ext cx="2834640" cy="658368"/>
          </a:xfrm>
          <a:prstGeom prst="rect">
            <a:avLst/>
          </a:prstGeom>
          <a:solidFill>
            <a:srgbClr val="336791"/>
          </a:solidFill>
          <a:ln/>
        </p:spPr>
      </p:sp>
      <p:sp>
        <p:nvSpPr>
          <p:cNvPr id="6" name="Text 4"/>
          <p:cNvSpPr/>
          <p:nvPr/>
        </p:nvSpPr>
        <p:spPr>
          <a:xfrm>
            <a:off x="621792" y="2103120"/>
            <a:ext cx="256032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p>
        </p:txBody>
      </p:sp>
      <p:sp>
        <p:nvSpPr>
          <p:cNvPr id="7" name="Shape 5"/>
          <p:cNvSpPr/>
          <p:nvPr/>
        </p:nvSpPr>
        <p:spPr>
          <a:xfrm>
            <a:off x="3291840" y="2103120"/>
            <a:ext cx="3931920" cy="658368"/>
          </a:xfrm>
          <a:prstGeom prst="rect">
            <a:avLst/>
          </a:prstGeom>
          <a:solidFill>
            <a:srgbClr val="336791"/>
          </a:solidFill>
          <a:ln/>
        </p:spPr>
      </p:sp>
      <p:sp>
        <p:nvSpPr>
          <p:cNvPr id="8" name="Text 6"/>
          <p:cNvSpPr/>
          <p:nvPr/>
        </p:nvSpPr>
        <p:spPr>
          <a:xfrm>
            <a:off x="3456432" y="2103120"/>
            <a:ext cx="36576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Controls</a:t>
            </a:r>
            <a:endParaRPr lang="en-US" sz="1300" dirty="0"/>
          </a:p>
        </p:txBody>
      </p:sp>
      <p:sp>
        <p:nvSpPr>
          <p:cNvPr id="9" name="Shape 7"/>
          <p:cNvSpPr/>
          <p:nvPr/>
        </p:nvSpPr>
        <p:spPr>
          <a:xfrm>
            <a:off x="7223760" y="2103120"/>
            <a:ext cx="4526280" cy="658368"/>
          </a:xfrm>
          <a:prstGeom prst="rect">
            <a:avLst/>
          </a:prstGeom>
          <a:solidFill>
            <a:srgbClr val="336791"/>
          </a:solidFill>
          <a:ln/>
        </p:spPr>
      </p:sp>
      <p:sp>
        <p:nvSpPr>
          <p:cNvPr id="10" name="Text 8"/>
          <p:cNvSpPr/>
          <p:nvPr/>
        </p:nvSpPr>
        <p:spPr>
          <a:xfrm>
            <a:off x="7388352" y="2103120"/>
            <a:ext cx="42519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Guidance</a:t>
            </a:r>
            <a:endParaRPr lang="en-US" sz="1300" dirty="0"/>
          </a:p>
        </p:txBody>
      </p:sp>
      <p:sp>
        <p:nvSpPr>
          <p:cNvPr id="11" name="Shape 9"/>
          <p:cNvSpPr/>
          <p:nvPr/>
        </p:nvSpPr>
        <p:spPr>
          <a:xfrm>
            <a:off x="457200" y="2761488"/>
            <a:ext cx="2834640" cy="658368"/>
          </a:xfrm>
          <a:prstGeom prst="rect">
            <a:avLst/>
          </a:prstGeom>
          <a:solidFill>
            <a:srgbClr val="FFFFFF"/>
          </a:solidFill>
          <a:ln w="9525">
            <a:solidFill>
              <a:srgbClr val="E4EDF3"/>
            </a:solidFill>
            <a:prstDash val="solid"/>
          </a:ln>
        </p:spPr>
      </p:sp>
      <p:sp>
        <p:nvSpPr>
          <p:cNvPr id="12" name="Text 10"/>
          <p:cNvSpPr/>
          <p:nvPr/>
        </p:nvSpPr>
        <p:spPr>
          <a:xfrm>
            <a:off x="621792" y="2761488"/>
            <a:ext cx="2560320" cy="658368"/>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shared_buffers</a:t>
            </a:r>
            <a:endParaRPr lang="en-US" sz="1200" dirty="0"/>
          </a:p>
        </p:txBody>
      </p:sp>
      <p:sp>
        <p:nvSpPr>
          <p:cNvPr id="13" name="Shape 11"/>
          <p:cNvSpPr/>
          <p:nvPr/>
        </p:nvSpPr>
        <p:spPr>
          <a:xfrm>
            <a:off x="3291840" y="2761488"/>
            <a:ext cx="3931920" cy="658368"/>
          </a:xfrm>
          <a:prstGeom prst="rect">
            <a:avLst/>
          </a:prstGeom>
          <a:solidFill>
            <a:srgbClr val="FFFFFF"/>
          </a:solidFill>
          <a:ln w="9525">
            <a:solidFill>
              <a:srgbClr val="E4EDF3"/>
            </a:solidFill>
            <a:prstDash val="solid"/>
          </a:ln>
        </p:spPr>
      </p:sp>
      <p:sp>
        <p:nvSpPr>
          <p:cNvPr id="14" name="Text 12"/>
          <p:cNvSpPr/>
          <p:nvPr/>
        </p:nvSpPr>
        <p:spPr>
          <a:xfrm>
            <a:off x="3456432" y="2761488"/>
            <a:ext cx="365760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Size of the shared buffer cache</a:t>
            </a:r>
            <a:endParaRPr lang="en-US" sz="1150" dirty="0"/>
          </a:p>
        </p:txBody>
      </p:sp>
      <p:sp>
        <p:nvSpPr>
          <p:cNvPr id="15" name="Shape 13"/>
          <p:cNvSpPr/>
          <p:nvPr/>
        </p:nvSpPr>
        <p:spPr>
          <a:xfrm>
            <a:off x="7223760" y="2761488"/>
            <a:ext cx="4526280" cy="658368"/>
          </a:xfrm>
          <a:prstGeom prst="rect">
            <a:avLst/>
          </a:prstGeom>
          <a:solidFill>
            <a:srgbClr val="FFFFFF"/>
          </a:solidFill>
          <a:ln w="9525">
            <a:solidFill>
              <a:srgbClr val="E4EDF3"/>
            </a:solidFill>
            <a:prstDash val="solid"/>
          </a:ln>
        </p:spPr>
      </p:sp>
      <p:sp>
        <p:nvSpPr>
          <p:cNvPr id="16" name="Text 14"/>
          <p:cNvSpPr/>
          <p:nvPr/>
        </p:nvSpPr>
        <p:spPr>
          <a:xfrm>
            <a:off x="7388352" y="2761488"/>
            <a:ext cx="425196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Roughly 25% of system RAM as a starting point</a:t>
            </a:r>
            <a:endParaRPr lang="en-US" sz="1150" dirty="0"/>
          </a:p>
        </p:txBody>
      </p:sp>
      <p:sp>
        <p:nvSpPr>
          <p:cNvPr id="17" name="Shape 15"/>
          <p:cNvSpPr/>
          <p:nvPr/>
        </p:nvSpPr>
        <p:spPr>
          <a:xfrm>
            <a:off x="457200" y="3419856"/>
            <a:ext cx="2834640" cy="658368"/>
          </a:xfrm>
          <a:prstGeom prst="rect">
            <a:avLst/>
          </a:prstGeom>
          <a:solidFill>
            <a:srgbClr val="F4F8FB"/>
          </a:solidFill>
          <a:ln w="9525">
            <a:solidFill>
              <a:srgbClr val="E4EDF3"/>
            </a:solidFill>
            <a:prstDash val="solid"/>
          </a:ln>
        </p:spPr>
      </p:sp>
      <p:sp>
        <p:nvSpPr>
          <p:cNvPr id="18" name="Text 16"/>
          <p:cNvSpPr/>
          <p:nvPr/>
        </p:nvSpPr>
        <p:spPr>
          <a:xfrm>
            <a:off x="621792" y="3419856"/>
            <a:ext cx="2560320" cy="658368"/>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work_mem</a:t>
            </a:r>
            <a:endParaRPr lang="en-US" sz="1200" dirty="0"/>
          </a:p>
        </p:txBody>
      </p:sp>
      <p:sp>
        <p:nvSpPr>
          <p:cNvPr id="19" name="Shape 17"/>
          <p:cNvSpPr/>
          <p:nvPr/>
        </p:nvSpPr>
        <p:spPr>
          <a:xfrm>
            <a:off x="3291840" y="3419856"/>
            <a:ext cx="3931920" cy="658368"/>
          </a:xfrm>
          <a:prstGeom prst="rect">
            <a:avLst/>
          </a:prstGeom>
          <a:solidFill>
            <a:srgbClr val="F4F8FB"/>
          </a:solidFill>
          <a:ln w="9525">
            <a:solidFill>
              <a:srgbClr val="E4EDF3"/>
            </a:solidFill>
            <a:prstDash val="solid"/>
          </a:ln>
        </p:spPr>
      </p:sp>
      <p:sp>
        <p:nvSpPr>
          <p:cNvPr id="20" name="Text 18"/>
          <p:cNvSpPr/>
          <p:nvPr/>
        </p:nvSpPr>
        <p:spPr>
          <a:xfrm>
            <a:off x="3456432" y="3419856"/>
            <a:ext cx="365760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Per-operation sort/hash memory</a:t>
            </a:r>
            <a:endParaRPr lang="en-US" sz="1150" dirty="0"/>
          </a:p>
        </p:txBody>
      </p:sp>
      <p:sp>
        <p:nvSpPr>
          <p:cNvPr id="21" name="Shape 19"/>
          <p:cNvSpPr/>
          <p:nvPr/>
        </p:nvSpPr>
        <p:spPr>
          <a:xfrm>
            <a:off x="7223760" y="3419856"/>
            <a:ext cx="4526280" cy="658368"/>
          </a:xfrm>
          <a:prstGeom prst="rect">
            <a:avLst/>
          </a:prstGeom>
          <a:solidFill>
            <a:srgbClr val="F4F8FB"/>
          </a:solidFill>
          <a:ln w="9525">
            <a:solidFill>
              <a:srgbClr val="E4EDF3"/>
            </a:solidFill>
            <a:prstDash val="solid"/>
          </a:ln>
        </p:spPr>
      </p:sp>
      <p:sp>
        <p:nvSpPr>
          <p:cNvPr id="22" name="Text 20"/>
          <p:cNvSpPr/>
          <p:nvPr/>
        </p:nvSpPr>
        <p:spPr>
          <a:xfrm>
            <a:off x="7388352" y="3419856"/>
            <a:ext cx="425196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Tune carefully — used per sort/hash, can multiply per query</a:t>
            </a:r>
            <a:endParaRPr lang="en-US" sz="1150" dirty="0"/>
          </a:p>
        </p:txBody>
      </p:sp>
      <p:sp>
        <p:nvSpPr>
          <p:cNvPr id="23" name="Shape 21"/>
          <p:cNvSpPr/>
          <p:nvPr/>
        </p:nvSpPr>
        <p:spPr>
          <a:xfrm>
            <a:off x="457200" y="4078224"/>
            <a:ext cx="2834640" cy="658368"/>
          </a:xfrm>
          <a:prstGeom prst="rect">
            <a:avLst/>
          </a:prstGeom>
          <a:solidFill>
            <a:srgbClr val="FFFFFF"/>
          </a:solidFill>
          <a:ln w="9525">
            <a:solidFill>
              <a:srgbClr val="E4EDF3"/>
            </a:solidFill>
            <a:prstDash val="solid"/>
          </a:ln>
        </p:spPr>
      </p:sp>
      <p:sp>
        <p:nvSpPr>
          <p:cNvPr id="24" name="Text 22"/>
          <p:cNvSpPr/>
          <p:nvPr/>
        </p:nvSpPr>
        <p:spPr>
          <a:xfrm>
            <a:off x="621792" y="4078224"/>
            <a:ext cx="2560320" cy="658368"/>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max_connections</a:t>
            </a:r>
            <a:endParaRPr lang="en-US" sz="1200" dirty="0"/>
          </a:p>
        </p:txBody>
      </p:sp>
      <p:sp>
        <p:nvSpPr>
          <p:cNvPr id="25" name="Shape 23"/>
          <p:cNvSpPr/>
          <p:nvPr/>
        </p:nvSpPr>
        <p:spPr>
          <a:xfrm>
            <a:off x="3291840" y="4078224"/>
            <a:ext cx="3931920" cy="658368"/>
          </a:xfrm>
          <a:prstGeom prst="rect">
            <a:avLst/>
          </a:prstGeom>
          <a:solidFill>
            <a:srgbClr val="FFFFFF"/>
          </a:solidFill>
          <a:ln w="9525">
            <a:solidFill>
              <a:srgbClr val="E4EDF3"/>
            </a:solidFill>
            <a:prstDash val="solid"/>
          </a:ln>
        </p:spPr>
      </p:sp>
      <p:sp>
        <p:nvSpPr>
          <p:cNvPr id="26" name="Text 24"/>
          <p:cNvSpPr/>
          <p:nvPr/>
        </p:nvSpPr>
        <p:spPr>
          <a:xfrm>
            <a:off x="3456432" y="4078224"/>
            <a:ext cx="365760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Max concurrent backend processes</a:t>
            </a:r>
            <a:endParaRPr lang="en-US" sz="1150" dirty="0"/>
          </a:p>
        </p:txBody>
      </p:sp>
      <p:sp>
        <p:nvSpPr>
          <p:cNvPr id="27" name="Shape 25"/>
          <p:cNvSpPr/>
          <p:nvPr/>
        </p:nvSpPr>
        <p:spPr>
          <a:xfrm>
            <a:off x="7223760" y="4078224"/>
            <a:ext cx="4526280" cy="658368"/>
          </a:xfrm>
          <a:prstGeom prst="rect">
            <a:avLst/>
          </a:prstGeom>
          <a:solidFill>
            <a:srgbClr val="FFFFFF"/>
          </a:solidFill>
          <a:ln w="9525">
            <a:solidFill>
              <a:srgbClr val="E4EDF3"/>
            </a:solidFill>
            <a:prstDash val="solid"/>
          </a:ln>
        </p:spPr>
      </p:sp>
      <p:sp>
        <p:nvSpPr>
          <p:cNvPr id="28" name="Text 26"/>
          <p:cNvSpPr/>
          <p:nvPr/>
        </p:nvSpPr>
        <p:spPr>
          <a:xfrm>
            <a:off x="7388352" y="4078224"/>
            <a:ext cx="425196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Keep modest; pair with a connection pooler</a:t>
            </a:r>
            <a:endParaRPr lang="en-US" sz="1150" dirty="0"/>
          </a:p>
        </p:txBody>
      </p:sp>
      <p:sp>
        <p:nvSpPr>
          <p:cNvPr id="29" name="Shape 27"/>
          <p:cNvSpPr/>
          <p:nvPr/>
        </p:nvSpPr>
        <p:spPr>
          <a:xfrm>
            <a:off x="457200" y="4736592"/>
            <a:ext cx="2834640" cy="658368"/>
          </a:xfrm>
          <a:prstGeom prst="rect">
            <a:avLst/>
          </a:prstGeom>
          <a:solidFill>
            <a:srgbClr val="F4F8FB"/>
          </a:solidFill>
          <a:ln w="9525">
            <a:solidFill>
              <a:srgbClr val="E4EDF3"/>
            </a:solidFill>
            <a:prstDash val="solid"/>
          </a:ln>
        </p:spPr>
      </p:sp>
      <p:sp>
        <p:nvSpPr>
          <p:cNvPr id="30" name="Text 28"/>
          <p:cNvSpPr/>
          <p:nvPr/>
        </p:nvSpPr>
        <p:spPr>
          <a:xfrm>
            <a:off x="621792" y="4736592"/>
            <a:ext cx="2560320" cy="658368"/>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wal_buffers</a:t>
            </a:r>
            <a:endParaRPr lang="en-US" sz="1200" dirty="0"/>
          </a:p>
        </p:txBody>
      </p:sp>
      <p:sp>
        <p:nvSpPr>
          <p:cNvPr id="31" name="Shape 29"/>
          <p:cNvSpPr/>
          <p:nvPr/>
        </p:nvSpPr>
        <p:spPr>
          <a:xfrm>
            <a:off x="3291840" y="4736592"/>
            <a:ext cx="3931920" cy="658368"/>
          </a:xfrm>
          <a:prstGeom prst="rect">
            <a:avLst/>
          </a:prstGeom>
          <a:solidFill>
            <a:srgbClr val="F4F8FB"/>
          </a:solidFill>
          <a:ln w="9525">
            <a:solidFill>
              <a:srgbClr val="E4EDF3"/>
            </a:solidFill>
            <a:prstDash val="solid"/>
          </a:ln>
        </p:spPr>
      </p:sp>
      <p:sp>
        <p:nvSpPr>
          <p:cNvPr id="32" name="Text 30"/>
          <p:cNvSpPr/>
          <p:nvPr/>
        </p:nvSpPr>
        <p:spPr>
          <a:xfrm>
            <a:off x="3456432" y="4736592"/>
            <a:ext cx="365760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Size of the WAL buffer area</a:t>
            </a:r>
            <a:endParaRPr lang="en-US" sz="1150" dirty="0"/>
          </a:p>
        </p:txBody>
      </p:sp>
      <p:sp>
        <p:nvSpPr>
          <p:cNvPr id="33" name="Shape 31"/>
          <p:cNvSpPr/>
          <p:nvPr/>
        </p:nvSpPr>
        <p:spPr>
          <a:xfrm>
            <a:off x="7223760" y="4736592"/>
            <a:ext cx="4526280" cy="658368"/>
          </a:xfrm>
          <a:prstGeom prst="rect">
            <a:avLst/>
          </a:prstGeom>
          <a:solidFill>
            <a:srgbClr val="F4F8FB"/>
          </a:solidFill>
          <a:ln w="9525">
            <a:solidFill>
              <a:srgbClr val="E4EDF3"/>
            </a:solidFill>
            <a:prstDash val="solid"/>
          </a:ln>
        </p:spPr>
      </p:sp>
      <p:sp>
        <p:nvSpPr>
          <p:cNvPr id="34" name="Text 32"/>
          <p:cNvSpPr/>
          <p:nvPr/>
        </p:nvSpPr>
        <p:spPr>
          <a:xfrm>
            <a:off x="7388352" y="4736592"/>
            <a:ext cx="425196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Usually fine on auto (-1); Postgres sizes it from shared_buffers</a:t>
            </a:r>
            <a:endParaRPr lang="en-US" sz="1150" dirty="0"/>
          </a:p>
        </p:txBody>
      </p:sp>
      <p:sp>
        <p:nvSpPr>
          <p:cNvPr id="35" name="Shape 33"/>
          <p:cNvSpPr/>
          <p:nvPr/>
        </p:nvSpPr>
        <p:spPr>
          <a:xfrm>
            <a:off x="457200" y="5394960"/>
            <a:ext cx="2834640" cy="658368"/>
          </a:xfrm>
          <a:prstGeom prst="rect">
            <a:avLst/>
          </a:prstGeom>
          <a:solidFill>
            <a:srgbClr val="FFFFFF"/>
          </a:solidFill>
          <a:ln w="9525">
            <a:solidFill>
              <a:srgbClr val="E4EDF3"/>
            </a:solidFill>
            <a:prstDash val="solid"/>
          </a:ln>
        </p:spPr>
      </p:sp>
      <p:sp>
        <p:nvSpPr>
          <p:cNvPr id="36" name="Text 34"/>
          <p:cNvSpPr/>
          <p:nvPr/>
        </p:nvSpPr>
        <p:spPr>
          <a:xfrm>
            <a:off x="621792" y="5394960"/>
            <a:ext cx="2560320" cy="658368"/>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maintenance_work_mem</a:t>
            </a:r>
            <a:endParaRPr lang="en-US" sz="1200" dirty="0"/>
          </a:p>
        </p:txBody>
      </p:sp>
      <p:sp>
        <p:nvSpPr>
          <p:cNvPr id="37" name="Shape 35"/>
          <p:cNvSpPr/>
          <p:nvPr/>
        </p:nvSpPr>
        <p:spPr>
          <a:xfrm>
            <a:off x="3291840" y="5394960"/>
            <a:ext cx="3931920" cy="658368"/>
          </a:xfrm>
          <a:prstGeom prst="rect">
            <a:avLst/>
          </a:prstGeom>
          <a:solidFill>
            <a:srgbClr val="FFFFFF"/>
          </a:solidFill>
          <a:ln w="9525">
            <a:solidFill>
              <a:srgbClr val="E4EDF3"/>
            </a:solidFill>
            <a:prstDash val="solid"/>
          </a:ln>
        </p:spPr>
      </p:sp>
      <p:sp>
        <p:nvSpPr>
          <p:cNvPr id="38" name="Text 36"/>
          <p:cNvSpPr/>
          <p:nvPr/>
        </p:nvSpPr>
        <p:spPr>
          <a:xfrm>
            <a:off x="3456432" y="5394960"/>
            <a:ext cx="365760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Memory for VACUUM / CREATE INDEX</a:t>
            </a:r>
            <a:endParaRPr lang="en-US" sz="1150" dirty="0"/>
          </a:p>
        </p:txBody>
      </p:sp>
      <p:sp>
        <p:nvSpPr>
          <p:cNvPr id="39" name="Shape 37"/>
          <p:cNvSpPr/>
          <p:nvPr/>
        </p:nvSpPr>
        <p:spPr>
          <a:xfrm>
            <a:off x="7223760" y="5394960"/>
            <a:ext cx="4526280" cy="658368"/>
          </a:xfrm>
          <a:prstGeom prst="rect">
            <a:avLst/>
          </a:prstGeom>
          <a:solidFill>
            <a:srgbClr val="FFFFFF"/>
          </a:solidFill>
          <a:ln w="9525">
            <a:solidFill>
              <a:srgbClr val="E4EDF3"/>
            </a:solidFill>
            <a:prstDash val="solid"/>
          </a:ln>
        </p:spPr>
      </p:sp>
      <p:sp>
        <p:nvSpPr>
          <p:cNvPr id="40" name="Text 38"/>
          <p:cNvSpPr/>
          <p:nvPr/>
        </p:nvSpPr>
        <p:spPr>
          <a:xfrm>
            <a:off x="7388352" y="5394960"/>
            <a:ext cx="4251960" cy="658368"/>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Raise for maintenance-heavy or bulk-load workloads</a:t>
            </a:r>
            <a:endParaRPr lang="en-US" sz="1150" dirty="0"/>
          </a:p>
        </p:txBody>
      </p:sp>
      <p:sp>
        <p:nvSpPr>
          <p:cNvPr id="41" name="Text 39"/>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Architecture  |  Process &amp; Memory</a:t>
            </a:r>
            <a:endParaRPr lang="en-US" sz="1000" dirty="0"/>
          </a:p>
        </p:txBody>
      </p:sp>
      <p:sp>
        <p:nvSpPr>
          <p:cNvPr id="42" name="Text 40"/>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640080" y="594360"/>
            <a:ext cx="4572000" cy="320040"/>
          </a:xfrm>
          <a:prstGeom prst="rect">
            <a:avLst/>
          </a:prstGeom>
          <a:noFill/>
          <a:ln/>
        </p:spPr>
        <p:txBody>
          <a:bodyPr wrap="square" lIns="0" tIns="0" rIns="0" bIns="0" rtlCol="0" anchor="ctr"/>
          <a:lstStyle/>
          <a:p>
            <a:pPr indent="0" marL="0">
              <a:buNone/>
            </a:pPr>
            <a:r>
              <a:rPr lang="en-US" sz="1300" b="1" spc="200" kern="0" dirty="0">
                <a:solidFill>
                  <a:srgbClr val="AFCFE6"/>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640080" y="896112"/>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640080" y="1874520"/>
            <a:ext cx="502920" cy="502920"/>
          </a:xfrm>
          <a:prstGeom prst="ellipse">
            <a:avLst/>
          </a:prstGeom>
          <a:solidFill>
            <a:srgbClr val="2A5A82"/>
          </a:solidFill>
          <a:ln/>
        </p:spPr>
      </p:sp>
      <p:sp>
        <p:nvSpPr>
          <p:cNvPr id="5" name="Text 3"/>
          <p:cNvSpPr/>
          <p:nvPr/>
        </p:nvSpPr>
        <p:spPr>
          <a:xfrm>
            <a:off x="640080" y="18745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6" name="Text 4"/>
          <p:cNvSpPr/>
          <p:nvPr/>
        </p:nvSpPr>
        <p:spPr>
          <a:xfrm>
            <a:off x="1325880" y="18288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process per connection</a:t>
            </a:r>
            <a:endParaRPr lang="en-US" sz="1500" dirty="0"/>
          </a:p>
        </p:txBody>
      </p:sp>
      <p:sp>
        <p:nvSpPr>
          <p:cNvPr id="7" name="Text 5"/>
          <p:cNvSpPr/>
          <p:nvPr/>
        </p:nvSpPr>
        <p:spPr>
          <a:xfrm>
            <a:off x="1325880" y="21945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Isolates crashes and simplifies the model, at the cost of higher per-connection overhead than threads.</a:t>
            </a:r>
            <a:endParaRPr lang="en-US" sz="1200" dirty="0"/>
          </a:p>
        </p:txBody>
      </p:sp>
      <p:sp>
        <p:nvSpPr>
          <p:cNvPr id="8" name="Shape 6"/>
          <p:cNvSpPr/>
          <p:nvPr/>
        </p:nvSpPr>
        <p:spPr>
          <a:xfrm>
            <a:off x="6355080" y="1874520"/>
            <a:ext cx="502920" cy="502920"/>
          </a:xfrm>
          <a:prstGeom prst="ellipse">
            <a:avLst/>
          </a:prstGeom>
          <a:solidFill>
            <a:srgbClr val="2A5A82"/>
          </a:solidFill>
          <a:ln/>
        </p:spPr>
      </p:sp>
      <p:sp>
        <p:nvSpPr>
          <p:cNvPr id="9" name="Text 7"/>
          <p:cNvSpPr/>
          <p:nvPr/>
        </p:nvSpPr>
        <p:spPr>
          <a:xfrm>
            <a:off x="6355080" y="18745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0" name="Text 8"/>
          <p:cNvSpPr/>
          <p:nvPr/>
        </p:nvSpPr>
        <p:spPr>
          <a:xfrm>
            <a:off x="7040880" y="18288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Shared memory ties processes together</a:t>
            </a:r>
            <a:endParaRPr lang="en-US" sz="1500" dirty="0"/>
          </a:p>
        </p:txBody>
      </p:sp>
      <p:sp>
        <p:nvSpPr>
          <p:cNvPr id="11" name="Text 9"/>
          <p:cNvSpPr/>
          <p:nvPr/>
        </p:nvSpPr>
        <p:spPr>
          <a:xfrm>
            <a:off x="7040880" y="21945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Shared buffers, WAL buffers, and the lock table let independent backends cooperate safely.</a:t>
            </a:r>
            <a:endParaRPr lang="en-US" sz="1200" dirty="0"/>
          </a:p>
        </p:txBody>
      </p:sp>
      <p:sp>
        <p:nvSpPr>
          <p:cNvPr id="12" name="Shape 10"/>
          <p:cNvSpPr/>
          <p:nvPr/>
        </p:nvSpPr>
        <p:spPr>
          <a:xfrm>
            <a:off x="640080" y="3246120"/>
            <a:ext cx="502920" cy="502920"/>
          </a:xfrm>
          <a:prstGeom prst="ellipse">
            <a:avLst/>
          </a:prstGeom>
          <a:solidFill>
            <a:srgbClr val="2A5A82"/>
          </a:solidFill>
          <a:ln/>
        </p:spPr>
      </p:sp>
      <p:sp>
        <p:nvSpPr>
          <p:cNvPr id="13" name="Text 11"/>
          <p:cNvSpPr/>
          <p:nvPr/>
        </p:nvSpPr>
        <p:spPr>
          <a:xfrm>
            <a:off x="640080" y="32461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4" name="Text 12"/>
          <p:cNvSpPr/>
          <p:nvPr/>
        </p:nvSpPr>
        <p:spPr>
          <a:xfrm>
            <a:off x="1325880" y="32004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Background processes protect durability</a:t>
            </a:r>
            <a:endParaRPr lang="en-US" sz="1500" dirty="0"/>
          </a:p>
        </p:txBody>
      </p:sp>
      <p:sp>
        <p:nvSpPr>
          <p:cNvPr id="15" name="Text 13"/>
          <p:cNvSpPr/>
          <p:nvPr/>
        </p:nvSpPr>
        <p:spPr>
          <a:xfrm>
            <a:off x="1325880" y="35661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Checkpointer, WAL writer, and autovacuum work continuously so applications don't have to.</a:t>
            </a:r>
            <a:endParaRPr lang="en-US" sz="1200" dirty="0"/>
          </a:p>
        </p:txBody>
      </p:sp>
      <p:sp>
        <p:nvSpPr>
          <p:cNvPr id="16" name="Shape 14"/>
          <p:cNvSpPr/>
          <p:nvPr/>
        </p:nvSpPr>
        <p:spPr>
          <a:xfrm>
            <a:off x="6355080" y="3246120"/>
            <a:ext cx="502920" cy="502920"/>
          </a:xfrm>
          <a:prstGeom prst="ellipse">
            <a:avLst/>
          </a:prstGeom>
          <a:solidFill>
            <a:srgbClr val="2A5A82"/>
          </a:solidFill>
          <a:ln/>
        </p:spPr>
      </p:sp>
      <p:sp>
        <p:nvSpPr>
          <p:cNvPr id="17" name="Text 15"/>
          <p:cNvSpPr/>
          <p:nvPr/>
        </p:nvSpPr>
        <p:spPr>
          <a:xfrm>
            <a:off x="6355080" y="32461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4</a:t>
            </a:r>
            <a:endParaRPr lang="en-US" sz="1210" dirty="0"/>
          </a:p>
        </p:txBody>
      </p:sp>
      <p:sp>
        <p:nvSpPr>
          <p:cNvPr id="18" name="Text 16"/>
          <p:cNvSpPr/>
          <p:nvPr/>
        </p:nvSpPr>
        <p:spPr>
          <a:xfrm>
            <a:off x="7040880" y="32004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Sizing memory is a core tuning task</a:t>
            </a:r>
            <a:endParaRPr lang="en-US" sz="1500" dirty="0"/>
          </a:p>
        </p:txBody>
      </p:sp>
      <p:sp>
        <p:nvSpPr>
          <p:cNvPr id="19" name="Text 17"/>
          <p:cNvSpPr/>
          <p:nvPr/>
        </p:nvSpPr>
        <p:spPr>
          <a:xfrm>
            <a:off x="7040880" y="35661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shared_buffers, work_mem, and max_connections are usually the first levers worth adjusting.</a:t>
            </a:r>
            <a:endParaRPr lang="en-US" sz="1200" dirty="0"/>
          </a:p>
        </p:txBody>
      </p:sp>
      <p:sp>
        <p:nvSpPr>
          <p:cNvPr id="20" name="Text 18"/>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9FB4C4"/>
                </a:solidFill>
                <a:latin typeface="Calibri" pitchFamily="34" charset="0"/>
                <a:ea typeface="Calibri" pitchFamily="34" charset="-122"/>
                <a:cs typeface="Calibri" pitchFamily="34" charset="-120"/>
              </a:rPr>
              <a:t>PostgreSQL Architecture  |  Process &amp; Memory</a:t>
            </a:r>
            <a:endParaRPr lang="en-US" sz="1000" dirty="0"/>
          </a:p>
        </p:txBody>
      </p:sp>
      <p:sp>
        <p:nvSpPr>
          <p:cNvPr id="21" name="Text 19"/>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9FB4C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2026-09-20T23:39:41Z</dcterms:created>
  <dcterms:modified xsi:type="dcterms:W3CDTF">2026-09-20T23:39:41Z</dcterms:modified>
</cp:coreProperties>
</file>