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deck covers three practical, everyday-useful pieces of working with PostgreSQL: the hard limits built into the engine (identifier length, table size, connection counts, and so on), the psql command-line client and the meta-commands that make it fast to explore a database, and schemas — the namespaces that organize tables, views, and functions inside a database. These three topics come up constantly in real-world Postgres work: sizing a database design, debugging from the command line, and structuring a multi-team or multi-tenant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Three sections, each self-contained: DB Limits covers the fixed engineering constraints baked into Postgres' on-disk format and data types (not configuration — you design around them). psql Commands covers connecting with the psql client and the backslash meta-commands that let you explore a database's structure without writing SQL. Schemas covers the namespace layer inside a database that groups objects and, via search_path, controls how unqualified names get resolved. The sections don't depend on each other, so feel free to jump to whichever is most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section before showing numbers: Postgres' limits come from its internal representation — for example, object names are stored in a fixed-size field, and table data is organized into fixed-size 8KB pages — so these ceilings are a consequence of engineering choices, not a dial you can turn. Grouping them into four categories helps: identifier limits affect how you name things; row/table limits affect overall schema and storage design; field limits affect how large a single value (like a big JSON blob) can be; and connection limits affect your application's concurrency and pooling strategy. The next slide gives the concrete numbers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numbers: identifier length is 63 bytes by default (the NAMEDATALEN setting) — a longer table or column name gets silently truncated, which can cause confusing collisions. The columns-per-table ceiling is around 1,600 in the best case, but the practical number is much lower and depends on column types, since wider types consume more of a row's available space. A single table can hold up to about 32 terabytes given the default page size. A single field's value — one row, one column — can hold up to 1 GB, and Postgres automatically moves very large values out-of-line into TOAST (The Oversized-Attribute Storage Technique) storage. There is no hard cap on database size — you're limited by disk. Connections are capped by max_connections, defaulting to 100; because every connection is a real OS process with its own memory footprint, most production setups put a connection pooler like PgBouncer in front of Postgres rather than raising this very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psql behaves like any Postgres client at the protocol level — it opens a TCP connection (port 5432 by default) to the server, and the server forks a dedicated backend process to handle that session, exactly as covered in the process-architecture material. What makes psql special for humans is its meta-commands: lines starting with a backslash, like \dt or \d, which psql itself intercepts and turns into catalog queries rather than sending them to the server as SQL. There are three common ways to connect shown here: flag-based (-h host -U user -d dbname, prompting for a password), a full connection URI which is convenient for scripts and app configs, or simply psql dbname, which relies on your OS username and local defaults (usually via a Unix socket, no password needed for local trust setups).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commands cover most day-to-day exploration. \l lists every database on the server you're connected to. \c switches your session to a different database (you can't query across databases directly in Postgres, so this is how you move between them). \dt lists the tables visible in your current search_path / schema. \d followed by a table name is probably the single most-used meta-command — it shows every column with its type, default, nullability, plus indexes, foreign keys, and other constraints on that table. \dn lists the schemas in the current database, which becomes especially relevant in the Schemas section later. \du lists roles and shows their attributes, like whether they can log in, create databases, or are superusers. \q exits psql. Most of these have longer forms too — for example \d+ shows additional detail like storage and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commands turn psql from a query box into a genuine working tool. \x toggles expanded display, printing each row as a stacked list of column-name/value pairs instead of a wide table — invaluable when a table has many columns or long text values. \timing turns on a small report of query duration after every statement, useful for quick performance checks. \i runs a .sql script file, which is how you'd apply a migration or a saved set of commands. \e opens your current query buffer in your terminal's configured editor (via the EDITOR environment variable), handy for multi-line edits. \copy moves data between a file on your local machine and a table — unlike the server-side COPY SQL command, \copy runs through the client, so it works even if the file lives on your laptop rather than the database server. \watch N re-executes the last query every N seconds, which is a lightweight way to watch a changing value, like a row count, without writing a monitoring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one database containing three schemas: public (the default, created automatically), app, and reporting, each holding its own tables, views, or functions. Schemas exist one level below the database in Postgres' object hierarchy: a client connects to exactly one database at a time, and inside that database, objects are organized into schemas. This is different from some other database systems where 'schema' and 'database' are used almost interchangeably — in Postgres they are distinct levels. Common reasons to use multiple schemas: separating application tables from reporting or audit views, giving each team or module its own namespace to avoid naming collisions, or isolating tenants in a multi-tenant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more subtle but important schema concepts. When you write an unqualified name like 'orders' in a query, Postgres has to decide which schema you meant if more than one schema has a table with that name. It does this using search_path, a session setting that lists schemas in priority order — the default is usually "$user", public, meaning it first checks a schema matching your current username (rarely present), then falls back to public. Postgres walks the list in order and uses the first matching object it finds; if none match, you get a 'relation does not exist' error even though the table exists somewhere in the database. The safest alternative, especially inside functions, views, and scripts that might run under different search_path settings, is to always use a fully qualified name like app.orders — this bypasses search_path entirely and always points at exactly the object you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slide for schema management. CREATE SCHEMA makes a new namespace; adding AUTHORIZATION lets you set its owner in the same statement, which matters for permissions. ALTER SCHEMA ... RENAME TO changes its name without touching the objects inside. DROP SCHEMA ... CASCADE is powerful and destructive — CASCADE means every table, view, and function inside the schema is dropped along with it, so it's worth double-checking before running in production. SET search_path TO changes name resolution for the current session only (add it to a role or database default to make it persistent). GRANT USAGE ON SCHEMA is often overlooked: even if a role has permission on a table, it also needs USAGE on the schema that contains it, or it won't even be able to 'see' the table to query it. Finally, \dn from psql is the quickest way to list every schema in the current database along with its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four points: (1) Postgres' built-in limits — identifier length, table size, field size, and max_connections — come from its internal engineering and cannot be configured away, so they should factor into schema design and connection-pooling decisions early. (2) psql's meta-commands (\d, \dt, \l, \dn, \du) are the fastest way to answer 'what does this database look like right now', far quicker than querying information_schema or pg_catalog by hand. (3) Schemas are a namespace layer inside a database — one database can hold many schemas, which is a clean way to separate applications, teams, or tenants. (4) search_path determines how unqualified object names resolve, which is convenient interactively but can be ambiguous in code; qualifying names explicitly (schema.table) removes any doubt in scripts, views, and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822960" y="2057400"/>
            <a:ext cx="7315200" cy="320040"/>
          </a:xfrm>
          <a:prstGeom prst="rect">
            <a:avLst/>
          </a:prstGeom>
          <a:noFill/>
          <a:ln/>
        </p:spPr>
        <p:txBody>
          <a:bodyPr wrap="square" lIns="0" tIns="0" rIns="0" bIns="0" rtlCol="0" anchor="ctr"/>
          <a:lstStyle/>
          <a:p>
            <a:pPr indent="0" marL="0">
              <a:buNone/>
            </a:pPr>
            <a:r>
              <a:rPr lang="en-US" sz="1400" b="1" spc="200" kern="0" dirty="0">
                <a:solidFill>
                  <a:srgbClr val="AFCFE6"/>
                </a:solidFill>
                <a:latin typeface="Calibri" pitchFamily="34" charset="0"/>
                <a:ea typeface="Calibri" pitchFamily="34" charset="-122"/>
                <a:cs typeface="Calibri" pitchFamily="34" charset="-120"/>
              </a:rPr>
              <a:t>POSTGRESQL ESSENTIALS</a:t>
            </a:r>
            <a:endParaRPr lang="en-US" sz="1400" dirty="0"/>
          </a:p>
        </p:txBody>
      </p:sp>
      <p:sp>
        <p:nvSpPr>
          <p:cNvPr id="3" name="Text 1"/>
          <p:cNvSpPr/>
          <p:nvPr/>
        </p:nvSpPr>
        <p:spPr>
          <a:xfrm>
            <a:off x="822960" y="2377440"/>
            <a:ext cx="9875520" cy="1737360"/>
          </a:xfrm>
          <a:prstGeom prst="rect">
            <a:avLst/>
          </a:prstGeom>
          <a:noFill/>
          <a:ln/>
        </p:spPr>
        <p:txBody>
          <a:bodyPr wrap="square" lIns="0" tIns="0" rIns="0" bIns="0" rtlCol="0" anchor="ctr"/>
          <a:lstStyle/>
          <a:p>
            <a:pPr indent="0" marL="0">
              <a:lnSpc>
                <a:spcPts val="5000"/>
              </a:lnSpc>
              <a:buNone/>
            </a:pPr>
            <a:r>
              <a:rPr lang="en-US" sz="4200" b="1" dirty="0">
                <a:solidFill>
                  <a:srgbClr val="FFFFFF"/>
                </a:solidFill>
                <a:latin typeface="Cambria" pitchFamily="34" charset="0"/>
                <a:ea typeface="Cambria" pitchFamily="34" charset="-122"/>
                <a:cs typeface="Cambria" pitchFamily="34" charset="-120"/>
              </a:rPr>
              <a:t>Database Limits, psql</a:t>
            </a:r>
            <a:endParaRPr lang="en-US" sz="4200" dirty="0"/>
          </a:p>
          <a:p>
            <a:pPr indent="0" marL="0">
              <a:lnSpc>
                <a:spcPts val="5000"/>
              </a:lnSpc>
              <a:buNone/>
            </a:pPr>
            <a:r>
              <a:rPr lang="en-US" sz="4200" b="1" dirty="0">
                <a:solidFill>
                  <a:srgbClr val="FFFFFF"/>
                </a:solidFill>
                <a:latin typeface="Cambria" pitchFamily="34" charset="0"/>
                <a:ea typeface="Cambria" pitchFamily="34" charset="-122"/>
                <a:cs typeface="Cambria" pitchFamily="34" charset="-120"/>
              </a:rPr>
              <a:t>&amp; Schemas</a:t>
            </a:r>
            <a:endParaRPr lang="en-US" sz="4200" dirty="0"/>
          </a:p>
        </p:txBody>
      </p:sp>
      <p:sp>
        <p:nvSpPr>
          <p:cNvPr id="4" name="Text 2"/>
          <p:cNvSpPr/>
          <p:nvPr/>
        </p:nvSpPr>
        <p:spPr>
          <a:xfrm>
            <a:off x="822960" y="4160520"/>
            <a:ext cx="7955280" cy="548640"/>
          </a:xfrm>
          <a:prstGeom prst="rect">
            <a:avLst/>
          </a:prstGeom>
          <a:noFill/>
          <a:ln/>
        </p:spPr>
        <p:txBody>
          <a:bodyPr wrap="square" lIns="0" tIns="0" rIns="0" bIns="0" rtlCol="0" anchor="ctr"/>
          <a:lstStyle/>
          <a:p>
            <a:pPr indent="0" marL="0">
              <a:buNone/>
            </a:pPr>
            <a:r>
              <a:rPr lang="en-US" sz="1500" i="1" dirty="0">
                <a:solidFill>
                  <a:srgbClr val="C7D9E5"/>
                </a:solidFill>
                <a:latin typeface="Calibri" pitchFamily="34" charset="0"/>
                <a:ea typeface="Calibri" pitchFamily="34" charset="-122"/>
                <a:cs typeface="Calibri" pitchFamily="34" charset="-120"/>
              </a:rPr>
              <a:t>A practical tour of Postgres' built-in limits, the psql command-line client, and how schemas organize a database.</a:t>
            </a:r>
            <a:endParaRPr lang="en-US" sz="1500" dirty="0"/>
          </a:p>
        </p:txBody>
      </p:sp>
      <p:sp>
        <p:nvSpPr>
          <p:cNvPr id="5" name="Shape 3"/>
          <p:cNvSpPr/>
          <p:nvPr/>
        </p:nvSpPr>
        <p:spPr>
          <a:xfrm>
            <a:off x="9692640" y="960120"/>
            <a:ext cx="457200" cy="457200"/>
          </a:xfrm>
          <a:prstGeom prst="ellipse">
            <a:avLst/>
          </a:prstGeom>
          <a:solidFill>
            <a:srgbClr val="336791"/>
          </a:solidFill>
          <a:ln/>
        </p:spPr>
      </p:sp>
      <p:sp>
        <p:nvSpPr>
          <p:cNvPr id="6" name="Text 4"/>
          <p:cNvSpPr/>
          <p:nvPr/>
        </p:nvSpPr>
        <p:spPr>
          <a:xfrm>
            <a:off x="9692640" y="96012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10378440" y="1417320"/>
            <a:ext cx="457200" cy="457200"/>
          </a:xfrm>
          <a:prstGeom prst="ellipse">
            <a:avLst/>
          </a:prstGeom>
          <a:solidFill>
            <a:srgbClr val="AFCFE6"/>
          </a:solidFill>
          <a:ln/>
        </p:spPr>
      </p:sp>
      <p:sp>
        <p:nvSpPr>
          <p:cNvPr id="8" name="Text 6"/>
          <p:cNvSpPr/>
          <p:nvPr/>
        </p:nvSpPr>
        <p:spPr>
          <a:xfrm>
            <a:off x="10378440" y="1417320"/>
            <a:ext cx="457200" cy="457200"/>
          </a:xfrm>
          <a:prstGeom prst="rect">
            <a:avLst/>
          </a:prstGeom>
          <a:noFill/>
          <a:ln/>
        </p:spPr>
        <p:txBody>
          <a:bodyPr wrap="square" lIns="0" tIns="0" rIns="0" bIns="0" rtlCol="0" anchor="ctr"/>
          <a:lstStyle/>
          <a:p>
            <a:pPr algn="ctr" indent="0" marL="0">
              <a:buNone/>
            </a:pPr>
            <a:r>
              <a:rPr lang="en-US" sz="1100" b="1" dirty="0">
                <a:solidFill>
                  <a:srgbClr val="16324F"/>
                </a:solidFill>
                <a:latin typeface="Calibri" pitchFamily="34" charset="0"/>
                <a:ea typeface="Calibri" pitchFamily="34" charset="-122"/>
                <a:cs typeface="Calibri" pitchFamily="34" charset="-120"/>
              </a:rPr>
              <a:t>$</a:t>
            </a:r>
            <a:endParaRPr lang="en-US" sz="1100" dirty="0"/>
          </a:p>
        </p:txBody>
      </p:sp>
      <p:sp>
        <p:nvSpPr>
          <p:cNvPr id="9" name="Shape 7"/>
          <p:cNvSpPr/>
          <p:nvPr/>
        </p:nvSpPr>
        <p:spPr>
          <a:xfrm>
            <a:off x="11064240" y="960120"/>
            <a:ext cx="457200" cy="457200"/>
          </a:xfrm>
          <a:prstGeom prst="ellipse">
            <a:avLst/>
          </a:prstGeom>
          <a:solidFill>
            <a:srgbClr val="2A5A82"/>
          </a:solidFill>
          <a:ln/>
        </p:spPr>
      </p:sp>
      <p:sp>
        <p:nvSpPr>
          <p:cNvPr id="10" name="Text 8"/>
          <p:cNvSpPr/>
          <p:nvPr/>
        </p:nvSpPr>
        <p:spPr>
          <a:xfrm>
            <a:off x="11064240" y="96012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t>
            </a:r>
            <a:endParaRPr lang="en-US" sz="1100" dirty="0"/>
          </a:p>
        </p:txBody>
      </p:sp>
      <p:sp>
        <p:nvSpPr>
          <p:cNvPr id="11" name="Text 9"/>
          <p:cNvSpPr/>
          <p:nvPr/>
        </p:nvSpPr>
        <p:spPr>
          <a:xfrm>
            <a:off x="822960" y="6126480"/>
            <a:ext cx="3657600" cy="274320"/>
          </a:xfrm>
          <a:prstGeom prst="rect">
            <a:avLst/>
          </a:prstGeom>
          <a:noFill/>
          <a:ln/>
        </p:spPr>
        <p:txBody>
          <a:bodyPr wrap="square" lIns="0" tIns="0" rIns="0" bIns="0" rtlCol="0" anchor="ctr"/>
          <a:lstStyle/>
          <a:p>
            <a:pPr indent="0" marL="0">
              <a:buNone/>
            </a:pPr>
            <a:r>
              <a:rPr lang="en-US" sz="1100" dirty="0">
                <a:solidFill>
                  <a:srgbClr val="7C93A3"/>
                </a:solidFill>
                <a:latin typeface="Calibri" pitchFamily="34" charset="0"/>
                <a:ea typeface="Calibri" pitchFamily="34" charset="-122"/>
                <a:cs typeface="Calibri" pitchFamily="34" charset="-120"/>
              </a:rPr>
              <a:t>Sep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Three Practical Postgres Topics</a:t>
            </a:r>
            <a:endParaRPr lang="en-US" sz="3000" dirty="0"/>
          </a:p>
        </p:txBody>
      </p:sp>
      <p:sp>
        <p:nvSpPr>
          <p:cNvPr id="4" name="Text 2"/>
          <p:cNvSpPr/>
          <p:nvPr/>
        </p:nvSpPr>
        <p:spPr>
          <a:xfrm>
            <a:off x="457200" y="1371600"/>
            <a:ext cx="11247120" cy="502920"/>
          </a:xfrm>
          <a:prstGeom prst="rect">
            <a:avLst/>
          </a:prstGeom>
          <a:noFill/>
          <a:ln/>
        </p:spPr>
        <p:txBody>
          <a:bodyPr wrap="square" lIns="0" tIns="0" rIns="0" bIns="0" rtlCol="0" anchor="ctr"/>
          <a:lstStyle/>
          <a:p>
            <a:pPr indent="0" marL="0">
              <a:buNone/>
            </a:pPr>
            <a:r>
              <a:rPr lang="en-US" sz="1400" dirty="0">
                <a:solidFill>
                  <a:srgbClr val="5C6B73"/>
                </a:solidFill>
                <a:latin typeface="Calibri" pitchFamily="34" charset="0"/>
                <a:ea typeface="Calibri" pitchFamily="34" charset="-122"/>
                <a:cs typeface="Calibri" pitchFamily="34" charset="-120"/>
              </a:rPr>
              <a:t>Each section is short, concrete, and command-oriented — the kind of thing you look up while working rather than read once and forget.</a:t>
            </a:r>
            <a:endParaRPr lang="en-US" sz="1400" dirty="0"/>
          </a:p>
        </p:txBody>
      </p:sp>
      <p:sp>
        <p:nvSpPr>
          <p:cNvPr id="5" name="Shape 3"/>
          <p:cNvSpPr/>
          <p:nvPr/>
        </p:nvSpPr>
        <p:spPr>
          <a:xfrm>
            <a:off x="457200" y="2103120"/>
            <a:ext cx="3611880" cy="4023360"/>
          </a:xfrm>
          <a:prstGeom prst="roundRect">
            <a:avLst>
              <a:gd name="adj" fmla="val 2025"/>
            </a:avLst>
          </a:prstGeom>
          <a:solidFill>
            <a:srgbClr val="DCEBF7"/>
          </a:solidFill>
          <a:ln w="12700">
            <a:solidFill>
              <a:srgbClr val="AFCFE6"/>
            </a:solidFill>
            <a:prstDash val="solid"/>
          </a:ln>
          <a:effectLst>
            <a:outerShdw sx="100000" sy="100000" kx="0" ky="0" algn="bl" rotWithShape="0" blurRad="63500" dist="25400" dir="5400000">
              <a:srgbClr val="9FB4C4">
                <a:alpha val="25000"/>
              </a:srgbClr>
            </a:outerShdw>
          </a:effectLst>
        </p:spPr>
      </p:sp>
      <p:sp>
        <p:nvSpPr>
          <p:cNvPr id="6" name="Shape 4"/>
          <p:cNvSpPr/>
          <p:nvPr/>
        </p:nvSpPr>
        <p:spPr>
          <a:xfrm>
            <a:off x="731520" y="2377440"/>
            <a:ext cx="594360" cy="594360"/>
          </a:xfrm>
          <a:prstGeom prst="ellipse">
            <a:avLst/>
          </a:prstGeom>
          <a:solidFill>
            <a:srgbClr val="336791"/>
          </a:solidFill>
          <a:ln/>
        </p:spPr>
      </p:sp>
      <p:sp>
        <p:nvSpPr>
          <p:cNvPr id="7" name="Text 5"/>
          <p:cNvSpPr/>
          <p:nvPr/>
        </p:nvSpPr>
        <p:spPr>
          <a:xfrm>
            <a:off x="731520" y="2377440"/>
            <a:ext cx="594360" cy="594360"/>
          </a:xfrm>
          <a:prstGeom prst="rect">
            <a:avLst/>
          </a:prstGeom>
          <a:noFill/>
          <a:ln/>
        </p:spPr>
        <p:txBody>
          <a:bodyPr wrap="square" lIns="0" tIns="0" rIns="0" bIns="0"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8" name="Text 6"/>
          <p:cNvSpPr/>
          <p:nvPr/>
        </p:nvSpPr>
        <p:spPr>
          <a:xfrm>
            <a:off x="731520" y="3108960"/>
            <a:ext cx="3063240" cy="365760"/>
          </a:xfrm>
          <a:prstGeom prst="rect">
            <a:avLst/>
          </a:prstGeom>
          <a:noFill/>
          <a:ln/>
        </p:spPr>
        <p:txBody>
          <a:bodyPr wrap="square" lIns="0" tIns="0" rIns="0" bIns="0" rtlCol="0" anchor="ctr"/>
          <a:lstStyle/>
          <a:p>
            <a:pPr indent="0" marL="0">
              <a:buNone/>
            </a:pPr>
            <a:r>
              <a:rPr lang="en-US" sz="1800" b="1" dirty="0">
                <a:solidFill>
                  <a:srgbClr val="22303C"/>
                </a:solidFill>
                <a:latin typeface="Cambria" pitchFamily="34" charset="0"/>
                <a:ea typeface="Cambria" pitchFamily="34" charset="-122"/>
                <a:cs typeface="Cambria" pitchFamily="34" charset="-120"/>
              </a:rPr>
              <a:t>DB Limits</a:t>
            </a:r>
            <a:endParaRPr lang="en-US" sz="1800" dirty="0"/>
          </a:p>
        </p:txBody>
      </p:sp>
      <p:sp>
        <p:nvSpPr>
          <p:cNvPr id="9" name="Text 7"/>
          <p:cNvSpPr/>
          <p:nvPr/>
        </p:nvSpPr>
        <p:spPr>
          <a:xfrm>
            <a:off x="731520" y="3520440"/>
            <a:ext cx="3063240" cy="914400"/>
          </a:xfrm>
          <a:prstGeom prst="rect">
            <a:avLst/>
          </a:prstGeom>
          <a:noFill/>
          <a:ln/>
        </p:spPr>
        <p:txBody>
          <a:bodyPr wrap="square" lIns="0" tIns="0" rIns="0" bIns="0" rtlCol="0" anchor="ctr"/>
          <a:lstStyle/>
          <a:p>
            <a:pPr indent="0" marL="0">
              <a:buNone/>
            </a:pPr>
            <a:r>
              <a:rPr lang="en-US" sz="1200" dirty="0">
                <a:solidFill>
                  <a:srgbClr val="22303C"/>
                </a:solidFill>
                <a:latin typeface="Calibri" pitchFamily="34" charset="0"/>
                <a:ea typeface="Calibri" pitchFamily="34" charset="-122"/>
                <a:cs typeface="Calibri" pitchFamily="34" charset="-120"/>
              </a:rPr>
              <a:t>Hard, built-in ceilings on names, tables, rows, and connections — the constraints you design around.</a:t>
            </a:r>
            <a:endParaRPr lang="en-US" sz="1200" dirty="0"/>
          </a:p>
        </p:txBody>
      </p:sp>
      <p:sp>
        <p:nvSpPr>
          <p:cNvPr id="10" name="Text 8"/>
          <p:cNvSpPr/>
          <p:nvPr/>
        </p:nvSpPr>
        <p:spPr>
          <a:xfrm>
            <a:off x="731520" y="4526280"/>
            <a:ext cx="3108960" cy="41148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63-byte identifier limit</a:t>
            </a:r>
            <a:endParaRPr lang="en-US" sz="1100" dirty="0"/>
          </a:p>
        </p:txBody>
      </p:sp>
      <p:sp>
        <p:nvSpPr>
          <p:cNvPr id="11" name="Text 9"/>
          <p:cNvSpPr/>
          <p:nvPr/>
        </p:nvSpPr>
        <p:spPr>
          <a:xfrm>
            <a:off x="731520" y="4983480"/>
            <a:ext cx="3108960" cy="41148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32 TB max table size</a:t>
            </a:r>
            <a:endParaRPr lang="en-US" sz="1100" dirty="0"/>
          </a:p>
        </p:txBody>
      </p:sp>
      <p:sp>
        <p:nvSpPr>
          <p:cNvPr id="12" name="Text 10"/>
          <p:cNvSpPr/>
          <p:nvPr/>
        </p:nvSpPr>
        <p:spPr>
          <a:xfrm>
            <a:off x="731520" y="5440680"/>
            <a:ext cx="3108960" cy="41148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max_connections &amp; pooling</a:t>
            </a:r>
            <a:endParaRPr lang="en-US" sz="1100" dirty="0"/>
          </a:p>
        </p:txBody>
      </p:sp>
      <p:sp>
        <p:nvSpPr>
          <p:cNvPr id="13" name="Shape 11"/>
          <p:cNvSpPr/>
          <p:nvPr/>
        </p:nvSpPr>
        <p:spPr>
          <a:xfrm>
            <a:off x="4297680" y="2103120"/>
            <a:ext cx="3611880" cy="4023360"/>
          </a:xfrm>
          <a:prstGeom prst="roundRect">
            <a:avLst>
              <a:gd name="adj" fmla="val 2025"/>
            </a:avLst>
          </a:prstGeom>
          <a:solidFill>
            <a:srgbClr val="DCEBF7"/>
          </a:solidFill>
          <a:ln w="12700">
            <a:solidFill>
              <a:srgbClr val="AFCFE6"/>
            </a:solidFill>
            <a:prstDash val="solid"/>
          </a:ln>
          <a:effectLst>
            <a:outerShdw sx="100000" sy="100000" kx="0" ky="0" algn="bl" rotWithShape="0" blurRad="63500" dist="25400" dir="5400000">
              <a:srgbClr val="9FB4C4">
                <a:alpha val="25000"/>
              </a:srgbClr>
            </a:outerShdw>
          </a:effectLst>
        </p:spPr>
      </p:sp>
      <p:sp>
        <p:nvSpPr>
          <p:cNvPr id="14" name="Shape 12"/>
          <p:cNvSpPr/>
          <p:nvPr/>
        </p:nvSpPr>
        <p:spPr>
          <a:xfrm>
            <a:off x="4572000" y="2377440"/>
            <a:ext cx="594360" cy="594360"/>
          </a:xfrm>
          <a:prstGeom prst="ellipse">
            <a:avLst/>
          </a:prstGeom>
          <a:solidFill>
            <a:srgbClr val="E76F51"/>
          </a:solidFill>
          <a:ln/>
        </p:spPr>
      </p:sp>
      <p:sp>
        <p:nvSpPr>
          <p:cNvPr id="15" name="Text 13"/>
          <p:cNvSpPr/>
          <p:nvPr/>
        </p:nvSpPr>
        <p:spPr>
          <a:xfrm>
            <a:off x="4572000" y="2377440"/>
            <a:ext cx="594360" cy="594360"/>
          </a:xfrm>
          <a:prstGeom prst="rect">
            <a:avLst/>
          </a:prstGeom>
          <a:noFill/>
          <a:ln/>
        </p:spPr>
        <p:txBody>
          <a:bodyPr wrap="square" lIns="0" tIns="0" rIns="0" bIns="0"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a:t>
            </a:r>
            <a:endParaRPr lang="en-US" sz="1430" dirty="0"/>
          </a:p>
        </p:txBody>
      </p:sp>
      <p:sp>
        <p:nvSpPr>
          <p:cNvPr id="16" name="Text 14"/>
          <p:cNvSpPr/>
          <p:nvPr/>
        </p:nvSpPr>
        <p:spPr>
          <a:xfrm>
            <a:off x="4572000" y="3108960"/>
            <a:ext cx="3063240" cy="365760"/>
          </a:xfrm>
          <a:prstGeom prst="rect">
            <a:avLst/>
          </a:prstGeom>
          <a:noFill/>
          <a:ln/>
        </p:spPr>
        <p:txBody>
          <a:bodyPr wrap="square" lIns="0" tIns="0" rIns="0" bIns="0" rtlCol="0" anchor="ctr"/>
          <a:lstStyle/>
          <a:p>
            <a:pPr indent="0" marL="0">
              <a:buNone/>
            </a:pPr>
            <a:r>
              <a:rPr lang="en-US" sz="1800" b="1" dirty="0">
                <a:solidFill>
                  <a:srgbClr val="22303C"/>
                </a:solidFill>
                <a:latin typeface="Cambria" pitchFamily="34" charset="0"/>
                <a:ea typeface="Cambria" pitchFamily="34" charset="-122"/>
                <a:cs typeface="Cambria" pitchFamily="34" charset="-120"/>
              </a:rPr>
              <a:t>psql Commands</a:t>
            </a:r>
            <a:endParaRPr lang="en-US" sz="1800" dirty="0"/>
          </a:p>
        </p:txBody>
      </p:sp>
      <p:sp>
        <p:nvSpPr>
          <p:cNvPr id="17" name="Text 15"/>
          <p:cNvSpPr/>
          <p:nvPr/>
        </p:nvSpPr>
        <p:spPr>
          <a:xfrm>
            <a:off x="4572000" y="3520440"/>
            <a:ext cx="3063240" cy="914400"/>
          </a:xfrm>
          <a:prstGeom prst="rect">
            <a:avLst/>
          </a:prstGeom>
          <a:noFill/>
          <a:ln/>
        </p:spPr>
        <p:txBody>
          <a:bodyPr wrap="square" lIns="0" tIns="0" rIns="0" bIns="0" rtlCol="0" anchor="ctr"/>
          <a:lstStyle/>
          <a:p>
            <a:pPr indent="0" marL="0">
              <a:buNone/>
            </a:pPr>
            <a:r>
              <a:rPr lang="en-US" sz="1200" dirty="0">
                <a:solidFill>
                  <a:srgbClr val="22303C"/>
                </a:solidFill>
                <a:latin typeface="Calibri" pitchFamily="34" charset="0"/>
                <a:ea typeface="Calibri" pitchFamily="34" charset="-122"/>
                <a:cs typeface="Calibri" pitchFamily="34" charset="-120"/>
              </a:rPr>
              <a:t>The official terminal client, and the meta-commands that make exploring a database fast.</a:t>
            </a:r>
            <a:endParaRPr lang="en-US" sz="1200" dirty="0"/>
          </a:p>
        </p:txBody>
      </p:sp>
      <p:sp>
        <p:nvSpPr>
          <p:cNvPr id="18" name="Text 16"/>
          <p:cNvSpPr/>
          <p:nvPr/>
        </p:nvSpPr>
        <p:spPr>
          <a:xfrm>
            <a:off x="4572000" y="4526280"/>
            <a:ext cx="3108960" cy="41148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\l, \dt, \d, \du, \dn</a:t>
            </a:r>
            <a:endParaRPr lang="en-US" sz="1100" dirty="0"/>
          </a:p>
        </p:txBody>
      </p:sp>
      <p:sp>
        <p:nvSpPr>
          <p:cNvPr id="19" name="Text 17"/>
          <p:cNvSpPr/>
          <p:nvPr/>
        </p:nvSpPr>
        <p:spPr>
          <a:xfrm>
            <a:off x="4572000" y="4983480"/>
            <a:ext cx="3108960" cy="41148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Connecting &amp; connection strings</a:t>
            </a:r>
            <a:endParaRPr lang="en-US" sz="1100" dirty="0"/>
          </a:p>
        </p:txBody>
      </p:sp>
      <p:sp>
        <p:nvSpPr>
          <p:cNvPr id="20" name="Text 18"/>
          <p:cNvSpPr/>
          <p:nvPr/>
        </p:nvSpPr>
        <p:spPr>
          <a:xfrm>
            <a:off x="4572000" y="5440680"/>
            <a:ext cx="3108960" cy="41148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\x, \timing, \copy, \i</a:t>
            </a:r>
            <a:endParaRPr lang="en-US" sz="1100" dirty="0"/>
          </a:p>
        </p:txBody>
      </p:sp>
      <p:sp>
        <p:nvSpPr>
          <p:cNvPr id="21" name="Shape 19"/>
          <p:cNvSpPr/>
          <p:nvPr/>
        </p:nvSpPr>
        <p:spPr>
          <a:xfrm>
            <a:off x="8138160" y="2103120"/>
            <a:ext cx="3611880" cy="4023360"/>
          </a:xfrm>
          <a:prstGeom prst="roundRect">
            <a:avLst>
              <a:gd name="adj" fmla="val 2025"/>
            </a:avLst>
          </a:prstGeom>
          <a:solidFill>
            <a:srgbClr val="DCEBF7"/>
          </a:solidFill>
          <a:ln w="12700">
            <a:solidFill>
              <a:srgbClr val="AFCFE6"/>
            </a:solidFill>
            <a:prstDash val="solid"/>
          </a:ln>
          <a:effectLst>
            <a:outerShdw sx="100000" sy="100000" kx="0" ky="0" algn="bl" rotWithShape="0" blurRad="63500" dist="25400" dir="5400000">
              <a:srgbClr val="9FB4C4">
                <a:alpha val="25000"/>
              </a:srgbClr>
            </a:outerShdw>
          </a:effectLst>
        </p:spPr>
      </p:sp>
      <p:sp>
        <p:nvSpPr>
          <p:cNvPr id="22" name="Shape 20"/>
          <p:cNvSpPr/>
          <p:nvPr/>
        </p:nvSpPr>
        <p:spPr>
          <a:xfrm>
            <a:off x="8412480" y="2377440"/>
            <a:ext cx="594360" cy="594360"/>
          </a:xfrm>
          <a:prstGeom prst="ellipse">
            <a:avLst/>
          </a:prstGeom>
          <a:solidFill>
            <a:srgbClr val="2A5A82"/>
          </a:solidFill>
          <a:ln/>
        </p:spPr>
      </p:sp>
      <p:sp>
        <p:nvSpPr>
          <p:cNvPr id="23" name="Text 21"/>
          <p:cNvSpPr/>
          <p:nvPr/>
        </p:nvSpPr>
        <p:spPr>
          <a:xfrm>
            <a:off x="8412480" y="2377440"/>
            <a:ext cx="594360" cy="594360"/>
          </a:xfrm>
          <a:prstGeom prst="rect">
            <a:avLst/>
          </a:prstGeom>
          <a:noFill/>
          <a:ln/>
        </p:spPr>
        <p:txBody>
          <a:bodyPr wrap="square" lIns="0" tIns="0" rIns="0" bIns="0"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S</a:t>
            </a:r>
            <a:endParaRPr lang="en-US" sz="1430" dirty="0"/>
          </a:p>
        </p:txBody>
      </p:sp>
      <p:sp>
        <p:nvSpPr>
          <p:cNvPr id="24" name="Text 22"/>
          <p:cNvSpPr/>
          <p:nvPr/>
        </p:nvSpPr>
        <p:spPr>
          <a:xfrm>
            <a:off x="8412480" y="3108960"/>
            <a:ext cx="3063240" cy="365760"/>
          </a:xfrm>
          <a:prstGeom prst="rect">
            <a:avLst/>
          </a:prstGeom>
          <a:noFill/>
          <a:ln/>
        </p:spPr>
        <p:txBody>
          <a:bodyPr wrap="square" lIns="0" tIns="0" rIns="0" bIns="0" rtlCol="0" anchor="ctr"/>
          <a:lstStyle/>
          <a:p>
            <a:pPr indent="0" marL="0">
              <a:buNone/>
            </a:pPr>
            <a:r>
              <a:rPr lang="en-US" sz="1800" b="1" dirty="0">
                <a:solidFill>
                  <a:srgbClr val="22303C"/>
                </a:solidFill>
                <a:latin typeface="Cambria" pitchFamily="34" charset="0"/>
                <a:ea typeface="Cambria" pitchFamily="34" charset="-122"/>
                <a:cs typeface="Cambria" pitchFamily="34" charset="-120"/>
              </a:rPr>
              <a:t>Schemas</a:t>
            </a:r>
            <a:endParaRPr lang="en-US" sz="1800" dirty="0"/>
          </a:p>
        </p:txBody>
      </p:sp>
      <p:sp>
        <p:nvSpPr>
          <p:cNvPr id="25" name="Text 23"/>
          <p:cNvSpPr/>
          <p:nvPr/>
        </p:nvSpPr>
        <p:spPr>
          <a:xfrm>
            <a:off x="8412480" y="3520440"/>
            <a:ext cx="3063240" cy="914400"/>
          </a:xfrm>
          <a:prstGeom prst="rect">
            <a:avLst/>
          </a:prstGeom>
          <a:noFill/>
          <a:ln/>
        </p:spPr>
        <p:txBody>
          <a:bodyPr wrap="square" lIns="0" tIns="0" rIns="0" bIns="0" rtlCol="0" anchor="ctr"/>
          <a:lstStyle/>
          <a:p>
            <a:pPr indent="0" marL="0">
              <a:buNone/>
            </a:pPr>
            <a:r>
              <a:rPr lang="en-US" sz="1200" dirty="0">
                <a:solidFill>
                  <a:srgbClr val="22303C"/>
                </a:solidFill>
                <a:latin typeface="Calibri" pitchFamily="34" charset="0"/>
                <a:ea typeface="Calibri" pitchFamily="34" charset="-122"/>
                <a:cs typeface="Calibri" pitchFamily="34" charset="-120"/>
              </a:rPr>
              <a:t>Namespaces inside a database that group related tables, views, and functions.</a:t>
            </a:r>
            <a:endParaRPr lang="en-US" sz="1200" dirty="0"/>
          </a:p>
        </p:txBody>
      </p:sp>
      <p:sp>
        <p:nvSpPr>
          <p:cNvPr id="26" name="Text 24"/>
          <p:cNvSpPr/>
          <p:nvPr/>
        </p:nvSpPr>
        <p:spPr>
          <a:xfrm>
            <a:off x="8412480" y="4526280"/>
            <a:ext cx="3108960" cy="41148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public schema by default</a:t>
            </a:r>
            <a:endParaRPr lang="en-US" sz="1100" dirty="0"/>
          </a:p>
        </p:txBody>
      </p:sp>
      <p:sp>
        <p:nvSpPr>
          <p:cNvPr id="27" name="Text 25"/>
          <p:cNvSpPr/>
          <p:nvPr/>
        </p:nvSpPr>
        <p:spPr>
          <a:xfrm>
            <a:off x="8412480" y="4983480"/>
            <a:ext cx="3108960" cy="41148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search_path resolution</a:t>
            </a:r>
            <a:endParaRPr lang="en-US" sz="1100" dirty="0"/>
          </a:p>
        </p:txBody>
      </p:sp>
      <p:sp>
        <p:nvSpPr>
          <p:cNvPr id="28" name="Text 26"/>
          <p:cNvSpPr/>
          <p:nvPr/>
        </p:nvSpPr>
        <p:spPr>
          <a:xfrm>
            <a:off x="8412480" y="5440680"/>
            <a:ext cx="3108960" cy="411480"/>
          </a:xfrm>
          <a:prstGeom prst="rect">
            <a:avLst/>
          </a:prstGeom>
          <a:noFill/>
          <a:ln/>
        </p:spPr>
        <p:txBody>
          <a:bodyPr wrap="square" lIns="0" tIns="0" rIns="0" bIns="0" rtlCol="0" anchor="ctr"/>
          <a:lstStyle/>
          <a:p>
            <a:pPr marL="342900" indent="-342900">
              <a:buSzPct val="100000"/>
              <a:buChar char="•"/>
            </a:pPr>
            <a:r>
              <a:rPr lang="en-US" sz="1100" dirty="0">
                <a:solidFill>
                  <a:srgbClr val="22303C"/>
                </a:solidFill>
                <a:latin typeface="Calibri" pitchFamily="34" charset="0"/>
                <a:ea typeface="Calibri" pitchFamily="34" charset="-122"/>
                <a:cs typeface="Calibri" pitchFamily="34" charset="-120"/>
              </a:rPr>
              <a:t>CREATE / ALTER / DROP SCHEMA</a:t>
            </a:r>
            <a:endParaRPr lang="en-US" sz="1100" dirty="0"/>
          </a:p>
        </p:txBody>
      </p:sp>
      <p:sp>
        <p:nvSpPr>
          <p:cNvPr id="29" name="Text 27"/>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Essentials  |  Limits, psql &amp; Schemas</a:t>
            </a:r>
            <a:endParaRPr lang="en-US" sz="1000" dirty="0"/>
          </a:p>
        </p:txBody>
      </p:sp>
      <p:sp>
        <p:nvSpPr>
          <p:cNvPr id="30" name="Text 28"/>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DB LIMITS</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Limits Are Structural, Not Configurable</a:t>
            </a:r>
            <a:endParaRPr lang="en-US" sz="3000" dirty="0"/>
          </a:p>
        </p:txBody>
      </p:sp>
      <p:sp>
        <p:nvSpPr>
          <p:cNvPr id="4" name="Text 2"/>
          <p:cNvSpPr/>
          <p:nvPr/>
        </p:nvSpPr>
        <p:spPr>
          <a:xfrm>
            <a:off x="457200" y="1280160"/>
            <a:ext cx="11247120" cy="777240"/>
          </a:xfrm>
          <a:prstGeom prst="rect">
            <a:avLst/>
          </a:prstGeom>
          <a:noFill/>
          <a:ln/>
        </p:spPr>
        <p:txBody>
          <a:bodyPr wrap="square" lIns="0" tIns="0" rIns="0" bIns="0" rtlCol="0" anchor="ctr"/>
          <a:lstStyle/>
          <a:p>
            <a:pPr indent="0" marL="0">
              <a:buNone/>
            </a:pPr>
            <a:r>
              <a:rPr lang="en-US" sz="1300" dirty="0">
                <a:solidFill>
                  <a:srgbClr val="5C6B73"/>
                </a:solidFill>
                <a:latin typeface="Calibri" pitchFamily="34" charset="0"/>
                <a:ea typeface="Calibri" pitchFamily="34" charset="-122"/>
                <a:cs typeface="Calibri" pitchFamily="34" charset="-120"/>
              </a:rPr>
              <a:t>Postgres has a set of hard limits baked into its internal data types and on-disk page format. Unlike settings in postgresql.conf, you can't tune these away — you design your schema and connection strategy around them.</a:t>
            </a:r>
            <a:endParaRPr lang="en-US" sz="1300" dirty="0"/>
          </a:p>
        </p:txBody>
      </p:sp>
      <p:sp>
        <p:nvSpPr>
          <p:cNvPr id="5" name="Shape 3"/>
          <p:cNvSpPr/>
          <p:nvPr/>
        </p:nvSpPr>
        <p:spPr>
          <a:xfrm>
            <a:off x="457200" y="2377440"/>
            <a:ext cx="2697480" cy="2651760"/>
          </a:xfrm>
          <a:prstGeom prst="roundRect">
            <a:avLst>
              <a:gd name="adj" fmla="val 2759"/>
            </a:avLst>
          </a:prstGeom>
          <a:solidFill>
            <a:srgbClr val="DCEBF7"/>
          </a:solidFill>
          <a:ln w="12700">
            <a:solidFill>
              <a:srgbClr val="AFCFE6"/>
            </a:solidFill>
            <a:prstDash val="solid"/>
          </a:ln>
        </p:spPr>
      </p:sp>
      <p:sp>
        <p:nvSpPr>
          <p:cNvPr id="6" name="Shape 4"/>
          <p:cNvSpPr/>
          <p:nvPr/>
        </p:nvSpPr>
        <p:spPr>
          <a:xfrm>
            <a:off x="1485900" y="2651760"/>
            <a:ext cx="640080" cy="640080"/>
          </a:xfrm>
          <a:prstGeom prst="ellipse">
            <a:avLst/>
          </a:prstGeom>
          <a:solidFill>
            <a:srgbClr val="336791"/>
          </a:solidFill>
          <a:ln/>
        </p:spPr>
      </p:sp>
      <p:sp>
        <p:nvSpPr>
          <p:cNvPr id="7" name="Text 5"/>
          <p:cNvSpPr/>
          <p:nvPr/>
        </p:nvSpPr>
        <p:spPr>
          <a:xfrm>
            <a:off x="1485900" y="2651760"/>
            <a:ext cx="640080" cy="640080"/>
          </a:xfrm>
          <a:prstGeom prst="rect">
            <a:avLst/>
          </a:prstGeom>
          <a:noFill/>
          <a:ln/>
        </p:spPr>
        <p:txBody>
          <a:bodyPr wrap="square" lIns="0" tIns="0" rIns="0" bIns="0" rtlCol="0" anchor="ctr"/>
          <a:lstStyle/>
          <a:p>
            <a:pPr algn="ctr" indent="0" marL="0">
              <a:buNone/>
            </a:pPr>
            <a:r>
              <a:rPr lang="en-US" sz="1540" b="1" dirty="0">
                <a:solidFill>
                  <a:srgbClr val="FFFFFF"/>
                </a:solidFill>
                <a:latin typeface="Calibri" pitchFamily="34" charset="0"/>
                <a:ea typeface="Calibri" pitchFamily="34" charset="-122"/>
                <a:cs typeface="Calibri" pitchFamily="34" charset="-120"/>
              </a:rPr>
              <a:t>1</a:t>
            </a:r>
            <a:endParaRPr lang="en-US" sz="1540" dirty="0"/>
          </a:p>
        </p:txBody>
      </p:sp>
      <p:sp>
        <p:nvSpPr>
          <p:cNvPr id="8" name="Text 6"/>
          <p:cNvSpPr/>
          <p:nvPr/>
        </p:nvSpPr>
        <p:spPr>
          <a:xfrm>
            <a:off x="594360" y="3429000"/>
            <a:ext cx="2423160" cy="365760"/>
          </a:xfrm>
          <a:prstGeom prst="rect">
            <a:avLst/>
          </a:prstGeom>
          <a:noFill/>
          <a:ln/>
        </p:spPr>
        <p:txBody>
          <a:bodyPr wrap="square" lIns="0" tIns="0" rIns="0" bIns="0" rtlCol="0" anchor="ctr"/>
          <a:lstStyle/>
          <a:p>
            <a:pPr algn="ctr" indent="0" marL="0">
              <a:buNone/>
            </a:pPr>
            <a:r>
              <a:rPr lang="en-US" sz="1500" b="1" dirty="0">
                <a:solidFill>
                  <a:srgbClr val="22303C"/>
                </a:solidFill>
                <a:latin typeface="Cambria" pitchFamily="34" charset="0"/>
                <a:ea typeface="Cambria" pitchFamily="34" charset="-122"/>
                <a:cs typeface="Cambria" pitchFamily="34" charset="-120"/>
              </a:rPr>
              <a:t>Identifiers</a:t>
            </a:r>
            <a:endParaRPr lang="en-US" sz="1500" dirty="0"/>
          </a:p>
        </p:txBody>
      </p:sp>
      <p:sp>
        <p:nvSpPr>
          <p:cNvPr id="9" name="Text 7"/>
          <p:cNvSpPr/>
          <p:nvPr/>
        </p:nvSpPr>
        <p:spPr>
          <a:xfrm>
            <a:off x="685800" y="3840480"/>
            <a:ext cx="2240280" cy="1051560"/>
          </a:xfrm>
          <a:prstGeom prst="rect">
            <a:avLst/>
          </a:prstGeom>
          <a:noFill/>
          <a:ln/>
        </p:spPr>
        <p:txBody>
          <a:bodyPr wrap="square" lIns="0" tIns="0" rIns="0" bIns="0" rtlCol="0" anchor="ctr"/>
          <a:lstStyle/>
          <a:p>
            <a:pPr algn="ctr" indent="0" marL="0">
              <a:buNone/>
            </a:pPr>
            <a:r>
              <a:rPr lang="en-US" sz="1150" dirty="0">
                <a:solidFill>
                  <a:srgbClr val="5C6B73"/>
                </a:solidFill>
                <a:latin typeface="Calibri" pitchFamily="34" charset="0"/>
                <a:ea typeface="Calibri" pitchFamily="34" charset="-122"/>
                <a:cs typeface="Calibri" pitchFamily="34" charset="-120"/>
              </a:rPr>
              <a:t>Names for tables, columns, and other objects</a:t>
            </a:r>
            <a:endParaRPr lang="en-US" sz="1150" dirty="0"/>
          </a:p>
        </p:txBody>
      </p:sp>
      <p:sp>
        <p:nvSpPr>
          <p:cNvPr id="10" name="Shape 8"/>
          <p:cNvSpPr/>
          <p:nvPr/>
        </p:nvSpPr>
        <p:spPr>
          <a:xfrm>
            <a:off x="3337560" y="2377440"/>
            <a:ext cx="2697480" cy="2651760"/>
          </a:xfrm>
          <a:prstGeom prst="roundRect">
            <a:avLst>
              <a:gd name="adj" fmla="val 2759"/>
            </a:avLst>
          </a:prstGeom>
          <a:solidFill>
            <a:srgbClr val="DCEBF7"/>
          </a:solidFill>
          <a:ln w="12700">
            <a:solidFill>
              <a:srgbClr val="AFCFE6"/>
            </a:solidFill>
            <a:prstDash val="solid"/>
          </a:ln>
        </p:spPr>
      </p:sp>
      <p:sp>
        <p:nvSpPr>
          <p:cNvPr id="11" name="Shape 9"/>
          <p:cNvSpPr/>
          <p:nvPr/>
        </p:nvSpPr>
        <p:spPr>
          <a:xfrm>
            <a:off x="4366260" y="2651760"/>
            <a:ext cx="640080" cy="640080"/>
          </a:xfrm>
          <a:prstGeom prst="ellipse">
            <a:avLst/>
          </a:prstGeom>
          <a:solidFill>
            <a:srgbClr val="336791"/>
          </a:solidFill>
          <a:ln/>
        </p:spPr>
      </p:sp>
      <p:sp>
        <p:nvSpPr>
          <p:cNvPr id="12" name="Text 10"/>
          <p:cNvSpPr/>
          <p:nvPr/>
        </p:nvSpPr>
        <p:spPr>
          <a:xfrm>
            <a:off x="4366260" y="2651760"/>
            <a:ext cx="640080" cy="640080"/>
          </a:xfrm>
          <a:prstGeom prst="rect">
            <a:avLst/>
          </a:prstGeom>
          <a:noFill/>
          <a:ln/>
        </p:spPr>
        <p:txBody>
          <a:bodyPr wrap="square" lIns="0" tIns="0" rIns="0" bIns="0" rtlCol="0" anchor="ctr"/>
          <a:lstStyle/>
          <a:p>
            <a:pPr algn="ctr" indent="0" marL="0">
              <a:buNone/>
            </a:pPr>
            <a:r>
              <a:rPr lang="en-US" sz="1540" b="1" dirty="0">
                <a:solidFill>
                  <a:srgbClr val="FFFFFF"/>
                </a:solidFill>
                <a:latin typeface="Calibri" pitchFamily="34" charset="0"/>
                <a:ea typeface="Calibri" pitchFamily="34" charset="-122"/>
                <a:cs typeface="Calibri" pitchFamily="34" charset="-120"/>
              </a:rPr>
              <a:t>2</a:t>
            </a:r>
            <a:endParaRPr lang="en-US" sz="1540" dirty="0"/>
          </a:p>
        </p:txBody>
      </p:sp>
      <p:sp>
        <p:nvSpPr>
          <p:cNvPr id="13" name="Text 11"/>
          <p:cNvSpPr/>
          <p:nvPr/>
        </p:nvSpPr>
        <p:spPr>
          <a:xfrm>
            <a:off x="3474720" y="3429000"/>
            <a:ext cx="2423160" cy="365760"/>
          </a:xfrm>
          <a:prstGeom prst="rect">
            <a:avLst/>
          </a:prstGeom>
          <a:noFill/>
          <a:ln/>
        </p:spPr>
        <p:txBody>
          <a:bodyPr wrap="square" lIns="0" tIns="0" rIns="0" bIns="0" rtlCol="0" anchor="ctr"/>
          <a:lstStyle/>
          <a:p>
            <a:pPr algn="ctr" indent="0" marL="0">
              <a:buNone/>
            </a:pPr>
            <a:r>
              <a:rPr lang="en-US" sz="1500" b="1" dirty="0">
                <a:solidFill>
                  <a:srgbClr val="22303C"/>
                </a:solidFill>
                <a:latin typeface="Cambria" pitchFamily="34" charset="0"/>
                <a:ea typeface="Cambria" pitchFamily="34" charset="-122"/>
                <a:cs typeface="Cambria" pitchFamily="34" charset="-120"/>
              </a:rPr>
              <a:t>Rows &amp; Tables</a:t>
            </a:r>
            <a:endParaRPr lang="en-US" sz="1500" dirty="0"/>
          </a:p>
        </p:txBody>
      </p:sp>
      <p:sp>
        <p:nvSpPr>
          <p:cNvPr id="14" name="Text 12"/>
          <p:cNvSpPr/>
          <p:nvPr/>
        </p:nvSpPr>
        <p:spPr>
          <a:xfrm>
            <a:off x="3566160" y="3840480"/>
            <a:ext cx="2240280" cy="1051560"/>
          </a:xfrm>
          <a:prstGeom prst="rect">
            <a:avLst/>
          </a:prstGeom>
          <a:noFill/>
          <a:ln/>
        </p:spPr>
        <p:txBody>
          <a:bodyPr wrap="square" lIns="0" tIns="0" rIns="0" bIns="0" rtlCol="0" anchor="ctr"/>
          <a:lstStyle/>
          <a:p>
            <a:pPr algn="ctr" indent="0" marL="0">
              <a:buNone/>
            </a:pPr>
            <a:r>
              <a:rPr lang="en-US" sz="1150" dirty="0">
                <a:solidFill>
                  <a:srgbClr val="5C6B73"/>
                </a:solidFill>
                <a:latin typeface="Calibri" pitchFamily="34" charset="0"/>
                <a:ea typeface="Calibri" pitchFamily="34" charset="-122"/>
                <a:cs typeface="Calibri" pitchFamily="34" charset="-120"/>
              </a:rPr>
              <a:t>How much data a single table or row can hold</a:t>
            </a:r>
            <a:endParaRPr lang="en-US" sz="1150" dirty="0"/>
          </a:p>
        </p:txBody>
      </p:sp>
      <p:sp>
        <p:nvSpPr>
          <p:cNvPr id="15" name="Shape 13"/>
          <p:cNvSpPr/>
          <p:nvPr/>
        </p:nvSpPr>
        <p:spPr>
          <a:xfrm>
            <a:off x="6217920" y="2377440"/>
            <a:ext cx="2697480" cy="2651760"/>
          </a:xfrm>
          <a:prstGeom prst="roundRect">
            <a:avLst>
              <a:gd name="adj" fmla="val 2759"/>
            </a:avLst>
          </a:prstGeom>
          <a:solidFill>
            <a:srgbClr val="DCEBF7"/>
          </a:solidFill>
          <a:ln w="12700">
            <a:solidFill>
              <a:srgbClr val="AFCFE6"/>
            </a:solidFill>
            <a:prstDash val="solid"/>
          </a:ln>
        </p:spPr>
      </p:sp>
      <p:sp>
        <p:nvSpPr>
          <p:cNvPr id="16" name="Shape 14"/>
          <p:cNvSpPr/>
          <p:nvPr/>
        </p:nvSpPr>
        <p:spPr>
          <a:xfrm>
            <a:off x="7246620" y="2651760"/>
            <a:ext cx="640080" cy="640080"/>
          </a:xfrm>
          <a:prstGeom prst="ellipse">
            <a:avLst/>
          </a:prstGeom>
          <a:solidFill>
            <a:srgbClr val="336791"/>
          </a:solidFill>
          <a:ln/>
        </p:spPr>
      </p:sp>
      <p:sp>
        <p:nvSpPr>
          <p:cNvPr id="17" name="Text 15"/>
          <p:cNvSpPr/>
          <p:nvPr/>
        </p:nvSpPr>
        <p:spPr>
          <a:xfrm>
            <a:off x="7246620" y="2651760"/>
            <a:ext cx="640080" cy="640080"/>
          </a:xfrm>
          <a:prstGeom prst="rect">
            <a:avLst/>
          </a:prstGeom>
          <a:noFill/>
          <a:ln/>
        </p:spPr>
        <p:txBody>
          <a:bodyPr wrap="square" lIns="0" tIns="0" rIns="0" bIns="0" rtlCol="0" anchor="ctr"/>
          <a:lstStyle/>
          <a:p>
            <a:pPr algn="ctr" indent="0" marL="0">
              <a:buNone/>
            </a:pPr>
            <a:r>
              <a:rPr lang="en-US" sz="1540" b="1" dirty="0">
                <a:solidFill>
                  <a:srgbClr val="FFFFFF"/>
                </a:solidFill>
                <a:latin typeface="Calibri" pitchFamily="34" charset="0"/>
                <a:ea typeface="Calibri" pitchFamily="34" charset="-122"/>
                <a:cs typeface="Calibri" pitchFamily="34" charset="-120"/>
              </a:rPr>
              <a:t>3</a:t>
            </a:r>
            <a:endParaRPr lang="en-US" sz="1540" dirty="0"/>
          </a:p>
        </p:txBody>
      </p:sp>
      <p:sp>
        <p:nvSpPr>
          <p:cNvPr id="18" name="Text 16"/>
          <p:cNvSpPr/>
          <p:nvPr/>
        </p:nvSpPr>
        <p:spPr>
          <a:xfrm>
            <a:off x="6355080" y="3429000"/>
            <a:ext cx="2423160" cy="365760"/>
          </a:xfrm>
          <a:prstGeom prst="rect">
            <a:avLst/>
          </a:prstGeom>
          <a:noFill/>
          <a:ln/>
        </p:spPr>
        <p:txBody>
          <a:bodyPr wrap="square" lIns="0" tIns="0" rIns="0" bIns="0" rtlCol="0" anchor="ctr"/>
          <a:lstStyle/>
          <a:p>
            <a:pPr algn="ctr" indent="0" marL="0">
              <a:buNone/>
            </a:pPr>
            <a:r>
              <a:rPr lang="en-US" sz="1500" b="1" dirty="0">
                <a:solidFill>
                  <a:srgbClr val="22303C"/>
                </a:solidFill>
                <a:latin typeface="Cambria" pitchFamily="34" charset="0"/>
                <a:ea typeface="Cambria" pitchFamily="34" charset="-122"/>
                <a:cs typeface="Cambria" pitchFamily="34" charset="-120"/>
              </a:rPr>
              <a:t>Fields &amp; Values</a:t>
            </a:r>
            <a:endParaRPr lang="en-US" sz="1500" dirty="0"/>
          </a:p>
        </p:txBody>
      </p:sp>
      <p:sp>
        <p:nvSpPr>
          <p:cNvPr id="19" name="Text 17"/>
          <p:cNvSpPr/>
          <p:nvPr/>
        </p:nvSpPr>
        <p:spPr>
          <a:xfrm>
            <a:off x="6446520" y="3840480"/>
            <a:ext cx="2240280" cy="1051560"/>
          </a:xfrm>
          <a:prstGeom prst="rect">
            <a:avLst/>
          </a:prstGeom>
          <a:noFill/>
          <a:ln/>
        </p:spPr>
        <p:txBody>
          <a:bodyPr wrap="square" lIns="0" tIns="0" rIns="0" bIns="0" rtlCol="0" anchor="ctr"/>
          <a:lstStyle/>
          <a:p>
            <a:pPr algn="ctr" indent="0" marL="0">
              <a:buNone/>
            </a:pPr>
            <a:r>
              <a:rPr lang="en-US" sz="1150" dirty="0">
                <a:solidFill>
                  <a:srgbClr val="5C6B73"/>
                </a:solidFill>
                <a:latin typeface="Calibri" pitchFamily="34" charset="0"/>
                <a:ea typeface="Calibri" pitchFamily="34" charset="-122"/>
                <a:cs typeface="Calibri" pitchFamily="34" charset="-120"/>
              </a:rPr>
              <a:t>The size of one column's value in one row</a:t>
            </a:r>
            <a:endParaRPr lang="en-US" sz="1150" dirty="0"/>
          </a:p>
        </p:txBody>
      </p:sp>
      <p:sp>
        <p:nvSpPr>
          <p:cNvPr id="20" name="Shape 18"/>
          <p:cNvSpPr/>
          <p:nvPr/>
        </p:nvSpPr>
        <p:spPr>
          <a:xfrm>
            <a:off x="9098280" y="2377440"/>
            <a:ext cx="2697480" cy="2651760"/>
          </a:xfrm>
          <a:prstGeom prst="roundRect">
            <a:avLst>
              <a:gd name="adj" fmla="val 2759"/>
            </a:avLst>
          </a:prstGeom>
          <a:solidFill>
            <a:srgbClr val="DCEBF7"/>
          </a:solidFill>
          <a:ln w="12700">
            <a:solidFill>
              <a:srgbClr val="AFCFE6"/>
            </a:solidFill>
            <a:prstDash val="solid"/>
          </a:ln>
        </p:spPr>
      </p:sp>
      <p:sp>
        <p:nvSpPr>
          <p:cNvPr id="21" name="Shape 19"/>
          <p:cNvSpPr/>
          <p:nvPr/>
        </p:nvSpPr>
        <p:spPr>
          <a:xfrm>
            <a:off x="10126980" y="2651760"/>
            <a:ext cx="640080" cy="640080"/>
          </a:xfrm>
          <a:prstGeom prst="ellipse">
            <a:avLst/>
          </a:prstGeom>
          <a:solidFill>
            <a:srgbClr val="336791"/>
          </a:solidFill>
          <a:ln/>
        </p:spPr>
      </p:sp>
      <p:sp>
        <p:nvSpPr>
          <p:cNvPr id="22" name="Text 20"/>
          <p:cNvSpPr/>
          <p:nvPr/>
        </p:nvSpPr>
        <p:spPr>
          <a:xfrm>
            <a:off x="10126980" y="2651760"/>
            <a:ext cx="640080" cy="640080"/>
          </a:xfrm>
          <a:prstGeom prst="rect">
            <a:avLst/>
          </a:prstGeom>
          <a:noFill/>
          <a:ln/>
        </p:spPr>
        <p:txBody>
          <a:bodyPr wrap="square" lIns="0" tIns="0" rIns="0" bIns="0" rtlCol="0" anchor="ctr"/>
          <a:lstStyle/>
          <a:p>
            <a:pPr algn="ctr" indent="0" marL="0">
              <a:buNone/>
            </a:pPr>
            <a:r>
              <a:rPr lang="en-US" sz="1540" b="1" dirty="0">
                <a:solidFill>
                  <a:srgbClr val="FFFFFF"/>
                </a:solidFill>
                <a:latin typeface="Calibri" pitchFamily="34" charset="0"/>
                <a:ea typeface="Calibri" pitchFamily="34" charset="-122"/>
                <a:cs typeface="Calibri" pitchFamily="34" charset="-120"/>
              </a:rPr>
              <a:t>4</a:t>
            </a:r>
            <a:endParaRPr lang="en-US" sz="1540" dirty="0"/>
          </a:p>
        </p:txBody>
      </p:sp>
      <p:sp>
        <p:nvSpPr>
          <p:cNvPr id="23" name="Text 21"/>
          <p:cNvSpPr/>
          <p:nvPr/>
        </p:nvSpPr>
        <p:spPr>
          <a:xfrm>
            <a:off x="9235440" y="3429000"/>
            <a:ext cx="2423160" cy="365760"/>
          </a:xfrm>
          <a:prstGeom prst="rect">
            <a:avLst/>
          </a:prstGeom>
          <a:noFill/>
          <a:ln/>
        </p:spPr>
        <p:txBody>
          <a:bodyPr wrap="square" lIns="0" tIns="0" rIns="0" bIns="0" rtlCol="0" anchor="ctr"/>
          <a:lstStyle/>
          <a:p>
            <a:pPr algn="ctr" indent="0" marL="0">
              <a:buNone/>
            </a:pPr>
            <a:r>
              <a:rPr lang="en-US" sz="1500" b="1" dirty="0">
                <a:solidFill>
                  <a:srgbClr val="22303C"/>
                </a:solidFill>
                <a:latin typeface="Cambria" pitchFamily="34" charset="0"/>
                <a:ea typeface="Cambria" pitchFamily="34" charset="-122"/>
                <a:cs typeface="Cambria" pitchFamily="34" charset="-120"/>
              </a:rPr>
              <a:t>Connections</a:t>
            </a:r>
            <a:endParaRPr lang="en-US" sz="1500" dirty="0"/>
          </a:p>
        </p:txBody>
      </p:sp>
      <p:sp>
        <p:nvSpPr>
          <p:cNvPr id="24" name="Text 22"/>
          <p:cNvSpPr/>
          <p:nvPr/>
        </p:nvSpPr>
        <p:spPr>
          <a:xfrm>
            <a:off x="9326880" y="3840480"/>
            <a:ext cx="2240280" cy="1051560"/>
          </a:xfrm>
          <a:prstGeom prst="rect">
            <a:avLst/>
          </a:prstGeom>
          <a:noFill/>
          <a:ln/>
        </p:spPr>
        <p:txBody>
          <a:bodyPr wrap="square" lIns="0" tIns="0" rIns="0" bIns="0" rtlCol="0" anchor="ctr"/>
          <a:lstStyle/>
          <a:p>
            <a:pPr algn="ctr" indent="0" marL="0">
              <a:buNone/>
            </a:pPr>
            <a:r>
              <a:rPr lang="en-US" sz="1150" dirty="0">
                <a:solidFill>
                  <a:srgbClr val="5C6B73"/>
                </a:solidFill>
                <a:latin typeface="Calibri" pitchFamily="34" charset="0"/>
                <a:ea typeface="Calibri" pitchFamily="34" charset="-122"/>
                <a:cs typeface="Calibri" pitchFamily="34" charset="-120"/>
              </a:rPr>
              <a:t>How many clients can be active at once</a:t>
            </a:r>
            <a:endParaRPr lang="en-US" sz="1150" dirty="0"/>
          </a:p>
        </p:txBody>
      </p:sp>
      <p:sp>
        <p:nvSpPr>
          <p:cNvPr id="25" name="Shape 23"/>
          <p:cNvSpPr/>
          <p:nvPr/>
        </p:nvSpPr>
        <p:spPr>
          <a:xfrm>
            <a:off x="457200" y="5257800"/>
            <a:ext cx="11292840" cy="1005840"/>
          </a:xfrm>
          <a:prstGeom prst="roundRect">
            <a:avLst>
              <a:gd name="adj" fmla="val 7273"/>
            </a:avLst>
          </a:prstGeom>
          <a:solidFill>
            <a:srgbClr val="FBEFEA"/>
          </a:solidFill>
          <a:ln w="12700">
            <a:solidFill>
              <a:srgbClr val="E76F51"/>
            </a:solidFill>
            <a:prstDash val="solid"/>
          </a:ln>
        </p:spPr>
      </p:sp>
      <p:sp>
        <p:nvSpPr>
          <p:cNvPr id="26" name="Text 24"/>
          <p:cNvSpPr/>
          <p:nvPr/>
        </p:nvSpPr>
        <p:spPr>
          <a:xfrm>
            <a:off x="731520" y="5257800"/>
            <a:ext cx="10744200" cy="1005840"/>
          </a:xfrm>
          <a:prstGeom prst="rect">
            <a:avLst/>
          </a:prstGeom>
          <a:noFill/>
          <a:ln/>
        </p:spPr>
        <p:txBody>
          <a:bodyPr wrap="square" lIns="0" tIns="0" rIns="0" bIns="0" rtlCol="0" anchor="ctr"/>
          <a:lstStyle/>
          <a:p>
            <a:pPr indent="0" marL="0">
              <a:buNone/>
            </a:pPr>
            <a:r>
              <a:rPr lang="en-US" sz="1300" i="1" dirty="0">
                <a:solidFill>
                  <a:srgbClr val="E76F51"/>
                </a:solidFill>
                <a:latin typeface="Calibri" pitchFamily="34" charset="0"/>
                <a:ea typeface="Calibri" pitchFamily="34" charset="-122"/>
                <a:cs typeface="Calibri" pitchFamily="34" charset="-120"/>
              </a:rPr>
              <a:t>The next slide puts real numbers to each of these categories.</a:t>
            </a:r>
            <a:endParaRPr lang="en-US" sz="1300" dirty="0"/>
          </a:p>
        </p:txBody>
      </p:sp>
      <p:sp>
        <p:nvSpPr>
          <p:cNvPr id="27" name="Text 25"/>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Essentials  |  Limits, psql &amp; Schemas</a:t>
            </a:r>
            <a:endParaRPr lang="en-US" sz="1000" dirty="0"/>
          </a:p>
        </p:txBody>
      </p:sp>
      <p:sp>
        <p:nvSpPr>
          <p:cNvPr id="28" name="Text 26"/>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DB LIMITS</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Key Numbers to Know</a:t>
            </a:r>
            <a:endParaRPr lang="en-US" sz="3000" dirty="0"/>
          </a:p>
        </p:txBody>
      </p:sp>
      <p:sp>
        <p:nvSpPr>
          <p:cNvPr id="4" name="Text 2"/>
          <p:cNvSpPr/>
          <p:nvPr/>
        </p:nvSpPr>
        <p:spPr>
          <a:xfrm>
            <a:off x="457200" y="1298448"/>
            <a:ext cx="11247120" cy="457200"/>
          </a:xfrm>
          <a:prstGeom prst="rect">
            <a:avLst/>
          </a:prstGeom>
          <a:noFill/>
          <a:ln/>
        </p:spPr>
        <p:txBody>
          <a:bodyPr wrap="square" lIns="0" tIns="0" rIns="0" bIns="0" rtlCol="0" anchor="ctr"/>
          <a:lstStyle/>
          <a:p>
            <a:pPr indent="0" marL="0">
              <a:buNone/>
            </a:pPr>
            <a:r>
              <a:rPr lang="en-US" sz="1350" dirty="0">
                <a:solidFill>
                  <a:srgbClr val="5C6B73"/>
                </a:solidFill>
                <a:latin typeface="Calibri" pitchFamily="34" charset="0"/>
                <a:ea typeface="Calibri" pitchFamily="34" charset="-122"/>
                <a:cs typeface="Calibri" pitchFamily="34" charset="-120"/>
              </a:rPr>
              <a:t>These are the numbers worth remembering when designing a schema or sizing an application's connection pool.</a:t>
            </a:r>
            <a:endParaRPr lang="en-US" sz="1350" dirty="0"/>
          </a:p>
        </p:txBody>
      </p:sp>
      <p:sp>
        <p:nvSpPr>
          <p:cNvPr id="5" name="Shape 3"/>
          <p:cNvSpPr/>
          <p:nvPr/>
        </p:nvSpPr>
        <p:spPr>
          <a:xfrm>
            <a:off x="457200" y="1874520"/>
            <a:ext cx="3291840" cy="621792"/>
          </a:xfrm>
          <a:prstGeom prst="rect">
            <a:avLst/>
          </a:prstGeom>
          <a:solidFill>
            <a:srgbClr val="336791"/>
          </a:solidFill>
          <a:ln/>
        </p:spPr>
      </p:sp>
      <p:sp>
        <p:nvSpPr>
          <p:cNvPr id="6" name="Text 4"/>
          <p:cNvSpPr/>
          <p:nvPr/>
        </p:nvSpPr>
        <p:spPr>
          <a:xfrm>
            <a:off x="621792" y="1874520"/>
            <a:ext cx="301752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Limit</a:t>
            </a:r>
            <a:endParaRPr lang="en-US" sz="1300" dirty="0"/>
          </a:p>
        </p:txBody>
      </p:sp>
      <p:sp>
        <p:nvSpPr>
          <p:cNvPr id="7" name="Shape 5"/>
          <p:cNvSpPr/>
          <p:nvPr/>
        </p:nvSpPr>
        <p:spPr>
          <a:xfrm>
            <a:off x="3749040" y="1874520"/>
            <a:ext cx="3017520" cy="621792"/>
          </a:xfrm>
          <a:prstGeom prst="rect">
            <a:avLst/>
          </a:prstGeom>
          <a:solidFill>
            <a:srgbClr val="336791"/>
          </a:solidFill>
          <a:ln/>
        </p:spPr>
      </p:sp>
      <p:sp>
        <p:nvSpPr>
          <p:cNvPr id="8" name="Text 6"/>
          <p:cNvSpPr/>
          <p:nvPr/>
        </p:nvSpPr>
        <p:spPr>
          <a:xfrm>
            <a:off x="3913632" y="1874520"/>
            <a:ext cx="274320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Typical Value</a:t>
            </a:r>
            <a:endParaRPr lang="en-US" sz="1300" dirty="0"/>
          </a:p>
        </p:txBody>
      </p:sp>
      <p:sp>
        <p:nvSpPr>
          <p:cNvPr id="9" name="Shape 7"/>
          <p:cNvSpPr/>
          <p:nvPr/>
        </p:nvSpPr>
        <p:spPr>
          <a:xfrm>
            <a:off x="6766560" y="1874520"/>
            <a:ext cx="4983480" cy="621792"/>
          </a:xfrm>
          <a:prstGeom prst="rect">
            <a:avLst/>
          </a:prstGeom>
          <a:solidFill>
            <a:srgbClr val="336791"/>
          </a:solidFill>
          <a:ln/>
        </p:spPr>
      </p:sp>
      <p:sp>
        <p:nvSpPr>
          <p:cNvPr id="10" name="Text 8"/>
          <p:cNvSpPr/>
          <p:nvPr/>
        </p:nvSpPr>
        <p:spPr>
          <a:xfrm>
            <a:off x="6931152" y="1874520"/>
            <a:ext cx="47091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p>
        </p:txBody>
      </p:sp>
      <p:sp>
        <p:nvSpPr>
          <p:cNvPr id="11" name="Shape 9"/>
          <p:cNvSpPr/>
          <p:nvPr/>
        </p:nvSpPr>
        <p:spPr>
          <a:xfrm>
            <a:off x="457200" y="2496312"/>
            <a:ext cx="3291840" cy="621792"/>
          </a:xfrm>
          <a:prstGeom prst="rect">
            <a:avLst/>
          </a:prstGeom>
          <a:solidFill>
            <a:srgbClr val="FFFFFF"/>
          </a:solidFill>
          <a:ln w="9525">
            <a:solidFill>
              <a:srgbClr val="E4EDF3"/>
            </a:solidFill>
            <a:prstDash val="solid"/>
          </a:ln>
        </p:spPr>
      </p:sp>
      <p:sp>
        <p:nvSpPr>
          <p:cNvPr id="12" name="Text 10"/>
          <p:cNvSpPr/>
          <p:nvPr/>
        </p:nvSpPr>
        <p:spPr>
          <a:xfrm>
            <a:off x="621792" y="2496312"/>
            <a:ext cx="3017520" cy="621792"/>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Identifier length</a:t>
            </a:r>
            <a:endParaRPr lang="en-US" sz="1200" dirty="0"/>
          </a:p>
        </p:txBody>
      </p:sp>
      <p:sp>
        <p:nvSpPr>
          <p:cNvPr id="13" name="Shape 11"/>
          <p:cNvSpPr/>
          <p:nvPr/>
        </p:nvSpPr>
        <p:spPr>
          <a:xfrm>
            <a:off x="3749040" y="2496312"/>
            <a:ext cx="3017520" cy="621792"/>
          </a:xfrm>
          <a:prstGeom prst="rect">
            <a:avLst/>
          </a:prstGeom>
          <a:solidFill>
            <a:srgbClr val="FFFFFF"/>
          </a:solidFill>
          <a:ln w="9525">
            <a:solidFill>
              <a:srgbClr val="E4EDF3"/>
            </a:solidFill>
            <a:prstDash val="solid"/>
          </a:ln>
        </p:spPr>
      </p:sp>
      <p:sp>
        <p:nvSpPr>
          <p:cNvPr id="14" name="Text 12"/>
          <p:cNvSpPr/>
          <p:nvPr/>
        </p:nvSpPr>
        <p:spPr>
          <a:xfrm>
            <a:off x="3913632" y="2496312"/>
            <a:ext cx="274320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63 bytes</a:t>
            </a:r>
            <a:endParaRPr lang="en-US" sz="1150" dirty="0"/>
          </a:p>
        </p:txBody>
      </p:sp>
      <p:sp>
        <p:nvSpPr>
          <p:cNvPr id="15" name="Shape 13"/>
          <p:cNvSpPr/>
          <p:nvPr/>
        </p:nvSpPr>
        <p:spPr>
          <a:xfrm>
            <a:off x="6766560" y="2496312"/>
            <a:ext cx="4983480" cy="621792"/>
          </a:xfrm>
          <a:prstGeom prst="rect">
            <a:avLst/>
          </a:prstGeom>
          <a:solidFill>
            <a:srgbClr val="FFFFFF"/>
          </a:solidFill>
          <a:ln w="9525">
            <a:solidFill>
              <a:srgbClr val="E4EDF3"/>
            </a:solidFill>
            <a:prstDash val="solid"/>
          </a:ln>
        </p:spPr>
      </p:sp>
      <p:sp>
        <p:nvSpPr>
          <p:cNvPr id="16" name="Text 14"/>
          <p:cNvSpPr/>
          <p:nvPr/>
        </p:nvSpPr>
        <p:spPr>
          <a:xfrm>
            <a:off x="6931152" y="2496312"/>
            <a:ext cx="470916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Table, column &amp; index names longer than this are truncated</a:t>
            </a:r>
            <a:endParaRPr lang="en-US" sz="1150" dirty="0"/>
          </a:p>
        </p:txBody>
      </p:sp>
      <p:sp>
        <p:nvSpPr>
          <p:cNvPr id="17" name="Shape 15"/>
          <p:cNvSpPr/>
          <p:nvPr/>
        </p:nvSpPr>
        <p:spPr>
          <a:xfrm>
            <a:off x="457200" y="3118104"/>
            <a:ext cx="3291840" cy="621792"/>
          </a:xfrm>
          <a:prstGeom prst="rect">
            <a:avLst/>
          </a:prstGeom>
          <a:solidFill>
            <a:srgbClr val="F4F8FB"/>
          </a:solidFill>
          <a:ln w="9525">
            <a:solidFill>
              <a:srgbClr val="E4EDF3"/>
            </a:solidFill>
            <a:prstDash val="solid"/>
          </a:ln>
        </p:spPr>
      </p:sp>
      <p:sp>
        <p:nvSpPr>
          <p:cNvPr id="18" name="Text 16"/>
          <p:cNvSpPr/>
          <p:nvPr/>
        </p:nvSpPr>
        <p:spPr>
          <a:xfrm>
            <a:off x="621792" y="3118104"/>
            <a:ext cx="3017520" cy="621792"/>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Columns per table</a:t>
            </a:r>
            <a:endParaRPr lang="en-US" sz="1200" dirty="0"/>
          </a:p>
        </p:txBody>
      </p:sp>
      <p:sp>
        <p:nvSpPr>
          <p:cNvPr id="19" name="Shape 17"/>
          <p:cNvSpPr/>
          <p:nvPr/>
        </p:nvSpPr>
        <p:spPr>
          <a:xfrm>
            <a:off x="3749040" y="3118104"/>
            <a:ext cx="3017520" cy="621792"/>
          </a:xfrm>
          <a:prstGeom prst="rect">
            <a:avLst/>
          </a:prstGeom>
          <a:solidFill>
            <a:srgbClr val="F4F8FB"/>
          </a:solidFill>
          <a:ln w="9525">
            <a:solidFill>
              <a:srgbClr val="E4EDF3"/>
            </a:solidFill>
            <a:prstDash val="solid"/>
          </a:ln>
        </p:spPr>
      </p:sp>
      <p:sp>
        <p:nvSpPr>
          <p:cNvPr id="20" name="Text 18"/>
          <p:cNvSpPr/>
          <p:nvPr/>
        </p:nvSpPr>
        <p:spPr>
          <a:xfrm>
            <a:off x="3913632" y="3118104"/>
            <a:ext cx="274320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~1,600 max</a:t>
            </a:r>
            <a:endParaRPr lang="en-US" sz="1150" dirty="0"/>
          </a:p>
        </p:txBody>
      </p:sp>
      <p:sp>
        <p:nvSpPr>
          <p:cNvPr id="21" name="Shape 19"/>
          <p:cNvSpPr/>
          <p:nvPr/>
        </p:nvSpPr>
        <p:spPr>
          <a:xfrm>
            <a:off x="6766560" y="3118104"/>
            <a:ext cx="4983480" cy="621792"/>
          </a:xfrm>
          <a:prstGeom prst="rect">
            <a:avLst/>
          </a:prstGeom>
          <a:solidFill>
            <a:srgbClr val="F4F8FB"/>
          </a:solidFill>
          <a:ln w="9525">
            <a:solidFill>
              <a:srgbClr val="E4EDF3"/>
            </a:solidFill>
            <a:prstDash val="solid"/>
          </a:ln>
        </p:spPr>
      </p:sp>
      <p:sp>
        <p:nvSpPr>
          <p:cNvPr id="22" name="Text 20"/>
          <p:cNvSpPr/>
          <p:nvPr/>
        </p:nvSpPr>
        <p:spPr>
          <a:xfrm>
            <a:off x="6931152" y="3118104"/>
            <a:ext cx="470916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Practical designs use far fewer; fewer with wide column types</a:t>
            </a:r>
            <a:endParaRPr lang="en-US" sz="1150" dirty="0"/>
          </a:p>
        </p:txBody>
      </p:sp>
      <p:sp>
        <p:nvSpPr>
          <p:cNvPr id="23" name="Shape 21"/>
          <p:cNvSpPr/>
          <p:nvPr/>
        </p:nvSpPr>
        <p:spPr>
          <a:xfrm>
            <a:off x="457200" y="3739896"/>
            <a:ext cx="3291840" cy="621792"/>
          </a:xfrm>
          <a:prstGeom prst="rect">
            <a:avLst/>
          </a:prstGeom>
          <a:solidFill>
            <a:srgbClr val="FFFFFF"/>
          </a:solidFill>
          <a:ln w="9525">
            <a:solidFill>
              <a:srgbClr val="E4EDF3"/>
            </a:solidFill>
            <a:prstDash val="solid"/>
          </a:ln>
        </p:spPr>
      </p:sp>
      <p:sp>
        <p:nvSpPr>
          <p:cNvPr id="24" name="Text 22"/>
          <p:cNvSpPr/>
          <p:nvPr/>
        </p:nvSpPr>
        <p:spPr>
          <a:xfrm>
            <a:off x="621792" y="3739896"/>
            <a:ext cx="3017520" cy="621792"/>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Table size</a:t>
            </a:r>
            <a:endParaRPr lang="en-US" sz="1200" dirty="0"/>
          </a:p>
        </p:txBody>
      </p:sp>
      <p:sp>
        <p:nvSpPr>
          <p:cNvPr id="25" name="Shape 23"/>
          <p:cNvSpPr/>
          <p:nvPr/>
        </p:nvSpPr>
        <p:spPr>
          <a:xfrm>
            <a:off x="3749040" y="3739896"/>
            <a:ext cx="3017520" cy="621792"/>
          </a:xfrm>
          <a:prstGeom prst="rect">
            <a:avLst/>
          </a:prstGeom>
          <a:solidFill>
            <a:srgbClr val="FFFFFF"/>
          </a:solidFill>
          <a:ln w="9525">
            <a:solidFill>
              <a:srgbClr val="E4EDF3"/>
            </a:solidFill>
            <a:prstDash val="solid"/>
          </a:ln>
        </p:spPr>
      </p:sp>
      <p:sp>
        <p:nvSpPr>
          <p:cNvPr id="26" name="Text 24"/>
          <p:cNvSpPr/>
          <p:nvPr/>
        </p:nvSpPr>
        <p:spPr>
          <a:xfrm>
            <a:off x="3913632" y="3739896"/>
            <a:ext cx="274320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32 TB</a:t>
            </a:r>
            <a:endParaRPr lang="en-US" sz="1150" dirty="0"/>
          </a:p>
        </p:txBody>
      </p:sp>
      <p:sp>
        <p:nvSpPr>
          <p:cNvPr id="27" name="Shape 25"/>
          <p:cNvSpPr/>
          <p:nvPr/>
        </p:nvSpPr>
        <p:spPr>
          <a:xfrm>
            <a:off x="6766560" y="3739896"/>
            <a:ext cx="4983480" cy="621792"/>
          </a:xfrm>
          <a:prstGeom prst="rect">
            <a:avLst/>
          </a:prstGeom>
          <a:solidFill>
            <a:srgbClr val="FFFFFF"/>
          </a:solidFill>
          <a:ln w="9525">
            <a:solidFill>
              <a:srgbClr val="E4EDF3"/>
            </a:solidFill>
            <a:prstDash val="solid"/>
          </a:ln>
        </p:spPr>
      </p:sp>
      <p:sp>
        <p:nvSpPr>
          <p:cNvPr id="28" name="Text 26"/>
          <p:cNvSpPr/>
          <p:nvPr/>
        </p:nvSpPr>
        <p:spPr>
          <a:xfrm>
            <a:off x="6931152" y="3739896"/>
            <a:ext cx="470916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Per table, with the default 8 KB page size</a:t>
            </a:r>
            <a:endParaRPr lang="en-US" sz="1150" dirty="0"/>
          </a:p>
        </p:txBody>
      </p:sp>
      <p:sp>
        <p:nvSpPr>
          <p:cNvPr id="29" name="Shape 27"/>
          <p:cNvSpPr/>
          <p:nvPr/>
        </p:nvSpPr>
        <p:spPr>
          <a:xfrm>
            <a:off x="457200" y="4361688"/>
            <a:ext cx="3291840" cy="621792"/>
          </a:xfrm>
          <a:prstGeom prst="rect">
            <a:avLst/>
          </a:prstGeom>
          <a:solidFill>
            <a:srgbClr val="F4F8FB"/>
          </a:solidFill>
          <a:ln w="9525">
            <a:solidFill>
              <a:srgbClr val="E4EDF3"/>
            </a:solidFill>
            <a:prstDash val="solid"/>
          </a:ln>
        </p:spPr>
      </p:sp>
      <p:sp>
        <p:nvSpPr>
          <p:cNvPr id="30" name="Text 28"/>
          <p:cNvSpPr/>
          <p:nvPr/>
        </p:nvSpPr>
        <p:spPr>
          <a:xfrm>
            <a:off x="621792" y="4361688"/>
            <a:ext cx="3017520" cy="621792"/>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Field (single value) size</a:t>
            </a:r>
            <a:endParaRPr lang="en-US" sz="1200" dirty="0"/>
          </a:p>
        </p:txBody>
      </p:sp>
      <p:sp>
        <p:nvSpPr>
          <p:cNvPr id="31" name="Shape 29"/>
          <p:cNvSpPr/>
          <p:nvPr/>
        </p:nvSpPr>
        <p:spPr>
          <a:xfrm>
            <a:off x="3749040" y="4361688"/>
            <a:ext cx="3017520" cy="621792"/>
          </a:xfrm>
          <a:prstGeom prst="rect">
            <a:avLst/>
          </a:prstGeom>
          <a:solidFill>
            <a:srgbClr val="F4F8FB"/>
          </a:solidFill>
          <a:ln w="9525">
            <a:solidFill>
              <a:srgbClr val="E4EDF3"/>
            </a:solidFill>
            <a:prstDash val="solid"/>
          </a:ln>
        </p:spPr>
      </p:sp>
      <p:sp>
        <p:nvSpPr>
          <p:cNvPr id="32" name="Text 30"/>
          <p:cNvSpPr/>
          <p:nvPr/>
        </p:nvSpPr>
        <p:spPr>
          <a:xfrm>
            <a:off x="3913632" y="4361688"/>
            <a:ext cx="274320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1 GB</a:t>
            </a:r>
            <a:endParaRPr lang="en-US" sz="1150" dirty="0"/>
          </a:p>
        </p:txBody>
      </p:sp>
      <p:sp>
        <p:nvSpPr>
          <p:cNvPr id="33" name="Shape 31"/>
          <p:cNvSpPr/>
          <p:nvPr/>
        </p:nvSpPr>
        <p:spPr>
          <a:xfrm>
            <a:off x="6766560" y="4361688"/>
            <a:ext cx="4983480" cy="621792"/>
          </a:xfrm>
          <a:prstGeom prst="rect">
            <a:avLst/>
          </a:prstGeom>
          <a:solidFill>
            <a:srgbClr val="F4F8FB"/>
          </a:solidFill>
          <a:ln w="9525">
            <a:solidFill>
              <a:srgbClr val="E4EDF3"/>
            </a:solidFill>
            <a:prstDash val="solid"/>
          </a:ln>
        </p:spPr>
      </p:sp>
      <p:sp>
        <p:nvSpPr>
          <p:cNvPr id="34" name="Text 32"/>
          <p:cNvSpPr/>
          <p:nvPr/>
        </p:nvSpPr>
        <p:spPr>
          <a:xfrm>
            <a:off x="6931152" y="4361688"/>
            <a:ext cx="470916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Large values are auto-moved to TOAST storage</a:t>
            </a:r>
            <a:endParaRPr lang="en-US" sz="1150" dirty="0"/>
          </a:p>
        </p:txBody>
      </p:sp>
      <p:sp>
        <p:nvSpPr>
          <p:cNvPr id="35" name="Shape 33"/>
          <p:cNvSpPr/>
          <p:nvPr/>
        </p:nvSpPr>
        <p:spPr>
          <a:xfrm>
            <a:off x="457200" y="4983480"/>
            <a:ext cx="3291840" cy="621792"/>
          </a:xfrm>
          <a:prstGeom prst="rect">
            <a:avLst/>
          </a:prstGeom>
          <a:solidFill>
            <a:srgbClr val="FFFFFF"/>
          </a:solidFill>
          <a:ln w="9525">
            <a:solidFill>
              <a:srgbClr val="E4EDF3"/>
            </a:solidFill>
            <a:prstDash val="solid"/>
          </a:ln>
        </p:spPr>
      </p:sp>
      <p:sp>
        <p:nvSpPr>
          <p:cNvPr id="36" name="Text 34"/>
          <p:cNvSpPr/>
          <p:nvPr/>
        </p:nvSpPr>
        <p:spPr>
          <a:xfrm>
            <a:off x="621792" y="4983480"/>
            <a:ext cx="3017520" cy="621792"/>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Database size</a:t>
            </a:r>
            <a:endParaRPr lang="en-US" sz="1200" dirty="0"/>
          </a:p>
        </p:txBody>
      </p:sp>
      <p:sp>
        <p:nvSpPr>
          <p:cNvPr id="37" name="Shape 35"/>
          <p:cNvSpPr/>
          <p:nvPr/>
        </p:nvSpPr>
        <p:spPr>
          <a:xfrm>
            <a:off x="3749040" y="4983480"/>
            <a:ext cx="3017520" cy="621792"/>
          </a:xfrm>
          <a:prstGeom prst="rect">
            <a:avLst/>
          </a:prstGeom>
          <a:solidFill>
            <a:srgbClr val="FFFFFF"/>
          </a:solidFill>
          <a:ln w="9525">
            <a:solidFill>
              <a:srgbClr val="E4EDF3"/>
            </a:solidFill>
            <a:prstDash val="solid"/>
          </a:ln>
        </p:spPr>
      </p:sp>
      <p:sp>
        <p:nvSpPr>
          <p:cNvPr id="38" name="Text 36"/>
          <p:cNvSpPr/>
          <p:nvPr/>
        </p:nvSpPr>
        <p:spPr>
          <a:xfrm>
            <a:off x="3913632" y="4983480"/>
            <a:ext cx="274320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Unlimited</a:t>
            </a:r>
            <a:endParaRPr lang="en-US" sz="1150" dirty="0"/>
          </a:p>
        </p:txBody>
      </p:sp>
      <p:sp>
        <p:nvSpPr>
          <p:cNvPr id="39" name="Shape 37"/>
          <p:cNvSpPr/>
          <p:nvPr/>
        </p:nvSpPr>
        <p:spPr>
          <a:xfrm>
            <a:off x="6766560" y="4983480"/>
            <a:ext cx="4983480" cy="621792"/>
          </a:xfrm>
          <a:prstGeom prst="rect">
            <a:avLst/>
          </a:prstGeom>
          <a:solidFill>
            <a:srgbClr val="FFFFFF"/>
          </a:solidFill>
          <a:ln w="9525">
            <a:solidFill>
              <a:srgbClr val="E4EDF3"/>
            </a:solidFill>
            <a:prstDash val="solid"/>
          </a:ln>
        </p:spPr>
      </p:sp>
      <p:sp>
        <p:nvSpPr>
          <p:cNvPr id="40" name="Text 38"/>
          <p:cNvSpPr/>
          <p:nvPr/>
        </p:nvSpPr>
        <p:spPr>
          <a:xfrm>
            <a:off x="6931152" y="4983480"/>
            <a:ext cx="470916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Bounded only by available disk space</a:t>
            </a:r>
            <a:endParaRPr lang="en-US" sz="1150" dirty="0"/>
          </a:p>
        </p:txBody>
      </p:sp>
      <p:sp>
        <p:nvSpPr>
          <p:cNvPr id="41" name="Shape 39"/>
          <p:cNvSpPr/>
          <p:nvPr/>
        </p:nvSpPr>
        <p:spPr>
          <a:xfrm>
            <a:off x="457200" y="5605272"/>
            <a:ext cx="3291840" cy="621792"/>
          </a:xfrm>
          <a:prstGeom prst="rect">
            <a:avLst/>
          </a:prstGeom>
          <a:solidFill>
            <a:srgbClr val="F4F8FB"/>
          </a:solidFill>
          <a:ln w="9525">
            <a:solidFill>
              <a:srgbClr val="E4EDF3"/>
            </a:solidFill>
            <a:prstDash val="solid"/>
          </a:ln>
        </p:spPr>
      </p:sp>
      <p:sp>
        <p:nvSpPr>
          <p:cNvPr id="42" name="Text 40"/>
          <p:cNvSpPr/>
          <p:nvPr/>
        </p:nvSpPr>
        <p:spPr>
          <a:xfrm>
            <a:off x="621792" y="5605272"/>
            <a:ext cx="3017520" cy="621792"/>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Connections</a:t>
            </a:r>
            <a:endParaRPr lang="en-US" sz="1200" dirty="0"/>
          </a:p>
        </p:txBody>
      </p:sp>
      <p:sp>
        <p:nvSpPr>
          <p:cNvPr id="43" name="Shape 41"/>
          <p:cNvSpPr/>
          <p:nvPr/>
        </p:nvSpPr>
        <p:spPr>
          <a:xfrm>
            <a:off x="3749040" y="5605272"/>
            <a:ext cx="3017520" cy="621792"/>
          </a:xfrm>
          <a:prstGeom prst="rect">
            <a:avLst/>
          </a:prstGeom>
          <a:solidFill>
            <a:srgbClr val="F4F8FB"/>
          </a:solidFill>
          <a:ln w="9525">
            <a:solidFill>
              <a:srgbClr val="E4EDF3"/>
            </a:solidFill>
            <a:prstDash val="solid"/>
          </a:ln>
        </p:spPr>
      </p:sp>
      <p:sp>
        <p:nvSpPr>
          <p:cNvPr id="44" name="Text 42"/>
          <p:cNvSpPr/>
          <p:nvPr/>
        </p:nvSpPr>
        <p:spPr>
          <a:xfrm>
            <a:off x="3913632" y="5605272"/>
            <a:ext cx="274320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max_connections (default 100)</a:t>
            </a:r>
            <a:endParaRPr lang="en-US" sz="1150" dirty="0"/>
          </a:p>
        </p:txBody>
      </p:sp>
      <p:sp>
        <p:nvSpPr>
          <p:cNvPr id="45" name="Shape 43"/>
          <p:cNvSpPr/>
          <p:nvPr/>
        </p:nvSpPr>
        <p:spPr>
          <a:xfrm>
            <a:off x="6766560" y="5605272"/>
            <a:ext cx="4983480" cy="621792"/>
          </a:xfrm>
          <a:prstGeom prst="rect">
            <a:avLst/>
          </a:prstGeom>
          <a:solidFill>
            <a:srgbClr val="F4F8FB"/>
          </a:solidFill>
          <a:ln w="9525">
            <a:solidFill>
              <a:srgbClr val="E4EDF3"/>
            </a:solidFill>
            <a:prstDash val="solid"/>
          </a:ln>
        </p:spPr>
      </p:sp>
      <p:sp>
        <p:nvSpPr>
          <p:cNvPr id="46" name="Text 44"/>
          <p:cNvSpPr/>
          <p:nvPr/>
        </p:nvSpPr>
        <p:spPr>
          <a:xfrm>
            <a:off x="6931152" y="5605272"/>
            <a:ext cx="4709160" cy="621792"/>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Each connection is a full backend process — use a pooler for scale</a:t>
            </a:r>
            <a:endParaRPr lang="en-US" sz="1150" dirty="0"/>
          </a:p>
        </p:txBody>
      </p:sp>
      <p:sp>
        <p:nvSpPr>
          <p:cNvPr id="47" name="Text 45"/>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Essentials  |  Limits, psql &amp; Schemas</a:t>
            </a:r>
            <a:endParaRPr lang="en-US" sz="1000" dirty="0"/>
          </a:p>
        </p:txBody>
      </p:sp>
      <p:sp>
        <p:nvSpPr>
          <p:cNvPr id="48" name="Text 46"/>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PSQL COMMANDS</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psql: The Official Command-Line Client</a:t>
            </a:r>
            <a:endParaRPr lang="en-US" sz="3000" dirty="0"/>
          </a:p>
        </p:txBody>
      </p:sp>
      <p:sp>
        <p:nvSpPr>
          <p:cNvPr id="4" name="Text 2"/>
          <p:cNvSpPr/>
          <p:nvPr/>
        </p:nvSpPr>
        <p:spPr>
          <a:xfrm>
            <a:off x="457200" y="1280160"/>
            <a:ext cx="11247120" cy="777240"/>
          </a:xfrm>
          <a:prstGeom prst="rect">
            <a:avLst/>
          </a:prstGeom>
          <a:noFill/>
          <a:ln/>
        </p:spPr>
        <p:txBody>
          <a:bodyPr wrap="square" lIns="0" tIns="0" rIns="0" bIns="0" rtlCol="0" anchor="ctr"/>
          <a:lstStyle/>
          <a:p>
            <a:pPr indent="0" marL="0">
              <a:buNone/>
            </a:pPr>
            <a:r>
              <a:rPr lang="en-US" sz="1300" dirty="0">
                <a:solidFill>
                  <a:srgbClr val="5C6B73"/>
                </a:solidFill>
                <a:latin typeface="Calibri" pitchFamily="34" charset="0"/>
                <a:ea typeface="Calibri" pitchFamily="34" charset="-122"/>
                <a:cs typeface="Calibri" pitchFamily="34" charset="-120"/>
              </a:rPr>
              <a:t>psql is Postgres' interactive terminal client. It sends the SQL you type to the server like any other client, but also understands special backslash "meta-commands" for exploring the database without writing SQL.</a:t>
            </a:r>
            <a:endParaRPr lang="en-US" sz="1300" dirty="0"/>
          </a:p>
        </p:txBody>
      </p:sp>
      <p:sp>
        <p:nvSpPr>
          <p:cNvPr id="5" name="Shape 3"/>
          <p:cNvSpPr/>
          <p:nvPr/>
        </p:nvSpPr>
        <p:spPr>
          <a:xfrm>
            <a:off x="457200" y="2606040"/>
            <a:ext cx="2103120" cy="822960"/>
          </a:xfrm>
          <a:prstGeom prst="roundRect">
            <a:avLst>
              <a:gd name="adj" fmla="val 8889"/>
            </a:avLst>
          </a:prstGeom>
          <a:solidFill>
            <a:srgbClr val="FFFFFF"/>
          </a:solidFill>
          <a:ln w="15875">
            <a:solidFill>
              <a:srgbClr val="5C6B73"/>
            </a:solidFill>
            <a:prstDash val="solid"/>
          </a:ln>
        </p:spPr>
      </p:sp>
      <p:sp>
        <p:nvSpPr>
          <p:cNvPr id="6" name="Text 4"/>
          <p:cNvSpPr/>
          <p:nvPr/>
        </p:nvSpPr>
        <p:spPr>
          <a:xfrm>
            <a:off x="457200" y="2606040"/>
            <a:ext cx="2103120" cy="822960"/>
          </a:xfrm>
          <a:prstGeom prst="rect">
            <a:avLst/>
          </a:prstGeom>
          <a:noFill/>
          <a:ln/>
        </p:spPr>
        <p:txBody>
          <a:bodyPr wrap="square" lIns="0" tIns="0" rIns="0" bIns="0" rtlCol="0" anchor="ctr"/>
          <a:lstStyle/>
          <a:p>
            <a:pPr algn="ctr" indent="0" marL="0">
              <a:buNone/>
            </a:pPr>
            <a:r>
              <a:rPr lang="en-US" sz="1350" b="1" dirty="0">
                <a:solidFill>
                  <a:srgbClr val="22303C"/>
                </a:solidFill>
                <a:latin typeface="Calibri" pitchFamily="34" charset="0"/>
                <a:ea typeface="Calibri" pitchFamily="34" charset="-122"/>
                <a:cs typeface="Calibri" pitchFamily="34" charset="-120"/>
              </a:rPr>
              <a:t>Terminal</a:t>
            </a:r>
            <a:endParaRPr lang="en-US" sz="1350" dirty="0"/>
          </a:p>
        </p:txBody>
      </p:sp>
      <p:sp>
        <p:nvSpPr>
          <p:cNvPr id="7" name="Shape 5"/>
          <p:cNvSpPr/>
          <p:nvPr/>
        </p:nvSpPr>
        <p:spPr>
          <a:xfrm>
            <a:off x="2560320" y="3017520"/>
            <a:ext cx="640080" cy="914"/>
          </a:xfrm>
          <a:prstGeom prst="line">
            <a:avLst/>
          </a:prstGeom>
          <a:noFill/>
          <a:ln w="19050">
            <a:solidFill>
              <a:srgbClr val="5C6B73"/>
            </a:solidFill>
            <a:prstDash val="solid"/>
            <a:tailEnd type="triangle"/>
          </a:ln>
        </p:spPr>
      </p:sp>
      <p:sp>
        <p:nvSpPr>
          <p:cNvPr id="8" name="Shape 6"/>
          <p:cNvSpPr/>
          <p:nvPr/>
        </p:nvSpPr>
        <p:spPr>
          <a:xfrm>
            <a:off x="3200400" y="2514600"/>
            <a:ext cx="2286000" cy="1005840"/>
          </a:xfrm>
          <a:prstGeom prst="roundRect">
            <a:avLst>
              <a:gd name="adj" fmla="val 7273"/>
            </a:avLst>
          </a:prstGeom>
          <a:solidFill>
            <a:srgbClr val="336791"/>
          </a:solidFill>
          <a:ln/>
        </p:spPr>
      </p:sp>
      <p:sp>
        <p:nvSpPr>
          <p:cNvPr id="9" name="Text 7"/>
          <p:cNvSpPr/>
          <p:nvPr/>
        </p:nvSpPr>
        <p:spPr>
          <a:xfrm>
            <a:off x="3200400" y="2514600"/>
            <a:ext cx="2286000"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psql client</a:t>
            </a:r>
            <a:endParaRPr lang="en-US" sz="1400" dirty="0"/>
          </a:p>
        </p:txBody>
      </p:sp>
      <p:sp>
        <p:nvSpPr>
          <p:cNvPr id="10" name="Shape 8"/>
          <p:cNvSpPr/>
          <p:nvPr/>
        </p:nvSpPr>
        <p:spPr>
          <a:xfrm>
            <a:off x="5486400" y="3017520"/>
            <a:ext cx="822960" cy="914"/>
          </a:xfrm>
          <a:prstGeom prst="line">
            <a:avLst/>
          </a:prstGeom>
          <a:noFill/>
          <a:ln w="19050">
            <a:solidFill>
              <a:srgbClr val="AFCFE6"/>
            </a:solidFill>
            <a:prstDash val="solid"/>
            <a:tailEnd type="triangle"/>
          </a:ln>
        </p:spPr>
      </p:sp>
      <p:sp>
        <p:nvSpPr>
          <p:cNvPr id="11" name="Text 9"/>
          <p:cNvSpPr/>
          <p:nvPr/>
        </p:nvSpPr>
        <p:spPr>
          <a:xfrm>
            <a:off x="5623560" y="2039112"/>
            <a:ext cx="1463040" cy="274320"/>
          </a:xfrm>
          <a:prstGeom prst="rect">
            <a:avLst/>
          </a:prstGeom>
          <a:noFill/>
          <a:ln/>
        </p:spPr>
        <p:txBody>
          <a:bodyPr wrap="square" lIns="0" tIns="0" rIns="0" bIns="0" rtlCol="0" anchor="ctr"/>
          <a:lstStyle/>
          <a:p>
            <a:pPr algn="ctr" indent="0" marL="0">
              <a:buNone/>
            </a:pPr>
            <a:r>
              <a:rPr lang="en-US" sz="1050" i="1" dirty="0">
                <a:solidFill>
                  <a:srgbClr val="5C6B73"/>
                </a:solidFill>
                <a:latin typeface="Calibri" pitchFamily="34" charset="0"/>
                <a:ea typeface="Calibri" pitchFamily="34" charset="-122"/>
                <a:cs typeface="Calibri" pitchFamily="34" charset="-120"/>
              </a:rPr>
              <a:t>TCP :5432</a:t>
            </a:r>
            <a:endParaRPr lang="en-US" sz="1050" dirty="0"/>
          </a:p>
        </p:txBody>
      </p:sp>
      <p:sp>
        <p:nvSpPr>
          <p:cNvPr id="12" name="Shape 10"/>
          <p:cNvSpPr/>
          <p:nvPr/>
        </p:nvSpPr>
        <p:spPr>
          <a:xfrm>
            <a:off x="6309360" y="2423160"/>
            <a:ext cx="2743200" cy="1188720"/>
          </a:xfrm>
          <a:prstGeom prst="roundRect">
            <a:avLst>
              <a:gd name="adj" fmla="val 6154"/>
            </a:avLst>
          </a:prstGeom>
          <a:solidFill>
            <a:srgbClr val="FBEFEA"/>
          </a:solidFill>
          <a:ln w="12700">
            <a:solidFill>
              <a:srgbClr val="E76F51"/>
            </a:solidFill>
            <a:prstDash val="solid"/>
          </a:ln>
        </p:spPr>
      </p:sp>
      <p:sp>
        <p:nvSpPr>
          <p:cNvPr id="13" name="Text 11"/>
          <p:cNvSpPr/>
          <p:nvPr/>
        </p:nvSpPr>
        <p:spPr>
          <a:xfrm>
            <a:off x="6309360" y="2423160"/>
            <a:ext cx="2743200" cy="1188720"/>
          </a:xfrm>
          <a:prstGeom prst="rect">
            <a:avLst/>
          </a:prstGeom>
          <a:noFill/>
          <a:ln/>
        </p:spPr>
        <p:txBody>
          <a:bodyPr wrap="square" lIns="0" tIns="0" rIns="0" bIns="0" rtlCol="0" anchor="ctr"/>
          <a:lstStyle/>
          <a:p>
            <a:pPr algn="ctr" indent="0" marL="0">
              <a:buNone/>
            </a:pPr>
            <a:r>
              <a:rPr lang="en-US" sz="1300" b="1" dirty="0">
                <a:solidFill>
                  <a:srgbClr val="E76F51"/>
                </a:solidFill>
                <a:latin typeface="Calibri" pitchFamily="34" charset="0"/>
                <a:ea typeface="Calibri" pitchFamily="34" charset="-122"/>
                <a:cs typeface="Calibri" pitchFamily="34" charset="-120"/>
              </a:rPr>
              <a:t>Postgres Server</a:t>
            </a:r>
            <a:endParaRPr lang="en-US" sz="1300" dirty="0"/>
          </a:p>
          <a:p>
            <a:pPr algn="ctr" indent="0" marL="0">
              <a:buNone/>
            </a:pPr>
            <a:r>
              <a:rPr lang="en-US" sz="1300" b="1" dirty="0">
                <a:solidFill>
                  <a:srgbClr val="E76F51"/>
                </a:solidFill>
                <a:latin typeface="Calibri" pitchFamily="34" charset="0"/>
                <a:ea typeface="Calibri" pitchFamily="34" charset="-122"/>
                <a:cs typeface="Calibri" pitchFamily="34" charset="-120"/>
              </a:rPr>
              <a:t>(backend process)</a:t>
            </a:r>
            <a:endParaRPr lang="en-US" sz="1300" dirty="0"/>
          </a:p>
        </p:txBody>
      </p:sp>
      <p:sp>
        <p:nvSpPr>
          <p:cNvPr id="14" name="Shape 12"/>
          <p:cNvSpPr/>
          <p:nvPr/>
        </p:nvSpPr>
        <p:spPr>
          <a:xfrm>
            <a:off x="457200" y="4069080"/>
            <a:ext cx="11292840" cy="1783080"/>
          </a:xfrm>
          <a:prstGeom prst="roundRect">
            <a:avLst>
              <a:gd name="adj" fmla="val 4103"/>
            </a:avLst>
          </a:prstGeom>
          <a:solidFill>
            <a:srgbClr val="F4F8FB"/>
          </a:solidFill>
          <a:ln w="12700">
            <a:solidFill>
              <a:srgbClr val="AFCFE6"/>
            </a:solidFill>
            <a:prstDash val="solid"/>
          </a:ln>
        </p:spPr>
      </p:sp>
      <p:sp>
        <p:nvSpPr>
          <p:cNvPr id="15" name="Text 13"/>
          <p:cNvSpPr/>
          <p:nvPr/>
        </p:nvSpPr>
        <p:spPr>
          <a:xfrm>
            <a:off x="731520" y="4206240"/>
            <a:ext cx="5486400" cy="320040"/>
          </a:xfrm>
          <a:prstGeom prst="rect">
            <a:avLst/>
          </a:prstGeom>
          <a:noFill/>
          <a:ln/>
        </p:spPr>
        <p:txBody>
          <a:bodyPr wrap="square" lIns="0" tIns="0" rIns="0" bIns="0" rtlCol="0" anchor="ctr"/>
          <a:lstStyle/>
          <a:p>
            <a:pPr indent="0" marL="0">
              <a:buNone/>
            </a:pPr>
            <a:r>
              <a:rPr lang="en-US" sz="1300" b="1" dirty="0">
                <a:solidFill>
                  <a:srgbClr val="22303C"/>
                </a:solidFill>
                <a:latin typeface="Calibri" pitchFamily="34" charset="0"/>
                <a:ea typeface="Calibri" pitchFamily="34" charset="-122"/>
                <a:cs typeface="Calibri" pitchFamily="34" charset="-120"/>
              </a:rPr>
              <a:t>Common ways to connect</a:t>
            </a:r>
            <a:endParaRPr lang="en-US" sz="1300" dirty="0"/>
          </a:p>
        </p:txBody>
      </p:sp>
      <p:sp>
        <p:nvSpPr>
          <p:cNvPr id="16" name="Text 14"/>
          <p:cNvSpPr/>
          <p:nvPr/>
        </p:nvSpPr>
        <p:spPr>
          <a:xfrm>
            <a:off x="731520" y="4572000"/>
            <a:ext cx="10698480" cy="365760"/>
          </a:xfrm>
          <a:prstGeom prst="rect">
            <a:avLst/>
          </a:prstGeom>
          <a:noFill/>
          <a:ln/>
        </p:spPr>
        <p:txBody>
          <a:bodyPr wrap="square" lIns="0" tIns="0" rIns="0" bIns="0" rtlCol="0" anchor="ctr"/>
          <a:lstStyle/>
          <a:p>
            <a:pPr indent="0" marL="0">
              <a:buNone/>
            </a:pPr>
            <a:r>
              <a:rPr lang="en-US" sz="1300" b="1" dirty="0">
                <a:solidFill>
                  <a:srgbClr val="336791"/>
                </a:solidFill>
                <a:latin typeface="Courier New" pitchFamily="34" charset="0"/>
                <a:ea typeface="Courier New" pitchFamily="34" charset="-122"/>
                <a:cs typeface="Courier New" pitchFamily="34" charset="-120"/>
              </a:rPr>
              <a:t>psql -h localhost -U appuser -d mydb</a:t>
            </a:r>
            <a:endParaRPr lang="en-US" sz="1300" dirty="0"/>
          </a:p>
        </p:txBody>
      </p:sp>
      <p:sp>
        <p:nvSpPr>
          <p:cNvPr id="17" name="Text 15"/>
          <p:cNvSpPr/>
          <p:nvPr/>
        </p:nvSpPr>
        <p:spPr>
          <a:xfrm>
            <a:off x="731520" y="4983480"/>
            <a:ext cx="10698480" cy="365760"/>
          </a:xfrm>
          <a:prstGeom prst="rect">
            <a:avLst/>
          </a:prstGeom>
          <a:noFill/>
          <a:ln/>
        </p:spPr>
        <p:txBody>
          <a:bodyPr wrap="square" lIns="0" tIns="0" rIns="0" bIns="0" rtlCol="0" anchor="ctr"/>
          <a:lstStyle/>
          <a:p>
            <a:pPr indent="0" marL="0">
              <a:buNone/>
            </a:pPr>
            <a:r>
              <a:rPr lang="en-US" sz="1300" b="1" dirty="0">
                <a:solidFill>
                  <a:srgbClr val="336791"/>
                </a:solidFill>
                <a:latin typeface="Courier New" pitchFamily="34" charset="0"/>
                <a:ea typeface="Courier New" pitchFamily="34" charset="-122"/>
                <a:cs typeface="Courier New" pitchFamily="34" charset="-120"/>
              </a:rPr>
              <a:t>psql "postgresql://appuser:pw@localhost:5432/mydb"</a:t>
            </a:r>
            <a:endParaRPr lang="en-US" sz="1300" dirty="0"/>
          </a:p>
        </p:txBody>
      </p:sp>
      <p:sp>
        <p:nvSpPr>
          <p:cNvPr id="18" name="Text 16"/>
          <p:cNvSpPr/>
          <p:nvPr/>
        </p:nvSpPr>
        <p:spPr>
          <a:xfrm>
            <a:off x="731520" y="5413248"/>
            <a:ext cx="10698480" cy="320040"/>
          </a:xfrm>
          <a:prstGeom prst="rect">
            <a:avLst/>
          </a:prstGeom>
          <a:noFill/>
          <a:ln/>
        </p:spPr>
        <p:txBody>
          <a:bodyPr wrap="square" lIns="0" tIns="0" rIns="0" bIns="0" rtlCol="0" anchor="ctr"/>
          <a:lstStyle/>
          <a:p>
            <a:pPr indent="0" marL="0">
              <a:buNone/>
            </a:pPr>
            <a:r>
              <a:rPr lang="en-US" sz="1150" dirty="0">
                <a:solidFill>
                  <a:srgbClr val="5C6B73"/>
                </a:solidFill>
                <a:latin typeface="Courier New" pitchFamily="34" charset="0"/>
                <a:ea typeface="Courier New" pitchFamily="34" charset="-122"/>
                <a:cs typeface="Courier New" pitchFamily="34" charset="-120"/>
              </a:rPr>
              <a:t>psql mydb   (uses current OS user &amp; local defaults)</a:t>
            </a:r>
            <a:endParaRPr lang="en-US" sz="1150" dirty="0"/>
          </a:p>
        </p:txBody>
      </p:sp>
      <p:sp>
        <p:nvSpPr>
          <p:cNvPr id="19" name="Text 17"/>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Essentials  |  Limits, psql &amp; Schemas</a:t>
            </a:r>
            <a:endParaRPr lang="en-US" sz="1000" dirty="0"/>
          </a:p>
        </p:txBody>
      </p:sp>
      <p:sp>
        <p:nvSpPr>
          <p:cNvPr id="20" name="Text 18"/>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PSQL COMMANDS</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Finding Your Way Around</a:t>
            </a:r>
            <a:endParaRPr lang="en-US" sz="3000" dirty="0"/>
          </a:p>
        </p:txBody>
      </p:sp>
      <p:sp>
        <p:nvSpPr>
          <p:cNvPr id="4" name="Text 2"/>
          <p:cNvSpPr/>
          <p:nvPr/>
        </p:nvSpPr>
        <p:spPr>
          <a:xfrm>
            <a:off x="457200" y="1298448"/>
            <a:ext cx="11247120" cy="457200"/>
          </a:xfrm>
          <a:prstGeom prst="rect">
            <a:avLst/>
          </a:prstGeom>
          <a:noFill/>
          <a:ln/>
        </p:spPr>
        <p:txBody>
          <a:bodyPr wrap="square" lIns="0" tIns="0" rIns="0" bIns="0" rtlCol="0" anchor="ctr"/>
          <a:lstStyle/>
          <a:p>
            <a:pPr indent="0" marL="0">
              <a:buNone/>
            </a:pPr>
            <a:r>
              <a:rPr lang="en-US" sz="1350" dirty="0">
                <a:solidFill>
                  <a:srgbClr val="5C6B73"/>
                </a:solidFill>
                <a:latin typeface="Calibri" pitchFamily="34" charset="0"/>
                <a:ea typeface="Calibri" pitchFamily="34" charset="-122"/>
                <a:cs typeface="Calibri" pitchFamily="34" charset="-120"/>
              </a:rPr>
              <a:t>These are the meta-commands you'll reach for constantly to see what's actually in a database, without writing a single SELECT.</a:t>
            </a:r>
            <a:endParaRPr lang="en-US" sz="1350" dirty="0"/>
          </a:p>
        </p:txBody>
      </p:sp>
      <p:sp>
        <p:nvSpPr>
          <p:cNvPr id="5" name="Shape 3"/>
          <p:cNvSpPr/>
          <p:nvPr/>
        </p:nvSpPr>
        <p:spPr>
          <a:xfrm>
            <a:off x="457200" y="1874520"/>
            <a:ext cx="3017520" cy="548640"/>
          </a:xfrm>
          <a:prstGeom prst="rect">
            <a:avLst/>
          </a:prstGeom>
          <a:solidFill>
            <a:srgbClr val="336791"/>
          </a:solidFill>
          <a:ln/>
        </p:spPr>
      </p:sp>
      <p:sp>
        <p:nvSpPr>
          <p:cNvPr id="6" name="Text 4"/>
          <p:cNvSpPr/>
          <p:nvPr/>
        </p:nvSpPr>
        <p:spPr>
          <a:xfrm>
            <a:off x="621792" y="1874520"/>
            <a:ext cx="274320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Command</a:t>
            </a:r>
            <a:endParaRPr lang="en-US" sz="1300" dirty="0"/>
          </a:p>
        </p:txBody>
      </p:sp>
      <p:sp>
        <p:nvSpPr>
          <p:cNvPr id="7" name="Shape 5"/>
          <p:cNvSpPr/>
          <p:nvPr/>
        </p:nvSpPr>
        <p:spPr>
          <a:xfrm>
            <a:off x="3474720" y="1874520"/>
            <a:ext cx="8275320" cy="548640"/>
          </a:xfrm>
          <a:prstGeom prst="rect">
            <a:avLst/>
          </a:prstGeom>
          <a:solidFill>
            <a:srgbClr val="336791"/>
          </a:solidFill>
          <a:ln/>
        </p:spPr>
      </p:sp>
      <p:sp>
        <p:nvSpPr>
          <p:cNvPr id="8" name="Text 6"/>
          <p:cNvSpPr/>
          <p:nvPr/>
        </p:nvSpPr>
        <p:spPr>
          <a:xfrm>
            <a:off x="3639312" y="1874520"/>
            <a:ext cx="800100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p>
        </p:txBody>
      </p:sp>
      <p:sp>
        <p:nvSpPr>
          <p:cNvPr id="9" name="Shape 7"/>
          <p:cNvSpPr/>
          <p:nvPr/>
        </p:nvSpPr>
        <p:spPr>
          <a:xfrm>
            <a:off x="457200" y="2423160"/>
            <a:ext cx="3017520" cy="548640"/>
          </a:xfrm>
          <a:prstGeom prst="rect">
            <a:avLst/>
          </a:prstGeom>
          <a:solidFill>
            <a:srgbClr val="FFFFFF"/>
          </a:solidFill>
          <a:ln w="9525">
            <a:solidFill>
              <a:srgbClr val="E4EDF3"/>
            </a:solidFill>
            <a:prstDash val="solid"/>
          </a:ln>
        </p:spPr>
      </p:sp>
      <p:sp>
        <p:nvSpPr>
          <p:cNvPr id="10" name="Text 8"/>
          <p:cNvSpPr/>
          <p:nvPr/>
        </p:nvSpPr>
        <p:spPr>
          <a:xfrm>
            <a:off x="621792" y="2423160"/>
            <a:ext cx="27432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\l</a:t>
            </a:r>
            <a:endParaRPr lang="en-US" sz="1200" dirty="0"/>
          </a:p>
        </p:txBody>
      </p:sp>
      <p:sp>
        <p:nvSpPr>
          <p:cNvPr id="11" name="Shape 9"/>
          <p:cNvSpPr/>
          <p:nvPr/>
        </p:nvSpPr>
        <p:spPr>
          <a:xfrm>
            <a:off x="3474720" y="2423160"/>
            <a:ext cx="8275320" cy="548640"/>
          </a:xfrm>
          <a:prstGeom prst="rect">
            <a:avLst/>
          </a:prstGeom>
          <a:solidFill>
            <a:srgbClr val="FFFFFF"/>
          </a:solidFill>
          <a:ln w="9525">
            <a:solidFill>
              <a:srgbClr val="E4EDF3"/>
            </a:solidFill>
            <a:prstDash val="solid"/>
          </a:ln>
        </p:spPr>
      </p:sp>
      <p:sp>
        <p:nvSpPr>
          <p:cNvPr id="12" name="Text 10"/>
          <p:cNvSpPr/>
          <p:nvPr/>
        </p:nvSpPr>
        <p:spPr>
          <a:xfrm>
            <a:off x="3639312" y="2423160"/>
            <a:ext cx="80010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List all databases on the server</a:t>
            </a:r>
            <a:endParaRPr lang="en-US" sz="1150" dirty="0"/>
          </a:p>
        </p:txBody>
      </p:sp>
      <p:sp>
        <p:nvSpPr>
          <p:cNvPr id="13" name="Shape 11"/>
          <p:cNvSpPr/>
          <p:nvPr/>
        </p:nvSpPr>
        <p:spPr>
          <a:xfrm>
            <a:off x="457200" y="2971800"/>
            <a:ext cx="3017520" cy="548640"/>
          </a:xfrm>
          <a:prstGeom prst="rect">
            <a:avLst/>
          </a:prstGeom>
          <a:solidFill>
            <a:srgbClr val="F4F8FB"/>
          </a:solidFill>
          <a:ln w="9525">
            <a:solidFill>
              <a:srgbClr val="E4EDF3"/>
            </a:solidFill>
            <a:prstDash val="solid"/>
          </a:ln>
        </p:spPr>
      </p:sp>
      <p:sp>
        <p:nvSpPr>
          <p:cNvPr id="14" name="Text 12"/>
          <p:cNvSpPr/>
          <p:nvPr/>
        </p:nvSpPr>
        <p:spPr>
          <a:xfrm>
            <a:off x="621792" y="2971800"/>
            <a:ext cx="27432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\c dbname</a:t>
            </a:r>
            <a:endParaRPr lang="en-US" sz="1200" dirty="0"/>
          </a:p>
        </p:txBody>
      </p:sp>
      <p:sp>
        <p:nvSpPr>
          <p:cNvPr id="15" name="Shape 13"/>
          <p:cNvSpPr/>
          <p:nvPr/>
        </p:nvSpPr>
        <p:spPr>
          <a:xfrm>
            <a:off x="3474720" y="2971800"/>
            <a:ext cx="8275320" cy="548640"/>
          </a:xfrm>
          <a:prstGeom prst="rect">
            <a:avLst/>
          </a:prstGeom>
          <a:solidFill>
            <a:srgbClr val="F4F8FB"/>
          </a:solidFill>
          <a:ln w="9525">
            <a:solidFill>
              <a:srgbClr val="E4EDF3"/>
            </a:solidFill>
            <a:prstDash val="solid"/>
          </a:ln>
        </p:spPr>
      </p:sp>
      <p:sp>
        <p:nvSpPr>
          <p:cNvPr id="16" name="Text 14"/>
          <p:cNvSpPr/>
          <p:nvPr/>
        </p:nvSpPr>
        <p:spPr>
          <a:xfrm>
            <a:off x="3639312" y="2971800"/>
            <a:ext cx="80010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Connect to a different database</a:t>
            </a:r>
            <a:endParaRPr lang="en-US" sz="1150" dirty="0"/>
          </a:p>
        </p:txBody>
      </p:sp>
      <p:sp>
        <p:nvSpPr>
          <p:cNvPr id="17" name="Shape 15"/>
          <p:cNvSpPr/>
          <p:nvPr/>
        </p:nvSpPr>
        <p:spPr>
          <a:xfrm>
            <a:off x="457200" y="3520440"/>
            <a:ext cx="3017520" cy="548640"/>
          </a:xfrm>
          <a:prstGeom prst="rect">
            <a:avLst/>
          </a:prstGeom>
          <a:solidFill>
            <a:srgbClr val="FFFFFF"/>
          </a:solidFill>
          <a:ln w="9525">
            <a:solidFill>
              <a:srgbClr val="E4EDF3"/>
            </a:solidFill>
            <a:prstDash val="solid"/>
          </a:ln>
        </p:spPr>
      </p:sp>
      <p:sp>
        <p:nvSpPr>
          <p:cNvPr id="18" name="Text 16"/>
          <p:cNvSpPr/>
          <p:nvPr/>
        </p:nvSpPr>
        <p:spPr>
          <a:xfrm>
            <a:off x="621792" y="3520440"/>
            <a:ext cx="27432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\dt</a:t>
            </a:r>
            <a:endParaRPr lang="en-US" sz="1200" dirty="0"/>
          </a:p>
        </p:txBody>
      </p:sp>
      <p:sp>
        <p:nvSpPr>
          <p:cNvPr id="19" name="Shape 17"/>
          <p:cNvSpPr/>
          <p:nvPr/>
        </p:nvSpPr>
        <p:spPr>
          <a:xfrm>
            <a:off x="3474720" y="3520440"/>
            <a:ext cx="8275320" cy="548640"/>
          </a:xfrm>
          <a:prstGeom prst="rect">
            <a:avLst/>
          </a:prstGeom>
          <a:solidFill>
            <a:srgbClr val="FFFFFF"/>
          </a:solidFill>
          <a:ln w="9525">
            <a:solidFill>
              <a:srgbClr val="E4EDF3"/>
            </a:solidFill>
            <a:prstDash val="solid"/>
          </a:ln>
        </p:spPr>
      </p:sp>
      <p:sp>
        <p:nvSpPr>
          <p:cNvPr id="20" name="Text 18"/>
          <p:cNvSpPr/>
          <p:nvPr/>
        </p:nvSpPr>
        <p:spPr>
          <a:xfrm>
            <a:off x="3639312" y="3520440"/>
            <a:ext cx="80010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List tables in the current schema</a:t>
            </a:r>
            <a:endParaRPr lang="en-US" sz="1150" dirty="0"/>
          </a:p>
        </p:txBody>
      </p:sp>
      <p:sp>
        <p:nvSpPr>
          <p:cNvPr id="21" name="Shape 19"/>
          <p:cNvSpPr/>
          <p:nvPr/>
        </p:nvSpPr>
        <p:spPr>
          <a:xfrm>
            <a:off x="457200" y="4069080"/>
            <a:ext cx="3017520" cy="548640"/>
          </a:xfrm>
          <a:prstGeom prst="rect">
            <a:avLst/>
          </a:prstGeom>
          <a:solidFill>
            <a:srgbClr val="F4F8FB"/>
          </a:solidFill>
          <a:ln w="9525">
            <a:solidFill>
              <a:srgbClr val="E4EDF3"/>
            </a:solidFill>
            <a:prstDash val="solid"/>
          </a:ln>
        </p:spPr>
      </p:sp>
      <p:sp>
        <p:nvSpPr>
          <p:cNvPr id="22" name="Text 20"/>
          <p:cNvSpPr/>
          <p:nvPr/>
        </p:nvSpPr>
        <p:spPr>
          <a:xfrm>
            <a:off x="621792" y="4069080"/>
            <a:ext cx="27432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\d tablename</a:t>
            </a:r>
            <a:endParaRPr lang="en-US" sz="1200" dirty="0"/>
          </a:p>
        </p:txBody>
      </p:sp>
      <p:sp>
        <p:nvSpPr>
          <p:cNvPr id="23" name="Shape 21"/>
          <p:cNvSpPr/>
          <p:nvPr/>
        </p:nvSpPr>
        <p:spPr>
          <a:xfrm>
            <a:off x="3474720" y="4069080"/>
            <a:ext cx="8275320" cy="548640"/>
          </a:xfrm>
          <a:prstGeom prst="rect">
            <a:avLst/>
          </a:prstGeom>
          <a:solidFill>
            <a:srgbClr val="F4F8FB"/>
          </a:solidFill>
          <a:ln w="9525">
            <a:solidFill>
              <a:srgbClr val="E4EDF3"/>
            </a:solidFill>
            <a:prstDash val="solid"/>
          </a:ln>
        </p:spPr>
      </p:sp>
      <p:sp>
        <p:nvSpPr>
          <p:cNvPr id="24" name="Text 22"/>
          <p:cNvSpPr/>
          <p:nvPr/>
        </p:nvSpPr>
        <p:spPr>
          <a:xfrm>
            <a:off x="3639312" y="4069080"/>
            <a:ext cx="80010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Describe a table: columns, types, indexes, constraints</a:t>
            </a:r>
            <a:endParaRPr lang="en-US" sz="1150" dirty="0"/>
          </a:p>
        </p:txBody>
      </p:sp>
      <p:sp>
        <p:nvSpPr>
          <p:cNvPr id="25" name="Shape 23"/>
          <p:cNvSpPr/>
          <p:nvPr/>
        </p:nvSpPr>
        <p:spPr>
          <a:xfrm>
            <a:off x="457200" y="4617720"/>
            <a:ext cx="3017520" cy="548640"/>
          </a:xfrm>
          <a:prstGeom prst="rect">
            <a:avLst/>
          </a:prstGeom>
          <a:solidFill>
            <a:srgbClr val="FFFFFF"/>
          </a:solidFill>
          <a:ln w="9525">
            <a:solidFill>
              <a:srgbClr val="E4EDF3"/>
            </a:solidFill>
            <a:prstDash val="solid"/>
          </a:ln>
        </p:spPr>
      </p:sp>
      <p:sp>
        <p:nvSpPr>
          <p:cNvPr id="26" name="Text 24"/>
          <p:cNvSpPr/>
          <p:nvPr/>
        </p:nvSpPr>
        <p:spPr>
          <a:xfrm>
            <a:off x="621792" y="4617720"/>
            <a:ext cx="27432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\dn</a:t>
            </a:r>
            <a:endParaRPr lang="en-US" sz="1200" dirty="0"/>
          </a:p>
        </p:txBody>
      </p:sp>
      <p:sp>
        <p:nvSpPr>
          <p:cNvPr id="27" name="Shape 25"/>
          <p:cNvSpPr/>
          <p:nvPr/>
        </p:nvSpPr>
        <p:spPr>
          <a:xfrm>
            <a:off x="3474720" y="4617720"/>
            <a:ext cx="8275320" cy="548640"/>
          </a:xfrm>
          <a:prstGeom prst="rect">
            <a:avLst/>
          </a:prstGeom>
          <a:solidFill>
            <a:srgbClr val="FFFFFF"/>
          </a:solidFill>
          <a:ln w="9525">
            <a:solidFill>
              <a:srgbClr val="E4EDF3"/>
            </a:solidFill>
            <a:prstDash val="solid"/>
          </a:ln>
        </p:spPr>
      </p:sp>
      <p:sp>
        <p:nvSpPr>
          <p:cNvPr id="28" name="Text 26"/>
          <p:cNvSpPr/>
          <p:nvPr/>
        </p:nvSpPr>
        <p:spPr>
          <a:xfrm>
            <a:off x="3639312" y="4617720"/>
            <a:ext cx="80010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List schemas in the current database</a:t>
            </a:r>
            <a:endParaRPr lang="en-US" sz="1150" dirty="0"/>
          </a:p>
        </p:txBody>
      </p:sp>
      <p:sp>
        <p:nvSpPr>
          <p:cNvPr id="29" name="Shape 27"/>
          <p:cNvSpPr/>
          <p:nvPr/>
        </p:nvSpPr>
        <p:spPr>
          <a:xfrm>
            <a:off x="457200" y="5166360"/>
            <a:ext cx="3017520" cy="548640"/>
          </a:xfrm>
          <a:prstGeom prst="rect">
            <a:avLst/>
          </a:prstGeom>
          <a:solidFill>
            <a:srgbClr val="F4F8FB"/>
          </a:solidFill>
          <a:ln w="9525">
            <a:solidFill>
              <a:srgbClr val="E4EDF3"/>
            </a:solidFill>
            <a:prstDash val="solid"/>
          </a:ln>
        </p:spPr>
      </p:sp>
      <p:sp>
        <p:nvSpPr>
          <p:cNvPr id="30" name="Text 28"/>
          <p:cNvSpPr/>
          <p:nvPr/>
        </p:nvSpPr>
        <p:spPr>
          <a:xfrm>
            <a:off x="621792" y="5166360"/>
            <a:ext cx="27432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\du</a:t>
            </a:r>
            <a:endParaRPr lang="en-US" sz="1200" dirty="0"/>
          </a:p>
        </p:txBody>
      </p:sp>
      <p:sp>
        <p:nvSpPr>
          <p:cNvPr id="31" name="Shape 29"/>
          <p:cNvSpPr/>
          <p:nvPr/>
        </p:nvSpPr>
        <p:spPr>
          <a:xfrm>
            <a:off x="3474720" y="5166360"/>
            <a:ext cx="8275320" cy="548640"/>
          </a:xfrm>
          <a:prstGeom prst="rect">
            <a:avLst/>
          </a:prstGeom>
          <a:solidFill>
            <a:srgbClr val="F4F8FB"/>
          </a:solidFill>
          <a:ln w="9525">
            <a:solidFill>
              <a:srgbClr val="E4EDF3"/>
            </a:solidFill>
            <a:prstDash val="solid"/>
          </a:ln>
        </p:spPr>
      </p:sp>
      <p:sp>
        <p:nvSpPr>
          <p:cNvPr id="32" name="Text 30"/>
          <p:cNvSpPr/>
          <p:nvPr/>
        </p:nvSpPr>
        <p:spPr>
          <a:xfrm>
            <a:off x="3639312" y="5166360"/>
            <a:ext cx="80010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List roles (users) and their privileges</a:t>
            </a:r>
            <a:endParaRPr lang="en-US" sz="1150" dirty="0"/>
          </a:p>
        </p:txBody>
      </p:sp>
      <p:sp>
        <p:nvSpPr>
          <p:cNvPr id="33" name="Shape 31"/>
          <p:cNvSpPr/>
          <p:nvPr/>
        </p:nvSpPr>
        <p:spPr>
          <a:xfrm>
            <a:off x="457200" y="5715000"/>
            <a:ext cx="3017520" cy="548640"/>
          </a:xfrm>
          <a:prstGeom prst="rect">
            <a:avLst/>
          </a:prstGeom>
          <a:solidFill>
            <a:srgbClr val="FFFFFF"/>
          </a:solidFill>
          <a:ln w="9525">
            <a:solidFill>
              <a:srgbClr val="E4EDF3"/>
            </a:solidFill>
            <a:prstDash val="solid"/>
          </a:ln>
        </p:spPr>
      </p:sp>
      <p:sp>
        <p:nvSpPr>
          <p:cNvPr id="34" name="Text 32"/>
          <p:cNvSpPr/>
          <p:nvPr/>
        </p:nvSpPr>
        <p:spPr>
          <a:xfrm>
            <a:off x="621792" y="5715000"/>
            <a:ext cx="27432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\q</a:t>
            </a:r>
            <a:endParaRPr lang="en-US" sz="1200" dirty="0"/>
          </a:p>
        </p:txBody>
      </p:sp>
      <p:sp>
        <p:nvSpPr>
          <p:cNvPr id="35" name="Shape 33"/>
          <p:cNvSpPr/>
          <p:nvPr/>
        </p:nvSpPr>
        <p:spPr>
          <a:xfrm>
            <a:off x="3474720" y="5715000"/>
            <a:ext cx="8275320" cy="548640"/>
          </a:xfrm>
          <a:prstGeom prst="rect">
            <a:avLst/>
          </a:prstGeom>
          <a:solidFill>
            <a:srgbClr val="FFFFFF"/>
          </a:solidFill>
          <a:ln w="9525">
            <a:solidFill>
              <a:srgbClr val="E4EDF3"/>
            </a:solidFill>
            <a:prstDash val="solid"/>
          </a:ln>
        </p:spPr>
      </p:sp>
      <p:sp>
        <p:nvSpPr>
          <p:cNvPr id="36" name="Text 34"/>
          <p:cNvSpPr/>
          <p:nvPr/>
        </p:nvSpPr>
        <p:spPr>
          <a:xfrm>
            <a:off x="3639312" y="5715000"/>
            <a:ext cx="80010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Quit psql</a:t>
            </a:r>
            <a:endParaRPr lang="en-US" sz="1150" dirty="0"/>
          </a:p>
        </p:txBody>
      </p:sp>
      <p:sp>
        <p:nvSpPr>
          <p:cNvPr id="37" name="Text 35"/>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Essentials  |  Limits, psql &amp; Schemas</a:t>
            </a:r>
            <a:endParaRPr lang="en-US" sz="1000" dirty="0"/>
          </a:p>
        </p:txBody>
      </p:sp>
      <p:sp>
        <p:nvSpPr>
          <p:cNvPr id="38" name="Text 36"/>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PSQL COMMANDS</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Productivity Meta-Commands</a:t>
            </a:r>
            <a:endParaRPr lang="en-US" sz="3000" dirty="0"/>
          </a:p>
        </p:txBody>
      </p:sp>
      <p:sp>
        <p:nvSpPr>
          <p:cNvPr id="4" name="Text 2"/>
          <p:cNvSpPr/>
          <p:nvPr/>
        </p:nvSpPr>
        <p:spPr>
          <a:xfrm>
            <a:off x="457200" y="1298448"/>
            <a:ext cx="11247120" cy="457200"/>
          </a:xfrm>
          <a:prstGeom prst="rect">
            <a:avLst/>
          </a:prstGeom>
          <a:noFill/>
          <a:ln/>
        </p:spPr>
        <p:txBody>
          <a:bodyPr wrap="square" lIns="0" tIns="0" rIns="0" bIns="0" rtlCol="0" anchor="ctr"/>
          <a:lstStyle/>
          <a:p>
            <a:pPr indent="0" marL="0">
              <a:buNone/>
            </a:pPr>
            <a:r>
              <a:rPr lang="en-US" sz="1350" dirty="0">
                <a:solidFill>
                  <a:srgbClr val="5C6B73"/>
                </a:solidFill>
                <a:latin typeface="Calibri" pitchFamily="34" charset="0"/>
                <a:ea typeface="Calibri" pitchFamily="34" charset="-122"/>
                <a:cs typeface="Calibri" pitchFamily="34" charset="-120"/>
              </a:rPr>
              <a:t>Beyond browsing schema objects, these commands make working in psql faster and closer to a real development workflow.</a:t>
            </a:r>
            <a:endParaRPr lang="en-US" sz="1350" dirty="0"/>
          </a:p>
        </p:txBody>
      </p:sp>
      <p:sp>
        <p:nvSpPr>
          <p:cNvPr id="5" name="Shape 3"/>
          <p:cNvSpPr/>
          <p:nvPr/>
        </p:nvSpPr>
        <p:spPr>
          <a:xfrm>
            <a:off x="457200" y="2011680"/>
            <a:ext cx="5440680" cy="1234440"/>
          </a:xfrm>
          <a:prstGeom prst="roundRect">
            <a:avLst>
              <a:gd name="adj" fmla="val 5926"/>
            </a:avLst>
          </a:prstGeom>
          <a:solidFill>
            <a:srgbClr val="DCEBF7"/>
          </a:solidFill>
          <a:ln w="12700">
            <a:solidFill>
              <a:srgbClr val="AFCFE6"/>
            </a:solidFill>
            <a:prstDash val="solid"/>
          </a:ln>
        </p:spPr>
      </p:sp>
      <p:sp>
        <p:nvSpPr>
          <p:cNvPr id="6" name="Text 4"/>
          <p:cNvSpPr/>
          <p:nvPr/>
        </p:nvSpPr>
        <p:spPr>
          <a:xfrm>
            <a:off x="685800" y="2121408"/>
            <a:ext cx="4983480" cy="365760"/>
          </a:xfrm>
          <a:prstGeom prst="rect">
            <a:avLst/>
          </a:prstGeom>
          <a:noFill/>
          <a:ln/>
        </p:spPr>
        <p:txBody>
          <a:bodyPr wrap="square" lIns="0" tIns="0" rIns="0" bIns="0" rtlCol="0" anchor="ctr"/>
          <a:lstStyle/>
          <a:p>
            <a:pPr indent="0" marL="0">
              <a:buNone/>
            </a:pPr>
            <a:r>
              <a:rPr lang="en-US" sz="1500" b="1" dirty="0">
                <a:solidFill>
                  <a:srgbClr val="336791"/>
                </a:solidFill>
                <a:latin typeface="Courier New" pitchFamily="34" charset="0"/>
                <a:ea typeface="Courier New" pitchFamily="34" charset="-122"/>
                <a:cs typeface="Courier New" pitchFamily="34" charset="-120"/>
              </a:rPr>
              <a:t>\x</a:t>
            </a:r>
            <a:endParaRPr lang="en-US" sz="1500" dirty="0"/>
          </a:p>
        </p:txBody>
      </p:sp>
      <p:sp>
        <p:nvSpPr>
          <p:cNvPr id="7" name="Text 5"/>
          <p:cNvSpPr/>
          <p:nvPr/>
        </p:nvSpPr>
        <p:spPr>
          <a:xfrm>
            <a:off x="685800" y="2514600"/>
            <a:ext cx="49834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Toggle expanded (vertical) output — much easier to read wide rows.</a:t>
            </a:r>
            <a:endParaRPr lang="en-US" sz="1150" dirty="0"/>
          </a:p>
        </p:txBody>
      </p:sp>
      <p:sp>
        <p:nvSpPr>
          <p:cNvPr id="8" name="Shape 6"/>
          <p:cNvSpPr/>
          <p:nvPr/>
        </p:nvSpPr>
        <p:spPr>
          <a:xfrm>
            <a:off x="6309360" y="2011680"/>
            <a:ext cx="5440680" cy="1234440"/>
          </a:xfrm>
          <a:prstGeom prst="roundRect">
            <a:avLst>
              <a:gd name="adj" fmla="val 5926"/>
            </a:avLst>
          </a:prstGeom>
          <a:solidFill>
            <a:srgbClr val="DCEBF7"/>
          </a:solidFill>
          <a:ln w="12700">
            <a:solidFill>
              <a:srgbClr val="AFCFE6"/>
            </a:solidFill>
            <a:prstDash val="solid"/>
          </a:ln>
        </p:spPr>
      </p:sp>
      <p:sp>
        <p:nvSpPr>
          <p:cNvPr id="9" name="Text 7"/>
          <p:cNvSpPr/>
          <p:nvPr/>
        </p:nvSpPr>
        <p:spPr>
          <a:xfrm>
            <a:off x="6537960" y="2121408"/>
            <a:ext cx="4983480" cy="365760"/>
          </a:xfrm>
          <a:prstGeom prst="rect">
            <a:avLst/>
          </a:prstGeom>
          <a:noFill/>
          <a:ln/>
        </p:spPr>
        <p:txBody>
          <a:bodyPr wrap="square" lIns="0" tIns="0" rIns="0" bIns="0" rtlCol="0" anchor="ctr"/>
          <a:lstStyle/>
          <a:p>
            <a:pPr indent="0" marL="0">
              <a:buNone/>
            </a:pPr>
            <a:r>
              <a:rPr lang="en-US" sz="1500" b="1" dirty="0">
                <a:solidFill>
                  <a:srgbClr val="336791"/>
                </a:solidFill>
                <a:latin typeface="Courier New" pitchFamily="34" charset="0"/>
                <a:ea typeface="Courier New" pitchFamily="34" charset="-122"/>
                <a:cs typeface="Courier New" pitchFamily="34" charset="-120"/>
              </a:rPr>
              <a:t>\timing</a:t>
            </a:r>
            <a:endParaRPr lang="en-US" sz="1500" dirty="0"/>
          </a:p>
        </p:txBody>
      </p:sp>
      <p:sp>
        <p:nvSpPr>
          <p:cNvPr id="10" name="Text 8"/>
          <p:cNvSpPr/>
          <p:nvPr/>
        </p:nvSpPr>
        <p:spPr>
          <a:xfrm>
            <a:off x="6537960" y="2514600"/>
            <a:ext cx="49834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Show how long each query took to run, right after the result.</a:t>
            </a:r>
            <a:endParaRPr lang="en-US" sz="1150" dirty="0"/>
          </a:p>
        </p:txBody>
      </p:sp>
      <p:sp>
        <p:nvSpPr>
          <p:cNvPr id="11" name="Shape 9"/>
          <p:cNvSpPr/>
          <p:nvPr/>
        </p:nvSpPr>
        <p:spPr>
          <a:xfrm>
            <a:off x="457200" y="3520440"/>
            <a:ext cx="5440680" cy="1234440"/>
          </a:xfrm>
          <a:prstGeom prst="roundRect">
            <a:avLst>
              <a:gd name="adj" fmla="val 5926"/>
            </a:avLst>
          </a:prstGeom>
          <a:solidFill>
            <a:srgbClr val="DCEBF7"/>
          </a:solidFill>
          <a:ln w="12700">
            <a:solidFill>
              <a:srgbClr val="AFCFE6"/>
            </a:solidFill>
            <a:prstDash val="solid"/>
          </a:ln>
        </p:spPr>
      </p:sp>
      <p:sp>
        <p:nvSpPr>
          <p:cNvPr id="12" name="Text 10"/>
          <p:cNvSpPr/>
          <p:nvPr/>
        </p:nvSpPr>
        <p:spPr>
          <a:xfrm>
            <a:off x="685800" y="3630168"/>
            <a:ext cx="4983480" cy="365760"/>
          </a:xfrm>
          <a:prstGeom prst="rect">
            <a:avLst/>
          </a:prstGeom>
          <a:noFill/>
          <a:ln/>
        </p:spPr>
        <p:txBody>
          <a:bodyPr wrap="square" lIns="0" tIns="0" rIns="0" bIns="0" rtlCol="0" anchor="ctr"/>
          <a:lstStyle/>
          <a:p>
            <a:pPr indent="0" marL="0">
              <a:buNone/>
            </a:pPr>
            <a:r>
              <a:rPr lang="en-US" sz="1500" b="1" dirty="0">
                <a:solidFill>
                  <a:srgbClr val="336791"/>
                </a:solidFill>
                <a:latin typeface="Courier New" pitchFamily="34" charset="0"/>
                <a:ea typeface="Courier New" pitchFamily="34" charset="-122"/>
                <a:cs typeface="Courier New" pitchFamily="34" charset="-120"/>
              </a:rPr>
              <a:t>\i file.sql</a:t>
            </a:r>
            <a:endParaRPr lang="en-US" sz="1500" dirty="0"/>
          </a:p>
        </p:txBody>
      </p:sp>
      <p:sp>
        <p:nvSpPr>
          <p:cNvPr id="13" name="Text 11"/>
          <p:cNvSpPr/>
          <p:nvPr/>
        </p:nvSpPr>
        <p:spPr>
          <a:xfrm>
            <a:off x="685800" y="4023360"/>
            <a:ext cx="49834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Run a series of SQL commands stored in a script file.</a:t>
            </a:r>
            <a:endParaRPr lang="en-US" sz="1150" dirty="0"/>
          </a:p>
        </p:txBody>
      </p:sp>
      <p:sp>
        <p:nvSpPr>
          <p:cNvPr id="14" name="Shape 12"/>
          <p:cNvSpPr/>
          <p:nvPr/>
        </p:nvSpPr>
        <p:spPr>
          <a:xfrm>
            <a:off x="6309360" y="3520440"/>
            <a:ext cx="5440680" cy="1234440"/>
          </a:xfrm>
          <a:prstGeom prst="roundRect">
            <a:avLst>
              <a:gd name="adj" fmla="val 5926"/>
            </a:avLst>
          </a:prstGeom>
          <a:solidFill>
            <a:srgbClr val="DCEBF7"/>
          </a:solidFill>
          <a:ln w="12700">
            <a:solidFill>
              <a:srgbClr val="AFCFE6"/>
            </a:solidFill>
            <a:prstDash val="solid"/>
          </a:ln>
        </p:spPr>
      </p:sp>
      <p:sp>
        <p:nvSpPr>
          <p:cNvPr id="15" name="Text 13"/>
          <p:cNvSpPr/>
          <p:nvPr/>
        </p:nvSpPr>
        <p:spPr>
          <a:xfrm>
            <a:off x="6537960" y="3630168"/>
            <a:ext cx="4983480" cy="365760"/>
          </a:xfrm>
          <a:prstGeom prst="rect">
            <a:avLst/>
          </a:prstGeom>
          <a:noFill/>
          <a:ln/>
        </p:spPr>
        <p:txBody>
          <a:bodyPr wrap="square" lIns="0" tIns="0" rIns="0" bIns="0" rtlCol="0" anchor="ctr"/>
          <a:lstStyle/>
          <a:p>
            <a:pPr indent="0" marL="0">
              <a:buNone/>
            </a:pPr>
            <a:r>
              <a:rPr lang="en-US" sz="1500" b="1" dirty="0">
                <a:solidFill>
                  <a:srgbClr val="336791"/>
                </a:solidFill>
                <a:latin typeface="Courier New" pitchFamily="34" charset="0"/>
                <a:ea typeface="Courier New" pitchFamily="34" charset="-122"/>
                <a:cs typeface="Courier New" pitchFamily="34" charset="-120"/>
              </a:rPr>
              <a:t>\e</a:t>
            </a:r>
            <a:endParaRPr lang="en-US" sz="1500" dirty="0"/>
          </a:p>
        </p:txBody>
      </p:sp>
      <p:sp>
        <p:nvSpPr>
          <p:cNvPr id="16" name="Text 14"/>
          <p:cNvSpPr/>
          <p:nvPr/>
        </p:nvSpPr>
        <p:spPr>
          <a:xfrm>
            <a:off x="6537960" y="4023360"/>
            <a:ext cx="49834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Open the current or last query in your $EDITOR for easier editing.</a:t>
            </a:r>
            <a:endParaRPr lang="en-US" sz="1150" dirty="0"/>
          </a:p>
        </p:txBody>
      </p:sp>
      <p:sp>
        <p:nvSpPr>
          <p:cNvPr id="17" name="Shape 15"/>
          <p:cNvSpPr/>
          <p:nvPr/>
        </p:nvSpPr>
        <p:spPr>
          <a:xfrm>
            <a:off x="457200" y="5029200"/>
            <a:ext cx="5440680" cy="1234440"/>
          </a:xfrm>
          <a:prstGeom prst="roundRect">
            <a:avLst>
              <a:gd name="adj" fmla="val 5926"/>
            </a:avLst>
          </a:prstGeom>
          <a:solidFill>
            <a:srgbClr val="DCEBF7"/>
          </a:solidFill>
          <a:ln w="12700">
            <a:solidFill>
              <a:srgbClr val="AFCFE6"/>
            </a:solidFill>
            <a:prstDash val="solid"/>
          </a:ln>
        </p:spPr>
      </p:sp>
      <p:sp>
        <p:nvSpPr>
          <p:cNvPr id="18" name="Text 16"/>
          <p:cNvSpPr/>
          <p:nvPr/>
        </p:nvSpPr>
        <p:spPr>
          <a:xfrm>
            <a:off x="685800" y="5138928"/>
            <a:ext cx="4983480" cy="365760"/>
          </a:xfrm>
          <a:prstGeom prst="rect">
            <a:avLst/>
          </a:prstGeom>
          <a:noFill/>
          <a:ln/>
        </p:spPr>
        <p:txBody>
          <a:bodyPr wrap="square" lIns="0" tIns="0" rIns="0" bIns="0" rtlCol="0" anchor="ctr"/>
          <a:lstStyle/>
          <a:p>
            <a:pPr indent="0" marL="0">
              <a:buNone/>
            </a:pPr>
            <a:r>
              <a:rPr lang="en-US" sz="1500" b="1" dirty="0">
                <a:solidFill>
                  <a:srgbClr val="336791"/>
                </a:solidFill>
                <a:latin typeface="Courier New" pitchFamily="34" charset="0"/>
                <a:ea typeface="Courier New" pitchFamily="34" charset="-122"/>
                <a:cs typeface="Courier New" pitchFamily="34" charset="-120"/>
              </a:rPr>
              <a:t>\copy</a:t>
            </a:r>
            <a:endParaRPr lang="en-US" sz="1500" dirty="0"/>
          </a:p>
        </p:txBody>
      </p:sp>
      <p:sp>
        <p:nvSpPr>
          <p:cNvPr id="19" name="Text 17"/>
          <p:cNvSpPr/>
          <p:nvPr/>
        </p:nvSpPr>
        <p:spPr>
          <a:xfrm>
            <a:off x="685800" y="5532120"/>
            <a:ext cx="49834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Import or export data between a local file and a table, run client-side.</a:t>
            </a:r>
            <a:endParaRPr lang="en-US" sz="1150" dirty="0"/>
          </a:p>
        </p:txBody>
      </p:sp>
      <p:sp>
        <p:nvSpPr>
          <p:cNvPr id="20" name="Shape 18"/>
          <p:cNvSpPr/>
          <p:nvPr/>
        </p:nvSpPr>
        <p:spPr>
          <a:xfrm>
            <a:off x="6309360" y="5029200"/>
            <a:ext cx="5440680" cy="1234440"/>
          </a:xfrm>
          <a:prstGeom prst="roundRect">
            <a:avLst>
              <a:gd name="adj" fmla="val 5926"/>
            </a:avLst>
          </a:prstGeom>
          <a:solidFill>
            <a:srgbClr val="DCEBF7"/>
          </a:solidFill>
          <a:ln w="12700">
            <a:solidFill>
              <a:srgbClr val="AFCFE6"/>
            </a:solidFill>
            <a:prstDash val="solid"/>
          </a:ln>
        </p:spPr>
      </p:sp>
      <p:sp>
        <p:nvSpPr>
          <p:cNvPr id="21" name="Text 19"/>
          <p:cNvSpPr/>
          <p:nvPr/>
        </p:nvSpPr>
        <p:spPr>
          <a:xfrm>
            <a:off x="6537960" y="5138928"/>
            <a:ext cx="4983480" cy="365760"/>
          </a:xfrm>
          <a:prstGeom prst="rect">
            <a:avLst/>
          </a:prstGeom>
          <a:noFill/>
          <a:ln/>
        </p:spPr>
        <p:txBody>
          <a:bodyPr wrap="square" lIns="0" tIns="0" rIns="0" bIns="0" rtlCol="0" anchor="ctr"/>
          <a:lstStyle/>
          <a:p>
            <a:pPr indent="0" marL="0">
              <a:buNone/>
            </a:pPr>
            <a:r>
              <a:rPr lang="en-US" sz="1500" b="1" dirty="0">
                <a:solidFill>
                  <a:srgbClr val="336791"/>
                </a:solidFill>
                <a:latin typeface="Courier New" pitchFamily="34" charset="0"/>
                <a:ea typeface="Courier New" pitchFamily="34" charset="-122"/>
                <a:cs typeface="Courier New" pitchFamily="34" charset="-120"/>
              </a:rPr>
              <a:t>\watch N</a:t>
            </a:r>
            <a:endParaRPr lang="en-US" sz="1500" dirty="0"/>
          </a:p>
        </p:txBody>
      </p:sp>
      <p:sp>
        <p:nvSpPr>
          <p:cNvPr id="22" name="Text 20"/>
          <p:cNvSpPr/>
          <p:nvPr/>
        </p:nvSpPr>
        <p:spPr>
          <a:xfrm>
            <a:off x="6537960" y="5532120"/>
            <a:ext cx="4983480" cy="68580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Re-run the previous query automatically every N seconds.</a:t>
            </a:r>
            <a:endParaRPr lang="en-US" sz="1150" dirty="0"/>
          </a:p>
        </p:txBody>
      </p:sp>
      <p:sp>
        <p:nvSpPr>
          <p:cNvPr id="23" name="Text 21"/>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Essentials  |  Limits, psql &amp; Schemas</a:t>
            </a:r>
            <a:endParaRPr lang="en-US" sz="1000" dirty="0"/>
          </a:p>
        </p:txBody>
      </p:sp>
      <p:sp>
        <p:nvSpPr>
          <p:cNvPr id="24" name="Text 22"/>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SCHEMAS</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What Is a Schema?</a:t>
            </a:r>
            <a:endParaRPr lang="en-US" sz="3000" dirty="0"/>
          </a:p>
        </p:txBody>
      </p:sp>
      <p:sp>
        <p:nvSpPr>
          <p:cNvPr id="4" name="Text 2"/>
          <p:cNvSpPr/>
          <p:nvPr/>
        </p:nvSpPr>
        <p:spPr>
          <a:xfrm>
            <a:off x="457200" y="1280160"/>
            <a:ext cx="11247120" cy="777240"/>
          </a:xfrm>
          <a:prstGeom prst="rect">
            <a:avLst/>
          </a:prstGeom>
          <a:noFill/>
          <a:ln/>
        </p:spPr>
        <p:txBody>
          <a:bodyPr wrap="square" lIns="0" tIns="0" rIns="0" bIns="0" rtlCol="0" anchor="ctr"/>
          <a:lstStyle/>
          <a:p>
            <a:pPr indent="0" marL="0">
              <a:buNone/>
            </a:pPr>
            <a:r>
              <a:rPr lang="en-US" sz="1300" dirty="0">
                <a:solidFill>
                  <a:srgbClr val="5C6B73"/>
                </a:solidFill>
                <a:latin typeface="Calibri" pitchFamily="34" charset="0"/>
                <a:ea typeface="Calibri" pitchFamily="34" charset="-122"/>
                <a:cs typeface="Calibri" pitchFamily="34" charset="-120"/>
              </a:rPr>
              <a:t>A schema is a namespace inside a database that groups tables, views, functions, and other objects. Every database starts with one schema, named public, but you can create as many as you like.</a:t>
            </a:r>
            <a:endParaRPr lang="en-US" sz="1300" dirty="0"/>
          </a:p>
        </p:txBody>
      </p:sp>
      <p:sp>
        <p:nvSpPr>
          <p:cNvPr id="5" name="Shape 3"/>
          <p:cNvSpPr/>
          <p:nvPr/>
        </p:nvSpPr>
        <p:spPr>
          <a:xfrm>
            <a:off x="457200" y="2331720"/>
            <a:ext cx="11292840" cy="3931920"/>
          </a:xfrm>
          <a:prstGeom prst="roundRect">
            <a:avLst>
              <a:gd name="adj" fmla="val 2326"/>
            </a:avLst>
          </a:prstGeom>
          <a:solidFill>
            <a:srgbClr val="336791"/>
          </a:solidFill>
          <a:ln/>
        </p:spPr>
      </p:sp>
      <p:sp>
        <p:nvSpPr>
          <p:cNvPr id="6" name="Text 4"/>
          <p:cNvSpPr/>
          <p:nvPr/>
        </p:nvSpPr>
        <p:spPr>
          <a:xfrm>
            <a:off x="685800" y="2450592"/>
            <a:ext cx="10881360" cy="320040"/>
          </a:xfrm>
          <a:prstGeom prst="rect">
            <a:avLst/>
          </a:prstGeom>
          <a:noFill/>
          <a:ln/>
        </p:spPr>
        <p:txBody>
          <a:bodyPr wrap="square" lIns="0" tIns="0" rIns="0" bIns="0" rtlCol="0" anchor="ctr"/>
          <a:lstStyle/>
          <a:p>
            <a:pPr indent="0" marL="0">
              <a:buNone/>
            </a:pPr>
            <a:r>
              <a:rPr lang="en-US" sz="1250" b="1" spc="50" kern="0" dirty="0">
                <a:solidFill>
                  <a:srgbClr val="FFFFFF"/>
                </a:solidFill>
                <a:latin typeface="Calibri" pitchFamily="34" charset="0"/>
                <a:ea typeface="Calibri" pitchFamily="34" charset="-122"/>
                <a:cs typeface="Calibri" pitchFamily="34" charset="-120"/>
              </a:rPr>
              <a:t>DATABASE  ·  mydb</a:t>
            </a:r>
            <a:endParaRPr lang="en-US" sz="1250" dirty="0"/>
          </a:p>
        </p:txBody>
      </p:sp>
      <p:sp>
        <p:nvSpPr>
          <p:cNvPr id="7" name="Shape 5"/>
          <p:cNvSpPr/>
          <p:nvPr/>
        </p:nvSpPr>
        <p:spPr>
          <a:xfrm>
            <a:off x="777240" y="2926080"/>
            <a:ext cx="3337560" cy="3154680"/>
          </a:xfrm>
          <a:prstGeom prst="roundRect">
            <a:avLst>
              <a:gd name="adj" fmla="val 2319"/>
            </a:avLst>
          </a:prstGeom>
          <a:solidFill>
            <a:srgbClr val="2A5A82"/>
          </a:solidFill>
          <a:ln/>
        </p:spPr>
      </p:sp>
      <p:sp>
        <p:nvSpPr>
          <p:cNvPr id="8" name="Text 6"/>
          <p:cNvSpPr/>
          <p:nvPr/>
        </p:nvSpPr>
        <p:spPr>
          <a:xfrm>
            <a:off x="960120" y="3063240"/>
            <a:ext cx="2971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public</a:t>
            </a:r>
            <a:endParaRPr lang="en-US" sz="1500" dirty="0"/>
          </a:p>
        </p:txBody>
      </p:sp>
      <p:sp>
        <p:nvSpPr>
          <p:cNvPr id="9" name="Shape 7"/>
          <p:cNvSpPr/>
          <p:nvPr/>
        </p:nvSpPr>
        <p:spPr>
          <a:xfrm>
            <a:off x="1005840" y="3611880"/>
            <a:ext cx="2880360" cy="502920"/>
          </a:xfrm>
          <a:prstGeom prst="roundRect">
            <a:avLst>
              <a:gd name="adj" fmla="val 27273"/>
            </a:avLst>
          </a:prstGeom>
          <a:solidFill>
            <a:srgbClr val="DCEBF7"/>
          </a:solidFill>
          <a:ln/>
        </p:spPr>
      </p:sp>
      <p:sp>
        <p:nvSpPr>
          <p:cNvPr id="10" name="Text 8"/>
          <p:cNvSpPr/>
          <p:nvPr/>
        </p:nvSpPr>
        <p:spPr>
          <a:xfrm>
            <a:off x="1005840" y="3611880"/>
            <a:ext cx="2880360" cy="502920"/>
          </a:xfrm>
          <a:prstGeom prst="rect">
            <a:avLst/>
          </a:prstGeom>
          <a:noFill/>
          <a:ln/>
        </p:spPr>
        <p:txBody>
          <a:bodyPr wrap="square" lIns="0" tIns="0" rIns="0" bIns="0" rtlCol="0" anchor="ctr"/>
          <a:lstStyle/>
          <a:p>
            <a:pPr algn="ctr" indent="0" marL="0">
              <a:buNone/>
            </a:pPr>
            <a:r>
              <a:rPr lang="en-US" sz="1200" b="1" dirty="0">
                <a:solidFill>
                  <a:srgbClr val="22303C"/>
                </a:solidFill>
                <a:latin typeface="Calibri" pitchFamily="34" charset="0"/>
                <a:ea typeface="Calibri" pitchFamily="34" charset="-122"/>
                <a:cs typeface="Calibri" pitchFamily="34" charset="-120"/>
              </a:rPr>
              <a:t>Tables</a:t>
            </a:r>
            <a:endParaRPr lang="en-US" sz="1200" dirty="0"/>
          </a:p>
        </p:txBody>
      </p:sp>
      <p:sp>
        <p:nvSpPr>
          <p:cNvPr id="11" name="Shape 9"/>
          <p:cNvSpPr/>
          <p:nvPr/>
        </p:nvSpPr>
        <p:spPr>
          <a:xfrm>
            <a:off x="1005840" y="4297680"/>
            <a:ext cx="2880360" cy="502920"/>
          </a:xfrm>
          <a:prstGeom prst="roundRect">
            <a:avLst>
              <a:gd name="adj" fmla="val 27273"/>
            </a:avLst>
          </a:prstGeom>
          <a:solidFill>
            <a:srgbClr val="DCEBF7"/>
          </a:solidFill>
          <a:ln/>
        </p:spPr>
      </p:sp>
      <p:sp>
        <p:nvSpPr>
          <p:cNvPr id="12" name="Text 10"/>
          <p:cNvSpPr/>
          <p:nvPr/>
        </p:nvSpPr>
        <p:spPr>
          <a:xfrm>
            <a:off x="1005840" y="4297680"/>
            <a:ext cx="2880360" cy="502920"/>
          </a:xfrm>
          <a:prstGeom prst="rect">
            <a:avLst/>
          </a:prstGeom>
          <a:noFill/>
          <a:ln/>
        </p:spPr>
        <p:txBody>
          <a:bodyPr wrap="square" lIns="0" tIns="0" rIns="0" bIns="0" rtlCol="0" anchor="ctr"/>
          <a:lstStyle/>
          <a:p>
            <a:pPr algn="ctr" indent="0" marL="0">
              <a:buNone/>
            </a:pPr>
            <a:r>
              <a:rPr lang="en-US" sz="1200" b="1" dirty="0">
                <a:solidFill>
                  <a:srgbClr val="22303C"/>
                </a:solidFill>
                <a:latin typeface="Calibri" pitchFamily="34" charset="0"/>
                <a:ea typeface="Calibri" pitchFamily="34" charset="-122"/>
                <a:cs typeface="Calibri" pitchFamily="34" charset="-120"/>
              </a:rPr>
              <a:t>Views</a:t>
            </a:r>
            <a:endParaRPr lang="en-US" sz="1200" dirty="0"/>
          </a:p>
        </p:txBody>
      </p:sp>
      <p:sp>
        <p:nvSpPr>
          <p:cNvPr id="13" name="Shape 11"/>
          <p:cNvSpPr/>
          <p:nvPr/>
        </p:nvSpPr>
        <p:spPr>
          <a:xfrm>
            <a:off x="1005840" y="4983480"/>
            <a:ext cx="2880360" cy="502920"/>
          </a:xfrm>
          <a:prstGeom prst="roundRect">
            <a:avLst>
              <a:gd name="adj" fmla="val 27273"/>
            </a:avLst>
          </a:prstGeom>
          <a:solidFill>
            <a:srgbClr val="DCEBF7"/>
          </a:solidFill>
          <a:ln/>
        </p:spPr>
      </p:sp>
      <p:sp>
        <p:nvSpPr>
          <p:cNvPr id="14" name="Text 12"/>
          <p:cNvSpPr/>
          <p:nvPr/>
        </p:nvSpPr>
        <p:spPr>
          <a:xfrm>
            <a:off x="1005840" y="4983480"/>
            <a:ext cx="2880360" cy="502920"/>
          </a:xfrm>
          <a:prstGeom prst="rect">
            <a:avLst/>
          </a:prstGeom>
          <a:noFill/>
          <a:ln/>
        </p:spPr>
        <p:txBody>
          <a:bodyPr wrap="square" lIns="0" tIns="0" rIns="0" bIns="0" rtlCol="0" anchor="ctr"/>
          <a:lstStyle/>
          <a:p>
            <a:pPr algn="ctr" indent="0" marL="0">
              <a:buNone/>
            </a:pPr>
            <a:r>
              <a:rPr lang="en-US" sz="1200" b="1" dirty="0">
                <a:solidFill>
                  <a:srgbClr val="22303C"/>
                </a:solidFill>
                <a:latin typeface="Calibri" pitchFamily="34" charset="0"/>
                <a:ea typeface="Calibri" pitchFamily="34" charset="-122"/>
                <a:cs typeface="Calibri" pitchFamily="34" charset="-120"/>
              </a:rPr>
              <a:t>Functions</a:t>
            </a:r>
            <a:endParaRPr lang="en-US" sz="1200" dirty="0"/>
          </a:p>
        </p:txBody>
      </p:sp>
      <p:sp>
        <p:nvSpPr>
          <p:cNvPr id="15" name="Shape 13"/>
          <p:cNvSpPr/>
          <p:nvPr/>
        </p:nvSpPr>
        <p:spPr>
          <a:xfrm>
            <a:off x="4434840" y="2926080"/>
            <a:ext cx="3337560" cy="3154680"/>
          </a:xfrm>
          <a:prstGeom prst="roundRect">
            <a:avLst>
              <a:gd name="adj" fmla="val 2319"/>
            </a:avLst>
          </a:prstGeom>
          <a:solidFill>
            <a:srgbClr val="2A5A82"/>
          </a:solidFill>
          <a:ln/>
        </p:spPr>
      </p:sp>
      <p:sp>
        <p:nvSpPr>
          <p:cNvPr id="16" name="Text 14"/>
          <p:cNvSpPr/>
          <p:nvPr/>
        </p:nvSpPr>
        <p:spPr>
          <a:xfrm>
            <a:off x="4617720" y="3063240"/>
            <a:ext cx="2971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app</a:t>
            </a:r>
            <a:endParaRPr lang="en-US" sz="1500" dirty="0"/>
          </a:p>
        </p:txBody>
      </p:sp>
      <p:sp>
        <p:nvSpPr>
          <p:cNvPr id="17" name="Shape 15"/>
          <p:cNvSpPr/>
          <p:nvPr/>
        </p:nvSpPr>
        <p:spPr>
          <a:xfrm>
            <a:off x="4663440" y="3611880"/>
            <a:ext cx="2880360" cy="502920"/>
          </a:xfrm>
          <a:prstGeom prst="roundRect">
            <a:avLst>
              <a:gd name="adj" fmla="val 27273"/>
            </a:avLst>
          </a:prstGeom>
          <a:solidFill>
            <a:srgbClr val="DCEBF7"/>
          </a:solidFill>
          <a:ln/>
        </p:spPr>
      </p:sp>
      <p:sp>
        <p:nvSpPr>
          <p:cNvPr id="18" name="Text 16"/>
          <p:cNvSpPr/>
          <p:nvPr/>
        </p:nvSpPr>
        <p:spPr>
          <a:xfrm>
            <a:off x="4663440" y="3611880"/>
            <a:ext cx="2880360" cy="502920"/>
          </a:xfrm>
          <a:prstGeom prst="rect">
            <a:avLst/>
          </a:prstGeom>
          <a:noFill/>
          <a:ln/>
        </p:spPr>
        <p:txBody>
          <a:bodyPr wrap="square" lIns="0" tIns="0" rIns="0" bIns="0" rtlCol="0" anchor="ctr"/>
          <a:lstStyle/>
          <a:p>
            <a:pPr algn="ctr" indent="0" marL="0">
              <a:buNone/>
            </a:pPr>
            <a:r>
              <a:rPr lang="en-US" sz="1200" b="1" dirty="0">
                <a:solidFill>
                  <a:srgbClr val="22303C"/>
                </a:solidFill>
                <a:latin typeface="Calibri" pitchFamily="34" charset="0"/>
                <a:ea typeface="Calibri" pitchFamily="34" charset="-122"/>
                <a:cs typeface="Calibri" pitchFamily="34" charset="-120"/>
              </a:rPr>
              <a:t>Tables</a:t>
            </a:r>
            <a:endParaRPr lang="en-US" sz="1200" dirty="0"/>
          </a:p>
        </p:txBody>
      </p:sp>
      <p:sp>
        <p:nvSpPr>
          <p:cNvPr id="19" name="Shape 17"/>
          <p:cNvSpPr/>
          <p:nvPr/>
        </p:nvSpPr>
        <p:spPr>
          <a:xfrm>
            <a:off x="4663440" y="4297680"/>
            <a:ext cx="2880360" cy="502920"/>
          </a:xfrm>
          <a:prstGeom prst="roundRect">
            <a:avLst>
              <a:gd name="adj" fmla="val 27273"/>
            </a:avLst>
          </a:prstGeom>
          <a:solidFill>
            <a:srgbClr val="DCEBF7"/>
          </a:solidFill>
          <a:ln/>
        </p:spPr>
      </p:sp>
      <p:sp>
        <p:nvSpPr>
          <p:cNvPr id="20" name="Text 18"/>
          <p:cNvSpPr/>
          <p:nvPr/>
        </p:nvSpPr>
        <p:spPr>
          <a:xfrm>
            <a:off x="4663440" y="4297680"/>
            <a:ext cx="2880360" cy="502920"/>
          </a:xfrm>
          <a:prstGeom prst="rect">
            <a:avLst/>
          </a:prstGeom>
          <a:noFill/>
          <a:ln/>
        </p:spPr>
        <p:txBody>
          <a:bodyPr wrap="square" lIns="0" tIns="0" rIns="0" bIns="0" rtlCol="0" anchor="ctr"/>
          <a:lstStyle/>
          <a:p>
            <a:pPr algn="ctr" indent="0" marL="0">
              <a:buNone/>
            </a:pPr>
            <a:r>
              <a:rPr lang="en-US" sz="1200" b="1" dirty="0">
                <a:solidFill>
                  <a:srgbClr val="22303C"/>
                </a:solidFill>
                <a:latin typeface="Calibri" pitchFamily="34" charset="0"/>
                <a:ea typeface="Calibri" pitchFamily="34" charset="-122"/>
                <a:cs typeface="Calibri" pitchFamily="34" charset="-120"/>
              </a:rPr>
              <a:t>Sequences</a:t>
            </a:r>
            <a:endParaRPr lang="en-US" sz="1200" dirty="0"/>
          </a:p>
        </p:txBody>
      </p:sp>
      <p:sp>
        <p:nvSpPr>
          <p:cNvPr id="21" name="Shape 19"/>
          <p:cNvSpPr/>
          <p:nvPr/>
        </p:nvSpPr>
        <p:spPr>
          <a:xfrm>
            <a:off x="8092440" y="2926080"/>
            <a:ext cx="3337560" cy="3154680"/>
          </a:xfrm>
          <a:prstGeom prst="roundRect">
            <a:avLst>
              <a:gd name="adj" fmla="val 2319"/>
            </a:avLst>
          </a:prstGeom>
          <a:solidFill>
            <a:srgbClr val="2A5A82"/>
          </a:solidFill>
          <a:ln/>
        </p:spPr>
      </p:sp>
      <p:sp>
        <p:nvSpPr>
          <p:cNvPr id="22" name="Text 20"/>
          <p:cNvSpPr/>
          <p:nvPr/>
        </p:nvSpPr>
        <p:spPr>
          <a:xfrm>
            <a:off x="8275320" y="3063240"/>
            <a:ext cx="2971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reporting</a:t>
            </a:r>
            <a:endParaRPr lang="en-US" sz="1500" dirty="0"/>
          </a:p>
        </p:txBody>
      </p:sp>
      <p:sp>
        <p:nvSpPr>
          <p:cNvPr id="23" name="Shape 21"/>
          <p:cNvSpPr/>
          <p:nvPr/>
        </p:nvSpPr>
        <p:spPr>
          <a:xfrm>
            <a:off x="8321040" y="3611880"/>
            <a:ext cx="2880360" cy="502920"/>
          </a:xfrm>
          <a:prstGeom prst="roundRect">
            <a:avLst>
              <a:gd name="adj" fmla="val 27273"/>
            </a:avLst>
          </a:prstGeom>
          <a:solidFill>
            <a:srgbClr val="DCEBF7"/>
          </a:solidFill>
          <a:ln/>
        </p:spPr>
      </p:sp>
      <p:sp>
        <p:nvSpPr>
          <p:cNvPr id="24" name="Text 22"/>
          <p:cNvSpPr/>
          <p:nvPr/>
        </p:nvSpPr>
        <p:spPr>
          <a:xfrm>
            <a:off x="8321040" y="3611880"/>
            <a:ext cx="2880360" cy="502920"/>
          </a:xfrm>
          <a:prstGeom prst="rect">
            <a:avLst/>
          </a:prstGeom>
          <a:noFill/>
          <a:ln/>
        </p:spPr>
        <p:txBody>
          <a:bodyPr wrap="square" lIns="0" tIns="0" rIns="0" bIns="0" rtlCol="0" anchor="ctr"/>
          <a:lstStyle/>
          <a:p>
            <a:pPr algn="ctr" indent="0" marL="0">
              <a:buNone/>
            </a:pPr>
            <a:r>
              <a:rPr lang="en-US" sz="1200" b="1" dirty="0">
                <a:solidFill>
                  <a:srgbClr val="22303C"/>
                </a:solidFill>
                <a:latin typeface="Calibri" pitchFamily="34" charset="0"/>
                <a:ea typeface="Calibri" pitchFamily="34" charset="-122"/>
                <a:cs typeface="Calibri" pitchFamily="34" charset="-120"/>
              </a:rPr>
              <a:t>Views</a:t>
            </a:r>
            <a:endParaRPr lang="en-US" sz="1200" dirty="0"/>
          </a:p>
        </p:txBody>
      </p:sp>
      <p:sp>
        <p:nvSpPr>
          <p:cNvPr id="25" name="Shape 23"/>
          <p:cNvSpPr/>
          <p:nvPr/>
        </p:nvSpPr>
        <p:spPr>
          <a:xfrm>
            <a:off x="8321040" y="4297680"/>
            <a:ext cx="2880360" cy="502920"/>
          </a:xfrm>
          <a:prstGeom prst="roundRect">
            <a:avLst>
              <a:gd name="adj" fmla="val 27273"/>
            </a:avLst>
          </a:prstGeom>
          <a:solidFill>
            <a:srgbClr val="DCEBF7"/>
          </a:solidFill>
          <a:ln/>
        </p:spPr>
      </p:sp>
      <p:sp>
        <p:nvSpPr>
          <p:cNvPr id="26" name="Text 24"/>
          <p:cNvSpPr/>
          <p:nvPr/>
        </p:nvSpPr>
        <p:spPr>
          <a:xfrm>
            <a:off x="8321040" y="4297680"/>
            <a:ext cx="2880360" cy="502920"/>
          </a:xfrm>
          <a:prstGeom prst="rect">
            <a:avLst/>
          </a:prstGeom>
          <a:noFill/>
          <a:ln/>
        </p:spPr>
        <p:txBody>
          <a:bodyPr wrap="square" lIns="0" tIns="0" rIns="0" bIns="0" rtlCol="0" anchor="ctr"/>
          <a:lstStyle/>
          <a:p>
            <a:pPr algn="ctr" indent="0" marL="0">
              <a:buNone/>
            </a:pPr>
            <a:r>
              <a:rPr lang="en-US" sz="1200" b="1" dirty="0">
                <a:solidFill>
                  <a:srgbClr val="22303C"/>
                </a:solidFill>
                <a:latin typeface="Calibri" pitchFamily="34" charset="0"/>
                <a:ea typeface="Calibri" pitchFamily="34" charset="-122"/>
                <a:cs typeface="Calibri" pitchFamily="34" charset="-120"/>
              </a:rPr>
              <a:t>Functions</a:t>
            </a:r>
            <a:endParaRPr lang="en-US" sz="1200" dirty="0"/>
          </a:p>
        </p:txBody>
      </p:sp>
      <p:sp>
        <p:nvSpPr>
          <p:cNvPr id="27" name="Text 25"/>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Essentials  |  Limits, psql &amp; Schemas</a:t>
            </a:r>
            <a:endParaRPr lang="en-US" sz="1000" dirty="0"/>
          </a:p>
        </p:txBody>
      </p:sp>
      <p:sp>
        <p:nvSpPr>
          <p:cNvPr id="28" name="Text 26"/>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SCHEMAS</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Search Path &amp; Qualified Names</a:t>
            </a:r>
            <a:endParaRPr lang="en-US" sz="3000" dirty="0"/>
          </a:p>
        </p:txBody>
      </p:sp>
      <p:sp>
        <p:nvSpPr>
          <p:cNvPr id="4" name="Text 2"/>
          <p:cNvSpPr/>
          <p:nvPr/>
        </p:nvSpPr>
        <p:spPr>
          <a:xfrm>
            <a:off x="457200" y="1280160"/>
            <a:ext cx="11247120" cy="777240"/>
          </a:xfrm>
          <a:prstGeom prst="rect">
            <a:avLst/>
          </a:prstGeom>
          <a:noFill/>
          <a:ln/>
        </p:spPr>
        <p:txBody>
          <a:bodyPr wrap="square" lIns="0" tIns="0" rIns="0" bIns="0" rtlCol="0" anchor="ctr"/>
          <a:lstStyle/>
          <a:p>
            <a:pPr indent="0" marL="0">
              <a:buNone/>
            </a:pPr>
            <a:r>
              <a:rPr lang="en-US" sz="1300" dirty="0">
                <a:solidFill>
                  <a:srgbClr val="5C6B73"/>
                </a:solidFill>
                <a:latin typeface="Calibri" pitchFamily="34" charset="0"/>
                <a:ea typeface="Calibri" pitchFamily="34" charset="-122"/>
                <a:cs typeface="Calibri" pitchFamily="34" charset="-120"/>
              </a:rPr>
              <a:t>An unqualified name like orders could exist in more than one schema. Postgres resolves it using search_path — an ordered list of schemas it checks, in order, until it finds a match.</a:t>
            </a:r>
            <a:endParaRPr lang="en-US" sz="1300" dirty="0"/>
          </a:p>
        </p:txBody>
      </p:sp>
      <p:sp>
        <p:nvSpPr>
          <p:cNvPr id="5" name="Shape 3"/>
          <p:cNvSpPr/>
          <p:nvPr/>
        </p:nvSpPr>
        <p:spPr>
          <a:xfrm>
            <a:off x="457200" y="2606040"/>
            <a:ext cx="2834640" cy="1005840"/>
          </a:xfrm>
          <a:prstGeom prst="roundRect">
            <a:avLst>
              <a:gd name="adj" fmla="val 7273"/>
            </a:avLst>
          </a:prstGeom>
          <a:solidFill>
            <a:srgbClr val="FFFFFF"/>
          </a:solidFill>
          <a:ln w="15875">
            <a:solidFill>
              <a:srgbClr val="5C6B73"/>
            </a:solidFill>
            <a:prstDash val="solid"/>
          </a:ln>
        </p:spPr>
      </p:sp>
      <p:sp>
        <p:nvSpPr>
          <p:cNvPr id="6" name="Text 4"/>
          <p:cNvSpPr/>
          <p:nvPr/>
        </p:nvSpPr>
        <p:spPr>
          <a:xfrm>
            <a:off x="594360" y="2606040"/>
            <a:ext cx="2606040" cy="1005840"/>
          </a:xfrm>
          <a:prstGeom prst="rect">
            <a:avLst/>
          </a:prstGeom>
          <a:noFill/>
          <a:ln/>
        </p:spPr>
        <p:txBody>
          <a:bodyPr wrap="square" lIns="0" tIns="0" rIns="0" bIns="0" rtlCol="0" anchor="ctr"/>
          <a:lstStyle/>
          <a:p>
            <a:pPr algn="ctr" indent="0" marL="0">
              <a:buNone/>
            </a:pPr>
            <a:r>
              <a:rPr lang="en-US" sz="1250" b="1" dirty="0">
                <a:solidFill>
                  <a:srgbClr val="22303C"/>
                </a:solidFill>
                <a:latin typeface="Courier New" pitchFamily="34" charset="0"/>
                <a:ea typeface="Courier New" pitchFamily="34" charset="-122"/>
                <a:cs typeface="Courier New" pitchFamily="34" charset="-120"/>
              </a:rPr>
              <a:t>SELECT * FROM orders;</a:t>
            </a:r>
            <a:endParaRPr lang="en-US" sz="1250" dirty="0"/>
          </a:p>
        </p:txBody>
      </p:sp>
      <p:sp>
        <p:nvSpPr>
          <p:cNvPr id="7" name="Shape 5"/>
          <p:cNvSpPr/>
          <p:nvPr/>
        </p:nvSpPr>
        <p:spPr>
          <a:xfrm>
            <a:off x="3291840" y="3108960"/>
            <a:ext cx="640080" cy="914"/>
          </a:xfrm>
          <a:prstGeom prst="line">
            <a:avLst/>
          </a:prstGeom>
          <a:noFill/>
          <a:ln w="19050">
            <a:solidFill>
              <a:srgbClr val="5C6B73"/>
            </a:solidFill>
            <a:prstDash val="solid"/>
            <a:tailEnd type="triangle"/>
          </a:ln>
        </p:spPr>
      </p:sp>
      <p:sp>
        <p:nvSpPr>
          <p:cNvPr id="8" name="Shape 6"/>
          <p:cNvSpPr/>
          <p:nvPr/>
        </p:nvSpPr>
        <p:spPr>
          <a:xfrm>
            <a:off x="3931920" y="2377440"/>
            <a:ext cx="3291840" cy="1463040"/>
          </a:xfrm>
          <a:prstGeom prst="roundRect">
            <a:avLst>
              <a:gd name="adj" fmla="val 5000"/>
            </a:avLst>
          </a:prstGeom>
          <a:solidFill>
            <a:srgbClr val="336791"/>
          </a:solidFill>
          <a:ln/>
        </p:spPr>
      </p:sp>
      <p:sp>
        <p:nvSpPr>
          <p:cNvPr id="9" name="Text 7"/>
          <p:cNvSpPr/>
          <p:nvPr/>
        </p:nvSpPr>
        <p:spPr>
          <a:xfrm>
            <a:off x="3931920" y="2377440"/>
            <a:ext cx="3291840" cy="1463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search_path</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"$user", public</a:t>
            </a:r>
            <a:endParaRPr lang="en-US" sz="1400" dirty="0"/>
          </a:p>
        </p:txBody>
      </p:sp>
      <p:sp>
        <p:nvSpPr>
          <p:cNvPr id="10" name="Shape 8"/>
          <p:cNvSpPr/>
          <p:nvPr/>
        </p:nvSpPr>
        <p:spPr>
          <a:xfrm flipV="1">
            <a:off x="7223760" y="2468880"/>
            <a:ext cx="640080" cy="274320"/>
          </a:xfrm>
          <a:prstGeom prst="line">
            <a:avLst/>
          </a:prstGeom>
          <a:noFill/>
          <a:ln w="19050">
            <a:solidFill>
              <a:srgbClr val="AFCFE6"/>
            </a:solidFill>
            <a:prstDash val="solid"/>
            <a:tailEnd type="triangle"/>
          </a:ln>
        </p:spPr>
      </p:sp>
      <p:sp>
        <p:nvSpPr>
          <p:cNvPr id="11" name="Shape 9"/>
          <p:cNvSpPr/>
          <p:nvPr/>
        </p:nvSpPr>
        <p:spPr>
          <a:xfrm>
            <a:off x="7223760" y="3474720"/>
            <a:ext cx="640080" cy="274320"/>
          </a:xfrm>
          <a:prstGeom prst="line">
            <a:avLst/>
          </a:prstGeom>
          <a:noFill/>
          <a:ln w="19050">
            <a:solidFill>
              <a:srgbClr val="AFCFE6"/>
            </a:solidFill>
            <a:prstDash val="solid"/>
            <a:tailEnd type="triangle"/>
          </a:ln>
        </p:spPr>
      </p:sp>
      <p:sp>
        <p:nvSpPr>
          <p:cNvPr id="12" name="Shape 10"/>
          <p:cNvSpPr/>
          <p:nvPr/>
        </p:nvSpPr>
        <p:spPr>
          <a:xfrm>
            <a:off x="7863840" y="2011680"/>
            <a:ext cx="3840480" cy="822960"/>
          </a:xfrm>
          <a:prstGeom prst="roundRect">
            <a:avLst>
              <a:gd name="adj" fmla="val 8889"/>
            </a:avLst>
          </a:prstGeom>
          <a:solidFill>
            <a:srgbClr val="FBEFEA"/>
          </a:solidFill>
          <a:ln w="12700">
            <a:solidFill>
              <a:srgbClr val="E76F51"/>
            </a:solidFill>
            <a:prstDash val="solid"/>
          </a:ln>
        </p:spPr>
      </p:sp>
      <p:sp>
        <p:nvSpPr>
          <p:cNvPr id="13" name="Text 11"/>
          <p:cNvSpPr/>
          <p:nvPr/>
        </p:nvSpPr>
        <p:spPr>
          <a:xfrm>
            <a:off x="8046720" y="2011680"/>
            <a:ext cx="3566160" cy="822960"/>
          </a:xfrm>
          <a:prstGeom prst="rect">
            <a:avLst/>
          </a:prstGeom>
          <a:noFill/>
          <a:ln/>
        </p:spPr>
        <p:txBody>
          <a:bodyPr wrap="square" lIns="0" tIns="0" rIns="0" bIns="0" rtlCol="0" anchor="ctr"/>
          <a:lstStyle/>
          <a:p>
            <a:pPr indent="0" marL="0">
              <a:buNone/>
            </a:pPr>
            <a:r>
              <a:rPr lang="en-US" sz="1150" dirty="0">
                <a:solidFill>
                  <a:srgbClr val="E76F51"/>
                </a:solidFill>
                <a:latin typeface="Calibri" pitchFamily="34" charset="0"/>
                <a:ea typeface="Calibri" pitchFamily="34" charset="-122"/>
                <a:cs typeface="Calibri" pitchFamily="34" charset="-120"/>
              </a:rPr>
              <a:t>1st: check "myuser" schema — not found</a:t>
            </a:r>
            <a:endParaRPr lang="en-US" sz="1150" dirty="0"/>
          </a:p>
        </p:txBody>
      </p:sp>
      <p:sp>
        <p:nvSpPr>
          <p:cNvPr id="14" name="Shape 12"/>
          <p:cNvSpPr/>
          <p:nvPr/>
        </p:nvSpPr>
        <p:spPr>
          <a:xfrm>
            <a:off x="7863840" y="3291840"/>
            <a:ext cx="3840480" cy="822960"/>
          </a:xfrm>
          <a:prstGeom prst="roundRect">
            <a:avLst>
              <a:gd name="adj" fmla="val 8889"/>
            </a:avLst>
          </a:prstGeom>
          <a:solidFill>
            <a:srgbClr val="DCEBF7"/>
          </a:solidFill>
          <a:ln w="12700">
            <a:solidFill>
              <a:srgbClr val="AFCFE6"/>
            </a:solidFill>
            <a:prstDash val="solid"/>
          </a:ln>
        </p:spPr>
      </p:sp>
      <p:sp>
        <p:nvSpPr>
          <p:cNvPr id="15" name="Text 13"/>
          <p:cNvSpPr/>
          <p:nvPr/>
        </p:nvSpPr>
        <p:spPr>
          <a:xfrm>
            <a:off x="8046720" y="3291840"/>
            <a:ext cx="3566160" cy="822960"/>
          </a:xfrm>
          <a:prstGeom prst="rect">
            <a:avLst/>
          </a:prstGeom>
          <a:noFill/>
          <a:ln/>
        </p:spPr>
        <p:txBody>
          <a:bodyPr wrap="square" lIns="0" tIns="0" rIns="0" bIns="0" rtlCol="0" anchor="ctr"/>
          <a:lstStyle/>
          <a:p>
            <a:pPr indent="0" marL="0">
              <a:buNone/>
            </a:pPr>
            <a:r>
              <a:rPr lang="en-US" sz="1150" b="1" dirty="0">
                <a:solidFill>
                  <a:srgbClr val="22303C"/>
                </a:solidFill>
                <a:latin typeface="Calibri" pitchFamily="34" charset="0"/>
                <a:ea typeface="Calibri" pitchFamily="34" charset="-122"/>
                <a:cs typeface="Calibri" pitchFamily="34" charset="-120"/>
              </a:rPr>
              <a:t>2nd: check "public" schema — found orders ✓</a:t>
            </a:r>
            <a:endParaRPr lang="en-US" sz="1150" dirty="0"/>
          </a:p>
        </p:txBody>
      </p:sp>
      <p:sp>
        <p:nvSpPr>
          <p:cNvPr id="16" name="Shape 14"/>
          <p:cNvSpPr/>
          <p:nvPr/>
        </p:nvSpPr>
        <p:spPr>
          <a:xfrm>
            <a:off x="457200" y="4434840"/>
            <a:ext cx="11292840" cy="1600200"/>
          </a:xfrm>
          <a:prstGeom prst="roundRect">
            <a:avLst>
              <a:gd name="adj" fmla="val 4571"/>
            </a:avLst>
          </a:prstGeom>
          <a:solidFill>
            <a:srgbClr val="F4F8FB"/>
          </a:solidFill>
          <a:ln w="12700">
            <a:solidFill>
              <a:srgbClr val="AFCFE6"/>
            </a:solidFill>
            <a:prstDash val="solid"/>
          </a:ln>
        </p:spPr>
      </p:sp>
      <p:sp>
        <p:nvSpPr>
          <p:cNvPr id="17" name="Text 15"/>
          <p:cNvSpPr/>
          <p:nvPr/>
        </p:nvSpPr>
        <p:spPr>
          <a:xfrm>
            <a:off x="731520" y="4572000"/>
            <a:ext cx="5486400" cy="320040"/>
          </a:xfrm>
          <a:prstGeom prst="rect">
            <a:avLst/>
          </a:prstGeom>
          <a:noFill/>
          <a:ln/>
        </p:spPr>
        <p:txBody>
          <a:bodyPr wrap="square" lIns="0" tIns="0" rIns="0" bIns="0" rtlCol="0" anchor="ctr"/>
          <a:lstStyle/>
          <a:p>
            <a:pPr indent="0" marL="0">
              <a:buNone/>
            </a:pPr>
            <a:r>
              <a:rPr lang="en-US" sz="1300" b="1" dirty="0">
                <a:solidFill>
                  <a:srgbClr val="22303C"/>
                </a:solidFill>
                <a:latin typeface="Calibri" pitchFamily="34" charset="0"/>
                <a:ea typeface="Calibri" pitchFamily="34" charset="-122"/>
                <a:cs typeface="Calibri" pitchFamily="34" charset="-120"/>
              </a:rPr>
              <a:t>Qualified name — no ambiguity</a:t>
            </a:r>
            <a:endParaRPr lang="en-US" sz="1300" dirty="0"/>
          </a:p>
        </p:txBody>
      </p:sp>
      <p:sp>
        <p:nvSpPr>
          <p:cNvPr id="18" name="Text 16"/>
          <p:cNvSpPr/>
          <p:nvPr/>
        </p:nvSpPr>
        <p:spPr>
          <a:xfrm>
            <a:off x="731520" y="4937760"/>
            <a:ext cx="10698480" cy="365760"/>
          </a:xfrm>
          <a:prstGeom prst="rect">
            <a:avLst/>
          </a:prstGeom>
          <a:noFill/>
          <a:ln/>
        </p:spPr>
        <p:txBody>
          <a:bodyPr wrap="square" lIns="0" tIns="0" rIns="0" bIns="0" rtlCol="0" anchor="ctr"/>
          <a:lstStyle/>
          <a:p>
            <a:pPr indent="0" marL="0">
              <a:buNone/>
            </a:pPr>
            <a:r>
              <a:rPr lang="en-US" sz="1350" b="1" dirty="0">
                <a:solidFill>
                  <a:srgbClr val="336791"/>
                </a:solidFill>
                <a:latin typeface="Courier New" pitchFamily="34" charset="0"/>
                <a:ea typeface="Courier New" pitchFamily="34" charset="-122"/>
                <a:cs typeface="Courier New" pitchFamily="34" charset="-120"/>
              </a:rPr>
              <a:t>SELECT * FROM app.orders;</a:t>
            </a:r>
            <a:endParaRPr lang="en-US" sz="1350" dirty="0"/>
          </a:p>
        </p:txBody>
      </p:sp>
      <p:sp>
        <p:nvSpPr>
          <p:cNvPr id="19" name="Text 17"/>
          <p:cNvSpPr/>
          <p:nvPr/>
        </p:nvSpPr>
        <p:spPr>
          <a:xfrm>
            <a:off x="731520" y="5349240"/>
            <a:ext cx="10698480" cy="365760"/>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Prefixing the schema name always wins, regardless of search_path — the safest option in scripts and functions.</a:t>
            </a:r>
            <a:endParaRPr lang="en-US" sz="1150" dirty="0"/>
          </a:p>
        </p:txBody>
      </p:sp>
      <p:sp>
        <p:nvSpPr>
          <p:cNvPr id="20" name="Text 18"/>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Essentials  |  Limits, psql &amp; Schemas</a:t>
            </a:r>
            <a:endParaRPr lang="en-US" sz="1000" dirty="0"/>
          </a:p>
        </p:txBody>
      </p:sp>
      <p:sp>
        <p:nvSpPr>
          <p:cNvPr id="21" name="Text 19"/>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9144000" cy="274320"/>
          </a:xfrm>
          <a:prstGeom prst="rect">
            <a:avLst/>
          </a:prstGeom>
          <a:noFill/>
          <a:ln/>
        </p:spPr>
        <p:txBody>
          <a:bodyPr wrap="square" lIns="0" tIns="0" rIns="0" bIns="0" rtlCol="0" anchor="ctr"/>
          <a:lstStyle/>
          <a:p>
            <a:pPr indent="0" marL="0">
              <a:buNone/>
            </a:pPr>
            <a:r>
              <a:rPr lang="en-US" sz="1200" b="1" spc="150" kern="0" dirty="0">
                <a:solidFill>
                  <a:srgbClr val="336791"/>
                </a:solidFill>
                <a:latin typeface="Calibri" pitchFamily="34" charset="0"/>
                <a:ea typeface="Calibri" pitchFamily="34" charset="-122"/>
                <a:cs typeface="Calibri" pitchFamily="34" charset="-120"/>
              </a:rPr>
              <a:t>SCHEMAS</a:t>
            </a:r>
            <a:endParaRPr lang="en-US" sz="1200" dirty="0"/>
          </a:p>
        </p:txBody>
      </p:sp>
      <p:sp>
        <p:nvSpPr>
          <p:cNvPr id="3" name="Text 1"/>
          <p:cNvSpPr/>
          <p:nvPr/>
        </p:nvSpPr>
        <p:spPr>
          <a:xfrm>
            <a:off x="457200" y="621792"/>
            <a:ext cx="11247120" cy="640080"/>
          </a:xfrm>
          <a:prstGeom prst="rect">
            <a:avLst/>
          </a:prstGeom>
          <a:noFill/>
          <a:ln/>
        </p:spPr>
        <p:txBody>
          <a:bodyPr wrap="square" lIns="0" tIns="0" rIns="0" bIns="0" rtlCol="0" anchor="ctr"/>
          <a:lstStyle/>
          <a:p>
            <a:pPr indent="0" marL="0">
              <a:buNone/>
            </a:pPr>
            <a:r>
              <a:rPr lang="en-US" sz="3000" b="1" dirty="0">
                <a:solidFill>
                  <a:srgbClr val="22303C"/>
                </a:solidFill>
                <a:latin typeface="Cambria" pitchFamily="34" charset="0"/>
                <a:ea typeface="Cambria" pitchFamily="34" charset="-122"/>
                <a:cs typeface="Cambria" pitchFamily="34" charset="-120"/>
              </a:rPr>
              <a:t>Everyday Schema Commands</a:t>
            </a:r>
            <a:endParaRPr lang="en-US" sz="3000" dirty="0"/>
          </a:p>
        </p:txBody>
      </p:sp>
      <p:sp>
        <p:nvSpPr>
          <p:cNvPr id="4" name="Text 2"/>
          <p:cNvSpPr/>
          <p:nvPr/>
        </p:nvSpPr>
        <p:spPr>
          <a:xfrm>
            <a:off x="457200" y="1298448"/>
            <a:ext cx="11247120" cy="457200"/>
          </a:xfrm>
          <a:prstGeom prst="rect">
            <a:avLst/>
          </a:prstGeom>
          <a:noFill/>
          <a:ln/>
        </p:spPr>
        <p:txBody>
          <a:bodyPr wrap="square" lIns="0" tIns="0" rIns="0" bIns="0" rtlCol="0" anchor="ctr"/>
          <a:lstStyle/>
          <a:p>
            <a:pPr indent="0" marL="0">
              <a:buNone/>
            </a:pPr>
            <a:r>
              <a:rPr lang="en-US" sz="1350" dirty="0">
                <a:solidFill>
                  <a:srgbClr val="5C6B73"/>
                </a:solidFill>
                <a:latin typeface="Calibri" pitchFamily="34" charset="0"/>
                <a:ea typeface="Calibri" pitchFamily="34" charset="-122"/>
                <a:cs typeface="Calibri" pitchFamily="34" charset="-120"/>
              </a:rPr>
              <a:t>The SQL and psql commands you'll use to create, inspect, and manage schemas day to day.</a:t>
            </a:r>
            <a:endParaRPr lang="en-US" sz="1350" dirty="0"/>
          </a:p>
        </p:txBody>
      </p:sp>
      <p:sp>
        <p:nvSpPr>
          <p:cNvPr id="5" name="Shape 3"/>
          <p:cNvSpPr/>
          <p:nvPr/>
        </p:nvSpPr>
        <p:spPr>
          <a:xfrm>
            <a:off x="457200" y="1874520"/>
            <a:ext cx="5074920" cy="548640"/>
          </a:xfrm>
          <a:prstGeom prst="rect">
            <a:avLst/>
          </a:prstGeom>
          <a:solidFill>
            <a:srgbClr val="336791"/>
          </a:solidFill>
          <a:ln/>
        </p:spPr>
      </p:sp>
      <p:sp>
        <p:nvSpPr>
          <p:cNvPr id="6" name="Text 4"/>
          <p:cNvSpPr/>
          <p:nvPr/>
        </p:nvSpPr>
        <p:spPr>
          <a:xfrm>
            <a:off x="621792" y="1874520"/>
            <a:ext cx="480060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Command</a:t>
            </a:r>
            <a:endParaRPr lang="en-US" sz="1300" dirty="0"/>
          </a:p>
        </p:txBody>
      </p:sp>
      <p:sp>
        <p:nvSpPr>
          <p:cNvPr id="7" name="Shape 5"/>
          <p:cNvSpPr/>
          <p:nvPr/>
        </p:nvSpPr>
        <p:spPr>
          <a:xfrm>
            <a:off x="5532120" y="1874520"/>
            <a:ext cx="6217920" cy="548640"/>
          </a:xfrm>
          <a:prstGeom prst="rect">
            <a:avLst/>
          </a:prstGeom>
          <a:solidFill>
            <a:srgbClr val="336791"/>
          </a:solidFill>
          <a:ln/>
        </p:spPr>
      </p:sp>
      <p:sp>
        <p:nvSpPr>
          <p:cNvPr id="8" name="Text 6"/>
          <p:cNvSpPr/>
          <p:nvPr/>
        </p:nvSpPr>
        <p:spPr>
          <a:xfrm>
            <a:off x="5696712" y="1874520"/>
            <a:ext cx="594360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p>
        </p:txBody>
      </p:sp>
      <p:sp>
        <p:nvSpPr>
          <p:cNvPr id="9" name="Shape 7"/>
          <p:cNvSpPr/>
          <p:nvPr/>
        </p:nvSpPr>
        <p:spPr>
          <a:xfrm>
            <a:off x="457200" y="2423160"/>
            <a:ext cx="5074920" cy="548640"/>
          </a:xfrm>
          <a:prstGeom prst="rect">
            <a:avLst/>
          </a:prstGeom>
          <a:solidFill>
            <a:srgbClr val="FFFFFF"/>
          </a:solidFill>
          <a:ln w="9525">
            <a:solidFill>
              <a:srgbClr val="E4EDF3"/>
            </a:solidFill>
            <a:prstDash val="solid"/>
          </a:ln>
        </p:spPr>
      </p:sp>
      <p:sp>
        <p:nvSpPr>
          <p:cNvPr id="10" name="Text 8"/>
          <p:cNvSpPr/>
          <p:nvPr/>
        </p:nvSpPr>
        <p:spPr>
          <a:xfrm>
            <a:off x="621792" y="2423160"/>
            <a:ext cx="48006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CREATE SCHEMA app;</a:t>
            </a:r>
            <a:endParaRPr lang="en-US" sz="1200" dirty="0"/>
          </a:p>
        </p:txBody>
      </p:sp>
      <p:sp>
        <p:nvSpPr>
          <p:cNvPr id="11" name="Shape 9"/>
          <p:cNvSpPr/>
          <p:nvPr/>
        </p:nvSpPr>
        <p:spPr>
          <a:xfrm>
            <a:off x="5532120" y="2423160"/>
            <a:ext cx="6217920" cy="548640"/>
          </a:xfrm>
          <a:prstGeom prst="rect">
            <a:avLst/>
          </a:prstGeom>
          <a:solidFill>
            <a:srgbClr val="FFFFFF"/>
          </a:solidFill>
          <a:ln w="9525">
            <a:solidFill>
              <a:srgbClr val="E4EDF3"/>
            </a:solidFill>
            <a:prstDash val="solid"/>
          </a:ln>
        </p:spPr>
      </p:sp>
      <p:sp>
        <p:nvSpPr>
          <p:cNvPr id="12" name="Text 10"/>
          <p:cNvSpPr/>
          <p:nvPr/>
        </p:nvSpPr>
        <p:spPr>
          <a:xfrm>
            <a:off x="5696712" y="2423160"/>
            <a:ext cx="59436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Create a new, empty schema</a:t>
            </a:r>
            <a:endParaRPr lang="en-US" sz="1150" dirty="0"/>
          </a:p>
        </p:txBody>
      </p:sp>
      <p:sp>
        <p:nvSpPr>
          <p:cNvPr id="13" name="Shape 11"/>
          <p:cNvSpPr/>
          <p:nvPr/>
        </p:nvSpPr>
        <p:spPr>
          <a:xfrm>
            <a:off x="457200" y="2971800"/>
            <a:ext cx="5074920" cy="548640"/>
          </a:xfrm>
          <a:prstGeom prst="rect">
            <a:avLst/>
          </a:prstGeom>
          <a:solidFill>
            <a:srgbClr val="F4F8FB"/>
          </a:solidFill>
          <a:ln w="9525">
            <a:solidFill>
              <a:srgbClr val="E4EDF3"/>
            </a:solidFill>
            <a:prstDash val="solid"/>
          </a:ln>
        </p:spPr>
      </p:sp>
      <p:sp>
        <p:nvSpPr>
          <p:cNvPr id="14" name="Text 12"/>
          <p:cNvSpPr/>
          <p:nvPr/>
        </p:nvSpPr>
        <p:spPr>
          <a:xfrm>
            <a:off x="621792" y="2971800"/>
            <a:ext cx="48006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CREATE SCHEMA app AUTHORIZATION user;</a:t>
            </a:r>
            <a:endParaRPr lang="en-US" sz="1200" dirty="0"/>
          </a:p>
        </p:txBody>
      </p:sp>
      <p:sp>
        <p:nvSpPr>
          <p:cNvPr id="15" name="Shape 13"/>
          <p:cNvSpPr/>
          <p:nvPr/>
        </p:nvSpPr>
        <p:spPr>
          <a:xfrm>
            <a:off x="5532120" y="2971800"/>
            <a:ext cx="6217920" cy="548640"/>
          </a:xfrm>
          <a:prstGeom prst="rect">
            <a:avLst/>
          </a:prstGeom>
          <a:solidFill>
            <a:srgbClr val="F4F8FB"/>
          </a:solidFill>
          <a:ln w="9525">
            <a:solidFill>
              <a:srgbClr val="E4EDF3"/>
            </a:solidFill>
            <a:prstDash val="solid"/>
          </a:ln>
        </p:spPr>
      </p:sp>
      <p:sp>
        <p:nvSpPr>
          <p:cNvPr id="16" name="Text 14"/>
          <p:cNvSpPr/>
          <p:nvPr/>
        </p:nvSpPr>
        <p:spPr>
          <a:xfrm>
            <a:off x="5696712" y="2971800"/>
            <a:ext cx="59436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Create a schema and set its owner</a:t>
            </a:r>
            <a:endParaRPr lang="en-US" sz="1150" dirty="0"/>
          </a:p>
        </p:txBody>
      </p:sp>
      <p:sp>
        <p:nvSpPr>
          <p:cNvPr id="17" name="Shape 15"/>
          <p:cNvSpPr/>
          <p:nvPr/>
        </p:nvSpPr>
        <p:spPr>
          <a:xfrm>
            <a:off x="457200" y="3520440"/>
            <a:ext cx="5074920" cy="548640"/>
          </a:xfrm>
          <a:prstGeom prst="rect">
            <a:avLst/>
          </a:prstGeom>
          <a:solidFill>
            <a:srgbClr val="FFFFFF"/>
          </a:solidFill>
          <a:ln w="9525">
            <a:solidFill>
              <a:srgbClr val="E4EDF3"/>
            </a:solidFill>
            <a:prstDash val="solid"/>
          </a:ln>
        </p:spPr>
      </p:sp>
      <p:sp>
        <p:nvSpPr>
          <p:cNvPr id="18" name="Text 16"/>
          <p:cNvSpPr/>
          <p:nvPr/>
        </p:nvSpPr>
        <p:spPr>
          <a:xfrm>
            <a:off x="621792" y="3520440"/>
            <a:ext cx="48006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ALTER SCHEMA app RENAME TO core;</a:t>
            </a:r>
            <a:endParaRPr lang="en-US" sz="1200" dirty="0"/>
          </a:p>
        </p:txBody>
      </p:sp>
      <p:sp>
        <p:nvSpPr>
          <p:cNvPr id="19" name="Shape 17"/>
          <p:cNvSpPr/>
          <p:nvPr/>
        </p:nvSpPr>
        <p:spPr>
          <a:xfrm>
            <a:off x="5532120" y="3520440"/>
            <a:ext cx="6217920" cy="548640"/>
          </a:xfrm>
          <a:prstGeom prst="rect">
            <a:avLst/>
          </a:prstGeom>
          <a:solidFill>
            <a:srgbClr val="FFFFFF"/>
          </a:solidFill>
          <a:ln w="9525">
            <a:solidFill>
              <a:srgbClr val="E4EDF3"/>
            </a:solidFill>
            <a:prstDash val="solid"/>
          </a:ln>
        </p:spPr>
      </p:sp>
      <p:sp>
        <p:nvSpPr>
          <p:cNvPr id="20" name="Text 18"/>
          <p:cNvSpPr/>
          <p:nvPr/>
        </p:nvSpPr>
        <p:spPr>
          <a:xfrm>
            <a:off x="5696712" y="3520440"/>
            <a:ext cx="59436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Rename an existing schema</a:t>
            </a:r>
            <a:endParaRPr lang="en-US" sz="1150" dirty="0"/>
          </a:p>
        </p:txBody>
      </p:sp>
      <p:sp>
        <p:nvSpPr>
          <p:cNvPr id="21" name="Shape 19"/>
          <p:cNvSpPr/>
          <p:nvPr/>
        </p:nvSpPr>
        <p:spPr>
          <a:xfrm>
            <a:off x="457200" y="4069080"/>
            <a:ext cx="5074920" cy="548640"/>
          </a:xfrm>
          <a:prstGeom prst="rect">
            <a:avLst/>
          </a:prstGeom>
          <a:solidFill>
            <a:srgbClr val="F4F8FB"/>
          </a:solidFill>
          <a:ln w="9525">
            <a:solidFill>
              <a:srgbClr val="E4EDF3"/>
            </a:solidFill>
            <a:prstDash val="solid"/>
          </a:ln>
        </p:spPr>
      </p:sp>
      <p:sp>
        <p:nvSpPr>
          <p:cNvPr id="22" name="Text 20"/>
          <p:cNvSpPr/>
          <p:nvPr/>
        </p:nvSpPr>
        <p:spPr>
          <a:xfrm>
            <a:off x="621792" y="4069080"/>
            <a:ext cx="48006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DROP SCHEMA app CASCADE;</a:t>
            </a:r>
            <a:endParaRPr lang="en-US" sz="1200" dirty="0"/>
          </a:p>
        </p:txBody>
      </p:sp>
      <p:sp>
        <p:nvSpPr>
          <p:cNvPr id="23" name="Shape 21"/>
          <p:cNvSpPr/>
          <p:nvPr/>
        </p:nvSpPr>
        <p:spPr>
          <a:xfrm>
            <a:off x="5532120" y="4069080"/>
            <a:ext cx="6217920" cy="548640"/>
          </a:xfrm>
          <a:prstGeom prst="rect">
            <a:avLst/>
          </a:prstGeom>
          <a:solidFill>
            <a:srgbClr val="F4F8FB"/>
          </a:solidFill>
          <a:ln w="9525">
            <a:solidFill>
              <a:srgbClr val="E4EDF3"/>
            </a:solidFill>
            <a:prstDash val="solid"/>
          </a:ln>
        </p:spPr>
      </p:sp>
      <p:sp>
        <p:nvSpPr>
          <p:cNvPr id="24" name="Text 22"/>
          <p:cNvSpPr/>
          <p:nvPr/>
        </p:nvSpPr>
        <p:spPr>
          <a:xfrm>
            <a:off x="5696712" y="4069080"/>
            <a:ext cx="59436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Remove a schema and everything inside it</a:t>
            </a:r>
            <a:endParaRPr lang="en-US" sz="1150" dirty="0"/>
          </a:p>
        </p:txBody>
      </p:sp>
      <p:sp>
        <p:nvSpPr>
          <p:cNvPr id="25" name="Shape 23"/>
          <p:cNvSpPr/>
          <p:nvPr/>
        </p:nvSpPr>
        <p:spPr>
          <a:xfrm>
            <a:off x="457200" y="4617720"/>
            <a:ext cx="5074920" cy="548640"/>
          </a:xfrm>
          <a:prstGeom prst="rect">
            <a:avLst/>
          </a:prstGeom>
          <a:solidFill>
            <a:srgbClr val="FFFFFF"/>
          </a:solidFill>
          <a:ln w="9525">
            <a:solidFill>
              <a:srgbClr val="E4EDF3"/>
            </a:solidFill>
            <a:prstDash val="solid"/>
          </a:ln>
        </p:spPr>
      </p:sp>
      <p:sp>
        <p:nvSpPr>
          <p:cNvPr id="26" name="Text 24"/>
          <p:cNvSpPr/>
          <p:nvPr/>
        </p:nvSpPr>
        <p:spPr>
          <a:xfrm>
            <a:off x="621792" y="4617720"/>
            <a:ext cx="48006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SET search_path TO app, public;</a:t>
            </a:r>
            <a:endParaRPr lang="en-US" sz="1200" dirty="0"/>
          </a:p>
        </p:txBody>
      </p:sp>
      <p:sp>
        <p:nvSpPr>
          <p:cNvPr id="27" name="Shape 25"/>
          <p:cNvSpPr/>
          <p:nvPr/>
        </p:nvSpPr>
        <p:spPr>
          <a:xfrm>
            <a:off x="5532120" y="4617720"/>
            <a:ext cx="6217920" cy="548640"/>
          </a:xfrm>
          <a:prstGeom prst="rect">
            <a:avLst/>
          </a:prstGeom>
          <a:solidFill>
            <a:srgbClr val="FFFFFF"/>
          </a:solidFill>
          <a:ln w="9525">
            <a:solidFill>
              <a:srgbClr val="E4EDF3"/>
            </a:solidFill>
            <a:prstDash val="solid"/>
          </a:ln>
        </p:spPr>
      </p:sp>
      <p:sp>
        <p:nvSpPr>
          <p:cNvPr id="28" name="Text 26"/>
          <p:cNvSpPr/>
          <p:nvPr/>
        </p:nvSpPr>
        <p:spPr>
          <a:xfrm>
            <a:off x="5696712" y="4617720"/>
            <a:ext cx="59436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Change name-resolution order for this session</a:t>
            </a:r>
            <a:endParaRPr lang="en-US" sz="1150" dirty="0"/>
          </a:p>
        </p:txBody>
      </p:sp>
      <p:sp>
        <p:nvSpPr>
          <p:cNvPr id="29" name="Shape 27"/>
          <p:cNvSpPr/>
          <p:nvPr/>
        </p:nvSpPr>
        <p:spPr>
          <a:xfrm>
            <a:off x="457200" y="5166360"/>
            <a:ext cx="5074920" cy="548640"/>
          </a:xfrm>
          <a:prstGeom prst="rect">
            <a:avLst/>
          </a:prstGeom>
          <a:solidFill>
            <a:srgbClr val="F4F8FB"/>
          </a:solidFill>
          <a:ln w="9525">
            <a:solidFill>
              <a:srgbClr val="E4EDF3"/>
            </a:solidFill>
            <a:prstDash val="solid"/>
          </a:ln>
        </p:spPr>
      </p:sp>
      <p:sp>
        <p:nvSpPr>
          <p:cNvPr id="30" name="Text 28"/>
          <p:cNvSpPr/>
          <p:nvPr/>
        </p:nvSpPr>
        <p:spPr>
          <a:xfrm>
            <a:off x="621792" y="5166360"/>
            <a:ext cx="48006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GRANT USAGE ON SCHEMA app TO role;</a:t>
            </a:r>
            <a:endParaRPr lang="en-US" sz="1200" dirty="0"/>
          </a:p>
        </p:txBody>
      </p:sp>
      <p:sp>
        <p:nvSpPr>
          <p:cNvPr id="31" name="Shape 29"/>
          <p:cNvSpPr/>
          <p:nvPr/>
        </p:nvSpPr>
        <p:spPr>
          <a:xfrm>
            <a:off x="5532120" y="5166360"/>
            <a:ext cx="6217920" cy="548640"/>
          </a:xfrm>
          <a:prstGeom prst="rect">
            <a:avLst/>
          </a:prstGeom>
          <a:solidFill>
            <a:srgbClr val="F4F8FB"/>
          </a:solidFill>
          <a:ln w="9525">
            <a:solidFill>
              <a:srgbClr val="E4EDF3"/>
            </a:solidFill>
            <a:prstDash val="solid"/>
          </a:ln>
        </p:spPr>
      </p:sp>
      <p:sp>
        <p:nvSpPr>
          <p:cNvPr id="32" name="Text 30"/>
          <p:cNvSpPr/>
          <p:nvPr/>
        </p:nvSpPr>
        <p:spPr>
          <a:xfrm>
            <a:off x="5696712" y="5166360"/>
            <a:ext cx="59436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Let a role see and use objects in the schema</a:t>
            </a:r>
            <a:endParaRPr lang="en-US" sz="1150" dirty="0"/>
          </a:p>
        </p:txBody>
      </p:sp>
      <p:sp>
        <p:nvSpPr>
          <p:cNvPr id="33" name="Shape 31"/>
          <p:cNvSpPr/>
          <p:nvPr/>
        </p:nvSpPr>
        <p:spPr>
          <a:xfrm>
            <a:off x="457200" y="5715000"/>
            <a:ext cx="5074920" cy="548640"/>
          </a:xfrm>
          <a:prstGeom prst="rect">
            <a:avLst/>
          </a:prstGeom>
          <a:solidFill>
            <a:srgbClr val="FFFFFF"/>
          </a:solidFill>
          <a:ln w="9525">
            <a:solidFill>
              <a:srgbClr val="E4EDF3"/>
            </a:solidFill>
            <a:prstDash val="solid"/>
          </a:ln>
        </p:spPr>
      </p:sp>
      <p:sp>
        <p:nvSpPr>
          <p:cNvPr id="34" name="Text 32"/>
          <p:cNvSpPr/>
          <p:nvPr/>
        </p:nvSpPr>
        <p:spPr>
          <a:xfrm>
            <a:off x="621792" y="5715000"/>
            <a:ext cx="4800600" cy="548640"/>
          </a:xfrm>
          <a:prstGeom prst="rect">
            <a:avLst/>
          </a:prstGeom>
          <a:noFill/>
          <a:ln/>
        </p:spPr>
        <p:txBody>
          <a:bodyPr wrap="square" lIns="0" tIns="0" rIns="0" bIns="0" rtlCol="0" anchor="ctr"/>
          <a:lstStyle/>
          <a:p>
            <a:pPr indent="0" marL="0">
              <a:buNone/>
            </a:pPr>
            <a:r>
              <a:rPr lang="en-US" sz="1200" b="1" dirty="0">
                <a:solidFill>
                  <a:srgbClr val="336791"/>
                </a:solidFill>
                <a:latin typeface="Courier New" pitchFamily="34" charset="0"/>
                <a:ea typeface="Courier New" pitchFamily="34" charset="-122"/>
                <a:cs typeface="Courier New" pitchFamily="34" charset="-120"/>
              </a:rPr>
              <a:t>\dn</a:t>
            </a:r>
            <a:endParaRPr lang="en-US" sz="1200" dirty="0"/>
          </a:p>
        </p:txBody>
      </p:sp>
      <p:sp>
        <p:nvSpPr>
          <p:cNvPr id="35" name="Shape 33"/>
          <p:cNvSpPr/>
          <p:nvPr/>
        </p:nvSpPr>
        <p:spPr>
          <a:xfrm>
            <a:off x="5532120" y="5715000"/>
            <a:ext cx="6217920" cy="548640"/>
          </a:xfrm>
          <a:prstGeom prst="rect">
            <a:avLst/>
          </a:prstGeom>
          <a:solidFill>
            <a:srgbClr val="FFFFFF"/>
          </a:solidFill>
          <a:ln w="9525">
            <a:solidFill>
              <a:srgbClr val="E4EDF3"/>
            </a:solidFill>
            <a:prstDash val="solid"/>
          </a:ln>
        </p:spPr>
      </p:sp>
      <p:sp>
        <p:nvSpPr>
          <p:cNvPr id="36" name="Text 34"/>
          <p:cNvSpPr/>
          <p:nvPr/>
        </p:nvSpPr>
        <p:spPr>
          <a:xfrm>
            <a:off x="5696712" y="5715000"/>
            <a:ext cx="5943600" cy="548640"/>
          </a:xfrm>
          <a:prstGeom prst="rect">
            <a:avLst/>
          </a:prstGeom>
          <a:noFill/>
          <a:ln/>
        </p:spPr>
        <p:txBody>
          <a:bodyPr wrap="square" lIns="0" tIns="0" rIns="0" bIns="0" rtlCol="0" anchor="ctr"/>
          <a:lstStyle/>
          <a:p>
            <a:pPr indent="0" marL="0">
              <a:buNone/>
            </a:pPr>
            <a:r>
              <a:rPr lang="en-US" sz="1150" dirty="0">
                <a:solidFill>
                  <a:srgbClr val="22303C"/>
                </a:solidFill>
                <a:latin typeface="Calibri" pitchFamily="34" charset="0"/>
                <a:ea typeface="Calibri" pitchFamily="34" charset="-122"/>
                <a:cs typeface="Calibri" pitchFamily="34" charset="-120"/>
              </a:rPr>
              <a:t>List all schemas (from psql)</a:t>
            </a:r>
            <a:endParaRPr lang="en-US" sz="1150" dirty="0"/>
          </a:p>
        </p:txBody>
      </p:sp>
      <p:sp>
        <p:nvSpPr>
          <p:cNvPr id="37" name="Text 35"/>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5C6B73"/>
                </a:solidFill>
                <a:latin typeface="Calibri" pitchFamily="34" charset="0"/>
                <a:ea typeface="Calibri" pitchFamily="34" charset="-122"/>
                <a:cs typeface="Calibri" pitchFamily="34" charset="-120"/>
              </a:rPr>
              <a:t>PostgreSQL Essentials  |  Limits, psql &amp; Schemas</a:t>
            </a:r>
            <a:endParaRPr lang="en-US" sz="1000" dirty="0"/>
          </a:p>
        </p:txBody>
      </p:sp>
      <p:sp>
        <p:nvSpPr>
          <p:cNvPr id="38" name="Text 36"/>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5C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324F"/>
        </a:solidFill>
      </p:bgPr>
    </p:bg>
    <p:spTree>
      <p:nvGrpSpPr>
        <p:cNvPr id="1" name=""/>
        <p:cNvGrpSpPr/>
        <p:nvPr/>
      </p:nvGrpSpPr>
      <p:grpSpPr>
        <a:xfrm>
          <a:off x="0" y="0"/>
          <a:ext cx="0" cy="0"/>
          <a:chOff x="0" y="0"/>
          <a:chExt cx="0" cy="0"/>
        </a:xfrm>
      </p:grpSpPr>
      <p:sp>
        <p:nvSpPr>
          <p:cNvPr id="2" name="Text 0"/>
          <p:cNvSpPr/>
          <p:nvPr/>
        </p:nvSpPr>
        <p:spPr>
          <a:xfrm>
            <a:off x="640080" y="594360"/>
            <a:ext cx="4572000" cy="320040"/>
          </a:xfrm>
          <a:prstGeom prst="rect">
            <a:avLst/>
          </a:prstGeom>
          <a:noFill/>
          <a:ln/>
        </p:spPr>
        <p:txBody>
          <a:bodyPr wrap="square" lIns="0" tIns="0" rIns="0" bIns="0" rtlCol="0" anchor="ctr"/>
          <a:lstStyle/>
          <a:p>
            <a:pPr indent="0" marL="0">
              <a:buNone/>
            </a:pPr>
            <a:r>
              <a:rPr lang="en-US" sz="1300" b="1" spc="200" kern="0" dirty="0">
                <a:solidFill>
                  <a:srgbClr val="AFCFE6"/>
                </a:solidFill>
                <a:latin typeface="Calibri" pitchFamily="34" charset="0"/>
                <a:ea typeface="Calibri" pitchFamily="34" charset="-122"/>
                <a:cs typeface="Calibri" pitchFamily="34" charset="-120"/>
              </a:rPr>
              <a:t>SUMMARY</a:t>
            </a:r>
            <a:endParaRPr lang="en-US" sz="1300" dirty="0"/>
          </a:p>
        </p:txBody>
      </p:sp>
      <p:sp>
        <p:nvSpPr>
          <p:cNvPr id="3" name="Text 1"/>
          <p:cNvSpPr/>
          <p:nvPr/>
        </p:nvSpPr>
        <p:spPr>
          <a:xfrm>
            <a:off x="640080" y="896112"/>
            <a:ext cx="73152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4" name="Shape 2"/>
          <p:cNvSpPr/>
          <p:nvPr/>
        </p:nvSpPr>
        <p:spPr>
          <a:xfrm>
            <a:off x="640080" y="1874520"/>
            <a:ext cx="502920" cy="502920"/>
          </a:xfrm>
          <a:prstGeom prst="ellipse">
            <a:avLst/>
          </a:prstGeom>
          <a:solidFill>
            <a:srgbClr val="2A5A82"/>
          </a:solidFill>
          <a:ln/>
        </p:spPr>
      </p:sp>
      <p:sp>
        <p:nvSpPr>
          <p:cNvPr id="5" name="Text 3"/>
          <p:cNvSpPr/>
          <p:nvPr/>
        </p:nvSpPr>
        <p:spPr>
          <a:xfrm>
            <a:off x="640080" y="187452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1</a:t>
            </a:r>
            <a:endParaRPr lang="en-US" sz="1210" dirty="0"/>
          </a:p>
        </p:txBody>
      </p:sp>
      <p:sp>
        <p:nvSpPr>
          <p:cNvPr id="6" name="Text 4"/>
          <p:cNvSpPr/>
          <p:nvPr/>
        </p:nvSpPr>
        <p:spPr>
          <a:xfrm>
            <a:off x="1325880" y="1828800"/>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Limits are structural</a:t>
            </a:r>
            <a:endParaRPr lang="en-US" sz="1500" dirty="0"/>
          </a:p>
        </p:txBody>
      </p:sp>
      <p:sp>
        <p:nvSpPr>
          <p:cNvPr id="7" name="Text 5"/>
          <p:cNvSpPr/>
          <p:nvPr/>
        </p:nvSpPr>
        <p:spPr>
          <a:xfrm>
            <a:off x="1325880" y="2194560"/>
            <a:ext cx="4663440" cy="685800"/>
          </a:xfrm>
          <a:prstGeom prst="rect">
            <a:avLst/>
          </a:prstGeom>
          <a:noFill/>
          <a:ln/>
        </p:spPr>
        <p:txBody>
          <a:bodyPr wrap="square" lIns="0" tIns="0" rIns="0" bIns="0" rtlCol="0" anchor="ctr"/>
          <a:lstStyle/>
          <a:p>
            <a:pPr indent="0" marL="0">
              <a:buNone/>
            </a:pPr>
            <a:r>
              <a:rPr lang="en-US" sz="1200" dirty="0">
                <a:solidFill>
                  <a:srgbClr val="C7D9E5"/>
                </a:solidFill>
                <a:latin typeface="Calibri" pitchFamily="34" charset="0"/>
                <a:ea typeface="Calibri" pitchFamily="34" charset="-122"/>
                <a:cs typeface="Calibri" pitchFamily="34" charset="-120"/>
              </a:rPr>
              <a:t>63-byte names, 32 TB tables, and max_connections are fixed engineering constraints, not tuning knobs.</a:t>
            </a:r>
            <a:endParaRPr lang="en-US" sz="1200" dirty="0"/>
          </a:p>
        </p:txBody>
      </p:sp>
      <p:sp>
        <p:nvSpPr>
          <p:cNvPr id="8" name="Shape 6"/>
          <p:cNvSpPr/>
          <p:nvPr/>
        </p:nvSpPr>
        <p:spPr>
          <a:xfrm>
            <a:off x="6355080" y="1874520"/>
            <a:ext cx="502920" cy="502920"/>
          </a:xfrm>
          <a:prstGeom prst="ellipse">
            <a:avLst/>
          </a:prstGeom>
          <a:solidFill>
            <a:srgbClr val="2A5A82"/>
          </a:solidFill>
          <a:ln/>
        </p:spPr>
      </p:sp>
      <p:sp>
        <p:nvSpPr>
          <p:cNvPr id="9" name="Text 7"/>
          <p:cNvSpPr/>
          <p:nvPr/>
        </p:nvSpPr>
        <p:spPr>
          <a:xfrm>
            <a:off x="6355080" y="187452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2</a:t>
            </a:r>
            <a:endParaRPr lang="en-US" sz="1210" dirty="0"/>
          </a:p>
        </p:txBody>
      </p:sp>
      <p:sp>
        <p:nvSpPr>
          <p:cNvPr id="10" name="Text 8"/>
          <p:cNvSpPr/>
          <p:nvPr/>
        </p:nvSpPr>
        <p:spPr>
          <a:xfrm>
            <a:off x="7040880" y="1828800"/>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psql is your fastest inspector</a:t>
            </a:r>
            <a:endParaRPr lang="en-US" sz="1500" dirty="0"/>
          </a:p>
        </p:txBody>
      </p:sp>
      <p:sp>
        <p:nvSpPr>
          <p:cNvPr id="11" name="Text 9"/>
          <p:cNvSpPr/>
          <p:nvPr/>
        </p:nvSpPr>
        <p:spPr>
          <a:xfrm>
            <a:off x="7040880" y="2194560"/>
            <a:ext cx="4663440" cy="685800"/>
          </a:xfrm>
          <a:prstGeom prst="rect">
            <a:avLst/>
          </a:prstGeom>
          <a:noFill/>
          <a:ln/>
        </p:spPr>
        <p:txBody>
          <a:bodyPr wrap="square" lIns="0" tIns="0" rIns="0" bIns="0" rtlCol="0" anchor="ctr"/>
          <a:lstStyle/>
          <a:p>
            <a:pPr indent="0" marL="0">
              <a:buNone/>
            </a:pPr>
            <a:r>
              <a:rPr lang="en-US" sz="1200" dirty="0">
                <a:solidFill>
                  <a:srgbClr val="C7D9E5"/>
                </a:solidFill>
                <a:latin typeface="Calibri" pitchFamily="34" charset="0"/>
                <a:ea typeface="Calibri" pitchFamily="34" charset="-122"/>
                <a:cs typeface="Calibri" pitchFamily="34" charset="-120"/>
              </a:rPr>
              <a:t>\d, \dt, \l, and \dn answer 'what's in this database?' faster than writing SQL against system catalogs.</a:t>
            </a:r>
            <a:endParaRPr lang="en-US" sz="1200" dirty="0"/>
          </a:p>
        </p:txBody>
      </p:sp>
      <p:sp>
        <p:nvSpPr>
          <p:cNvPr id="12" name="Shape 10"/>
          <p:cNvSpPr/>
          <p:nvPr/>
        </p:nvSpPr>
        <p:spPr>
          <a:xfrm>
            <a:off x="640080" y="3246120"/>
            <a:ext cx="502920" cy="502920"/>
          </a:xfrm>
          <a:prstGeom prst="ellipse">
            <a:avLst/>
          </a:prstGeom>
          <a:solidFill>
            <a:srgbClr val="2A5A82"/>
          </a:solidFill>
          <a:ln/>
        </p:spPr>
      </p:sp>
      <p:sp>
        <p:nvSpPr>
          <p:cNvPr id="13" name="Text 11"/>
          <p:cNvSpPr/>
          <p:nvPr/>
        </p:nvSpPr>
        <p:spPr>
          <a:xfrm>
            <a:off x="640080" y="324612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3</a:t>
            </a:r>
            <a:endParaRPr lang="en-US" sz="1210" dirty="0"/>
          </a:p>
        </p:txBody>
      </p:sp>
      <p:sp>
        <p:nvSpPr>
          <p:cNvPr id="14" name="Text 12"/>
          <p:cNvSpPr/>
          <p:nvPr/>
        </p:nvSpPr>
        <p:spPr>
          <a:xfrm>
            <a:off x="1325880" y="3200400"/>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Schemas organize a database</a:t>
            </a:r>
            <a:endParaRPr lang="en-US" sz="1500" dirty="0"/>
          </a:p>
        </p:txBody>
      </p:sp>
      <p:sp>
        <p:nvSpPr>
          <p:cNvPr id="15" name="Text 13"/>
          <p:cNvSpPr/>
          <p:nvPr/>
        </p:nvSpPr>
        <p:spPr>
          <a:xfrm>
            <a:off x="1325880" y="3566160"/>
            <a:ext cx="4663440" cy="685800"/>
          </a:xfrm>
          <a:prstGeom prst="rect">
            <a:avLst/>
          </a:prstGeom>
          <a:noFill/>
          <a:ln/>
        </p:spPr>
        <p:txBody>
          <a:bodyPr wrap="square" lIns="0" tIns="0" rIns="0" bIns="0" rtlCol="0" anchor="ctr"/>
          <a:lstStyle/>
          <a:p>
            <a:pPr indent="0" marL="0">
              <a:buNone/>
            </a:pPr>
            <a:r>
              <a:rPr lang="en-US" sz="1200" dirty="0">
                <a:solidFill>
                  <a:srgbClr val="C7D9E5"/>
                </a:solidFill>
                <a:latin typeface="Calibri" pitchFamily="34" charset="0"/>
                <a:ea typeface="Calibri" pitchFamily="34" charset="-122"/>
                <a:cs typeface="Calibri" pitchFamily="34" charset="-120"/>
              </a:rPr>
              <a:t>One database can hold many schemas, each grouping related tables, views, and functions.</a:t>
            </a:r>
            <a:endParaRPr lang="en-US" sz="1200" dirty="0"/>
          </a:p>
        </p:txBody>
      </p:sp>
      <p:sp>
        <p:nvSpPr>
          <p:cNvPr id="16" name="Shape 14"/>
          <p:cNvSpPr/>
          <p:nvPr/>
        </p:nvSpPr>
        <p:spPr>
          <a:xfrm>
            <a:off x="6355080" y="3246120"/>
            <a:ext cx="502920" cy="502920"/>
          </a:xfrm>
          <a:prstGeom prst="ellipse">
            <a:avLst/>
          </a:prstGeom>
          <a:solidFill>
            <a:srgbClr val="2A5A82"/>
          </a:solidFill>
          <a:ln/>
        </p:spPr>
      </p:sp>
      <p:sp>
        <p:nvSpPr>
          <p:cNvPr id="17" name="Text 15"/>
          <p:cNvSpPr/>
          <p:nvPr/>
        </p:nvSpPr>
        <p:spPr>
          <a:xfrm>
            <a:off x="6355080" y="3246120"/>
            <a:ext cx="502920" cy="502920"/>
          </a:xfrm>
          <a:prstGeom prst="rect">
            <a:avLst/>
          </a:prstGeom>
          <a:noFill/>
          <a:ln/>
        </p:spPr>
        <p:txBody>
          <a:bodyPr wrap="square" lIns="0" tIns="0" rIns="0" bIns="0"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4</a:t>
            </a:r>
            <a:endParaRPr lang="en-US" sz="1210" dirty="0"/>
          </a:p>
        </p:txBody>
      </p:sp>
      <p:sp>
        <p:nvSpPr>
          <p:cNvPr id="18" name="Text 16"/>
          <p:cNvSpPr/>
          <p:nvPr/>
        </p:nvSpPr>
        <p:spPr>
          <a:xfrm>
            <a:off x="7040880" y="3200400"/>
            <a:ext cx="4663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search_path controls resolution</a:t>
            </a:r>
            <a:endParaRPr lang="en-US" sz="1500" dirty="0"/>
          </a:p>
        </p:txBody>
      </p:sp>
      <p:sp>
        <p:nvSpPr>
          <p:cNvPr id="19" name="Text 17"/>
          <p:cNvSpPr/>
          <p:nvPr/>
        </p:nvSpPr>
        <p:spPr>
          <a:xfrm>
            <a:off x="7040880" y="3566160"/>
            <a:ext cx="4663440" cy="685800"/>
          </a:xfrm>
          <a:prstGeom prst="rect">
            <a:avLst/>
          </a:prstGeom>
          <a:noFill/>
          <a:ln/>
        </p:spPr>
        <p:txBody>
          <a:bodyPr wrap="square" lIns="0" tIns="0" rIns="0" bIns="0" rtlCol="0" anchor="ctr"/>
          <a:lstStyle/>
          <a:p>
            <a:pPr indent="0" marL="0">
              <a:buNone/>
            </a:pPr>
            <a:r>
              <a:rPr lang="en-US" sz="1200" dirty="0">
                <a:solidFill>
                  <a:srgbClr val="C7D9E5"/>
                </a:solidFill>
                <a:latin typeface="Calibri" pitchFamily="34" charset="0"/>
                <a:ea typeface="Calibri" pitchFamily="34" charset="-122"/>
                <a:cs typeface="Calibri" pitchFamily="34" charset="-120"/>
              </a:rPr>
              <a:t>Qualify names explicitly (schema.table) in scripts and functions to avoid ambiguity.</a:t>
            </a:r>
            <a:endParaRPr lang="en-US" sz="1200" dirty="0"/>
          </a:p>
        </p:txBody>
      </p:sp>
      <p:sp>
        <p:nvSpPr>
          <p:cNvPr id="20" name="Text 18"/>
          <p:cNvSpPr/>
          <p:nvPr/>
        </p:nvSpPr>
        <p:spPr>
          <a:xfrm>
            <a:off x="457200" y="6528816"/>
            <a:ext cx="7315200" cy="274320"/>
          </a:xfrm>
          <a:prstGeom prst="rect">
            <a:avLst/>
          </a:prstGeom>
          <a:noFill/>
          <a:ln/>
        </p:spPr>
        <p:txBody>
          <a:bodyPr wrap="square" lIns="0" tIns="0" rIns="0" bIns="0" rtlCol="0" anchor="ctr"/>
          <a:lstStyle/>
          <a:p>
            <a:pPr algn="l" indent="0" marL="0">
              <a:buNone/>
            </a:pPr>
            <a:r>
              <a:rPr lang="en-US" sz="1000" dirty="0">
                <a:solidFill>
                  <a:srgbClr val="9FB4C4"/>
                </a:solidFill>
                <a:latin typeface="Calibri" pitchFamily="34" charset="0"/>
                <a:ea typeface="Calibri" pitchFamily="34" charset="-122"/>
                <a:cs typeface="Calibri" pitchFamily="34" charset="-120"/>
              </a:rPr>
              <a:t>PostgreSQL Essentials  |  Limits, psql &amp; Schemas</a:t>
            </a:r>
            <a:endParaRPr lang="en-US" sz="1000" dirty="0"/>
          </a:p>
        </p:txBody>
      </p:sp>
      <p:sp>
        <p:nvSpPr>
          <p:cNvPr id="21" name="Text 19"/>
          <p:cNvSpPr/>
          <p:nvPr/>
        </p:nvSpPr>
        <p:spPr>
          <a:xfrm>
            <a:off x="11430000" y="6528816"/>
            <a:ext cx="365760" cy="274320"/>
          </a:xfrm>
          <a:prstGeom prst="rect">
            <a:avLst/>
          </a:prstGeom>
          <a:noFill/>
          <a:ln/>
        </p:spPr>
        <p:txBody>
          <a:bodyPr wrap="square" lIns="0" tIns="0" rIns="0" bIns="0" rtlCol="0" anchor="ctr"/>
          <a:lstStyle/>
          <a:p>
            <a:pPr algn="r" indent="0" marL="0">
              <a:buNone/>
            </a:pPr>
            <a:r>
              <a:rPr lang="en-US" sz="1000" dirty="0">
                <a:solidFill>
                  <a:srgbClr val="9FB4C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2026-09-21T02:15:59Z</dcterms:created>
  <dcterms:modified xsi:type="dcterms:W3CDTF">2026-09-21T02:15:59Z</dcterms:modified>
</cp:coreProperties>
</file>